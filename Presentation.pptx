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8EF7"/>
          </a:solidFill>
          <a:ln w="12700">
            <a:solidFill>
              <a:srgbClr val="333333"/>
            </a:solidFill>
            <a:prstDash val="solid"/>
          </a:ln>
        </p:spPr>
      </p:sp>
      <p:sp>
        <p:nvSpPr>
          <p:cNvPr id="3" name="Shape 1"/>
          <p:cNvSpPr/>
          <p:nvPr/>
        </p:nvSpPr>
        <p:spPr>
          <a:xfrm>
            <a:off x="9601200" y="-1097280"/>
            <a:ext cx="3657600" cy="3657600"/>
          </a:xfrm>
          <a:prstGeom prst="ellipse">
            <a:avLst/>
          </a:prstGeom>
          <a:solidFill>
            <a:srgbClr val="6C63FF">
              <a:alpha val="15000"/>
            </a:srgbClr>
          </a:solidFill>
          <a:ln w="12700">
            <a:solidFill>
              <a:srgbClr val="333333"/>
            </a:solidFill>
            <a:prstDash val="solid"/>
          </a:ln>
        </p:spPr>
      </p:sp>
      <p:sp>
        <p:nvSpPr>
          <p:cNvPr id="4" name="Shape 2"/>
          <p:cNvSpPr/>
          <p:nvPr/>
        </p:nvSpPr>
        <p:spPr>
          <a:xfrm>
            <a:off x="10515600" y="3657600"/>
            <a:ext cx="2560320" cy="2560320"/>
          </a:xfrm>
          <a:prstGeom prst="ellipse">
            <a:avLst/>
          </a:prstGeom>
          <a:solidFill>
            <a:srgbClr val="00C9A7">
              <a:alpha val="20000"/>
            </a:srgbClr>
          </a:solidFill>
          <a:ln w="12700">
            <a:solidFill>
              <a:srgbClr val="333333"/>
            </a:solidFill>
            <a:prstDash val="solid"/>
          </a:ln>
        </p:spPr>
      </p:sp>
      <p:sp>
        <p:nvSpPr>
          <p:cNvPr id="5" name="Text 3"/>
          <p:cNvSpPr/>
          <p:nvPr/>
        </p:nvSpPr>
        <p:spPr>
          <a:xfrm>
            <a:off x="548640" y="1463040"/>
            <a:ext cx="8229600" cy="1005840"/>
          </a:xfrm>
          <a:prstGeom prst="rect">
            <a:avLst/>
          </a:prstGeom>
          <a:noFill/>
          <a:ln/>
        </p:spPr>
        <p:txBody>
          <a:bodyPr wrap="square"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DocuChat AI</a:t>
            </a:r>
            <a:endParaRPr lang="en-US" sz="5200" dirty="0"/>
          </a:p>
        </p:txBody>
      </p:sp>
      <p:sp>
        <p:nvSpPr>
          <p:cNvPr id="6" name="Shape 4"/>
          <p:cNvSpPr/>
          <p:nvPr/>
        </p:nvSpPr>
        <p:spPr>
          <a:xfrm>
            <a:off x="548640" y="2542032"/>
            <a:ext cx="3200400" cy="41148"/>
          </a:xfrm>
          <a:prstGeom prst="rect">
            <a:avLst/>
          </a:prstGeom>
          <a:solidFill>
            <a:srgbClr val="4F8EF7"/>
          </a:solidFill>
          <a:ln w="12700">
            <a:solidFill>
              <a:srgbClr val="333333"/>
            </a:solidFill>
            <a:prstDash val="solid"/>
          </a:ln>
        </p:spPr>
      </p:sp>
      <p:sp>
        <p:nvSpPr>
          <p:cNvPr id="7" name="Shape 5"/>
          <p:cNvSpPr/>
          <p:nvPr/>
        </p:nvSpPr>
        <p:spPr>
          <a:xfrm>
            <a:off x="548640" y="2670048"/>
            <a:ext cx="1828800" cy="41148"/>
          </a:xfrm>
          <a:prstGeom prst="rect">
            <a:avLst/>
          </a:prstGeom>
          <a:solidFill>
            <a:srgbClr val="00C9A7"/>
          </a:solidFill>
          <a:ln w="12700">
            <a:solidFill>
              <a:srgbClr val="333333"/>
            </a:solidFill>
            <a:prstDash val="solid"/>
          </a:ln>
        </p:spPr>
      </p:sp>
      <p:sp>
        <p:nvSpPr>
          <p:cNvPr id="8" name="Text 6"/>
          <p:cNvSpPr/>
          <p:nvPr/>
        </p:nvSpPr>
        <p:spPr>
          <a:xfrm>
            <a:off x="548640" y="2834640"/>
            <a:ext cx="9144000" cy="502920"/>
          </a:xfrm>
          <a:prstGeom prst="rect">
            <a:avLst/>
          </a:prstGeom>
          <a:noFill/>
          <a:ln/>
        </p:spPr>
        <p:txBody>
          <a:bodyPr wrap="square" rtlCol="0" anchor="ctr"/>
          <a:lstStyle/>
          <a:p>
            <a:pPr indent="0" marL="0">
              <a:buNone/>
            </a:pPr>
            <a:r>
              <a:rPr lang="en-US" sz="2200" dirty="0">
                <a:solidFill>
                  <a:srgbClr val="EFF4FF"/>
                </a:solidFill>
                <a:latin typeface="Calibri" pitchFamily="34" charset="0"/>
                <a:ea typeface="Calibri" pitchFamily="34" charset="-122"/>
                <a:cs typeface="Calibri" pitchFamily="34" charset="-120"/>
              </a:rPr>
              <a:t>Intelligent Document Q&amp;A Platform</a:t>
            </a:r>
            <a:endParaRPr lang="en-US" sz="2200" dirty="0"/>
          </a:p>
        </p:txBody>
      </p:sp>
      <p:sp>
        <p:nvSpPr>
          <p:cNvPr id="9" name="Text 7"/>
          <p:cNvSpPr/>
          <p:nvPr/>
        </p:nvSpPr>
        <p:spPr>
          <a:xfrm>
            <a:off x="548640" y="3401568"/>
            <a:ext cx="7772400" cy="640080"/>
          </a:xfrm>
          <a:prstGeom prst="rect">
            <a:avLst/>
          </a:prstGeom>
          <a:noFill/>
          <a:ln/>
        </p:spPr>
        <p:txBody>
          <a:bodyPr wrap="square" rtlCol="0" anchor="ctr"/>
          <a:lstStyle/>
          <a:p>
            <a:pPr indent="0" marL="0">
              <a:buNone/>
            </a:pPr>
            <a:r>
              <a:rPr lang="en-US" sz="1400" dirty="0">
                <a:solidFill>
                  <a:srgbClr val="B0BEC5"/>
                </a:solidFill>
                <a:latin typeface="Calibri" pitchFamily="34" charset="0"/>
                <a:ea typeface="Calibri" pitchFamily="34" charset="-122"/>
                <a:cs typeface="Calibri" pitchFamily="34" charset="-120"/>
              </a:rPr>
              <a:t>Ask questions about your documents — get instant, accurate answers powered by AI.</a:t>
            </a:r>
            <a:endParaRPr lang="en-US" sz="1400" dirty="0"/>
          </a:p>
        </p:txBody>
      </p:sp>
      <p:sp>
        <p:nvSpPr>
          <p:cNvPr id="10" name="Shape 8"/>
          <p:cNvSpPr/>
          <p:nvPr/>
        </p:nvSpPr>
        <p:spPr>
          <a:xfrm>
            <a:off x="548640" y="4572000"/>
            <a:ext cx="1371600" cy="301752"/>
          </a:xfrm>
          <a:prstGeom prst="roundRect">
            <a:avLst>
              <a:gd name="adj" fmla="val 24242"/>
            </a:avLst>
          </a:prstGeom>
          <a:solidFill>
            <a:srgbClr val="162233"/>
          </a:solidFill>
          <a:ln w="12700">
            <a:solidFill>
              <a:srgbClr val="4F8EF7"/>
            </a:solidFill>
            <a:prstDash val="solid"/>
          </a:ln>
        </p:spPr>
      </p:sp>
      <p:sp>
        <p:nvSpPr>
          <p:cNvPr id="11" name="Text 9"/>
          <p:cNvSpPr/>
          <p:nvPr/>
        </p:nvSpPr>
        <p:spPr>
          <a:xfrm>
            <a:off x="548640" y="4572000"/>
            <a:ext cx="1371600" cy="301752"/>
          </a:xfrm>
          <a:prstGeom prst="rect">
            <a:avLst/>
          </a:prstGeom>
          <a:noFill/>
          <a:ln/>
        </p:spPr>
        <p:txBody>
          <a:bodyPr wrap="square" rtlCol="0" anchor="ctr"/>
          <a:lstStyle/>
          <a:p>
            <a:pPr algn="ctr" indent="0" marL="0">
              <a:buNone/>
            </a:pPr>
            <a:r>
              <a:rPr lang="en-US" sz="950" b="1" dirty="0">
                <a:solidFill>
                  <a:srgbClr val="4F8EF7"/>
                </a:solidFill>
                <a:latin typeface="Calibri" pitchFamily="34" charset="0"/>
                <a:ea typeface="Calibri" pitchFamily="34" charset="-122"/>
                <a:cs typeface="Calibri" pitchFamily="34" charset="-120"/>
              </a:rPr>
              <a:t>PDF</a:t>
            </a:r>
            <a:endParaRPr lang="en-US" sz="950" dirty="0"/>
          </a:p>
        </p:txBody>
      </p:sp>
      <p:sp>
        <p:nvSpPr>
          <p:cNvPr id="12" name="Shape 10"/>
          <p:cNvSpPr/>
          <p:nvPr/>
        </p:nvSpPr>
        <p:spPr>
          <a:xfrm>
            <a:off x="2057400" y="4572000"/>
            <a:ext cx="1371600" cy="301752"/>
          </a:xfrm>
          <a:prstGeom prst="roundRect">
            <a:avLst>
              <a:gd name="adj" fmla="val 24242"/>
            </a:avLst>
          </a:prstGeom>
          <a:solidFill>
            <a:srgbClr val="162233"/>
          </a:solidFill>
          <a:ln w="12700">
            <a:solidFill>
              <a:srgbClr val="4F8EF7"/>
            </a:solidFill>
            <a:prstDash val="solid"/>
          </a:ln>
        </p:spPr>
      </p:sp>
      <p:sp>
        <p:nvSpPr>
          <p:cNvPr id="13" name="Text 11"/>
          <p:cNvSpPr/>
          <p:nvPr/>
        </p:nvSpPr>
        <p:spPr>
          <a:xfrm>
            <a:off x="2057400" y="4572000"/>
            <a:ext cx="1371600" cy="301752"/>
          </a:xfrm>
          <a:prstGeom prst="rect">
            <a:avLst/>
          </a:prstGeom>
          <a:noFill/>
          <a:ln/>
        </p:spPr>
        <p:txBody>
          <a:bodyPr wrap="square" rtlCol="0" anchor="ctr"/>
          <a:lstStyle/>
          <a:p>
            <a:pPr algn="ctr" indent="0" marL="0">
              <a:buNone/>
            </a:pPr>
            <a:r>
              <a:rPr lang="en-US" sz="950" b="1" dirty="0">
                <a:solidFill>
                  <a:srgbClr val="4F8EF7"/>
                </a:solidFill>
                <a:latin typeface="Calibri" pitchFamily="34" charset="0"/>
                <a:ea typeface="Calibri" pitchFamily="34" charset="-122"/>
                <a:cs typeface="Calibri" pitchFamily="34" charset="-120"/>
              </a:rPr>
              <a:t>Excel</a:t>
            </a:r>
            <a:endParaRPr lang="en-US" sz="950" dirty="0"/>
          </a:p>
        </p:txBody>
      </p:sp>
      <p:sp>
        <p:nvSpPr>
          <p:cNvPr id="14" name="Shape 12"/>
          <p:cNvSpPr/>
          <p:nvPr/>
        </p:nvSpPr>
        <p:spPr>
          <a:xfrm>
            <a:off x="3566160" y="4572000"/>
            <a:ext cx="1371600" cy="301752"/>
          </a:xfrm>
          <a:prstGeom prst="roundRect">
            <a:avLst>
              <a:gd name="adj" fmla="val 24242"/>
            </a:avLst>
          </a:prstGeom>
          <a:solidFill>
            <a:srgbClr val="162233"/>
          </a:solidFill>
          <a:ln w="12700">
            <a:solidFill>
              <a:srgbClr val="4F8EF7"/>
            </a:solidFill>
            <a:prstDash val="solid"/>
          </a:ln>
        </p:spPr>
      </p:sp>
      <p:sp>
        <p:nvSpPr>
          <p:cNvPr id="15" name="Text 13"/>
          <p:cNvSpPr/>
          <p:nvPr/>
        </p:nvSpPr>
        <p:spPr>
          <a:xfrm>
            <a:off x="3566160" y="4572000"/>
            <a:ext cx="1371600" cy="301752"/>
          </a:xfrm>
          <a:prstGeom prst="rect">
            <a:avLst/>
          </a:prstGeom>
          <a:noFill/>
          <a:ln/>
        </p:spPr>
        <p:txBody>
          <a:bodyPr wrap="square" rtlCol="0" anchor="ctr"/>
          <a:lstStyle/>
          <a:p>
            <a:pPr algn="ctr" indent="0" marL="0">
              <a:buNone/>
            </a:pPr>
            <a:r>
              <a:rPr lang="en-US" sz="950" b="1" dirty="0">
                <a:solidFill>
                  <a:srgbClr val="4F8EF7"/>
                </a:solidFill>
                <a:latin typeface="Calibri" pitchFamily="34" charset="0"/>
                <a:ea typeface="Calibri" pitchFamily="34" charset="-122"/>
                <a:cs typeface="Calibri" pitchFamily="34" charset="-120"/>
              </a:rPr>
              <a:t>Images</a:t>
            </a:r>
            <a:endParaRPr lang="en-US" sz="950" dirty="0"/>
          </a:p>
        </p:txBody>
      </p:sp>
      <p:sp>
        <p:nvSpPr>
          <p:cNvPr id="16" name="Shape 14"/>
          <p:cNvSpPr/>
          <p:nvPr/>
        </p:nvSpPr>
        <p:spPr>
          <a:xfrm>
            <a:off x="5074920" y="4572000"/>
            <a:ext cx="1371600" cy="301752"/>
          </a:xfrm>
          <a:prstGeom prst="roundRect">
            <a:avLst>
              <a:gd name="adj" fmla="val 24242"/>
            </a:avLst>
          </a:prstGeom>
          <a:solidFill>
            <a:srgbClr val="162233"/>
          </a:solidFill>
          <a:ln w="12700">
            <a:solidFill>
              <a:srgbClr val="4F8EF7"/>
            </a:solidFill>
            <a:prstDash val="solid"/>
          </a:ln>
        </p:spPr>
      </p:sp>
      <p:sp>
        <p:nvSpPr>
          <p:cNvPr id="17" name="Text 15"/>
          <p:cNvSpPr/>
          <p:nvPr/>
        </p:nvSpPr>
        <p:spPr>
          <a:xfrm>
            <a:off x="5074920" y="4572000"/>
            <a:ext cx="1371600" cy="301752"/>
          </a:xfrm>
          <a:prstGeom prst="rect">
            <a:avLst/>
          </a:prstGeom>
          <a:noFill/>
          <a:ln/>
        </p:spPr>
        <p:txBody>
          <a:bodyPr wrap="square" rtlCol="0" anchor="ctr"/>
          <a:lstStyle/>
          <a:p>
            <a:pPr algn="ctr" indent="0" marL="0">
              <a:buNone/>
            </a:pPr>
            <a:r>
              <a:rPr lang="en-US" sz="950" b="1" dirty="0">
                <a:solidFill>
                  <a:srgbClr val="4F8EF7"/>
                </a:solidFill>
                <a:latin typeface="Calibri" pitchFamily="34" charset="0"/>
                <a:ea typeface="Calibri" pitchFamily="34" charset="-122"/>
                <a:cs typeface="Calibri" pitchFamily="34" charset="-120"/>
              </a:rPr>
              <a:t>GPT-4o</a:t>
            </a:r>
            <a:endParaRPr lang="en-US" sz="950" dirty="0"/>
          </a:p>
        </p:txBody>
      </p:sp>
      <p:sp>
        <p:nvSpPr>
          <p:cNvPr id="18" name="Shape 16"/>
          <p:cNvSpPr/>
          <p:nvPr/>
        </p:nvSpPr>
        <p:spPr>
          <a:xfrm>
            <a:off x="6583680" y="4572000"/>
            <a:ext cx="1371600" cy="301752"/>
          </a:xfrm>
          <a:prstGeom prst="roundRect">
            <a:avLst>
              <a:gd name="adj" fmla="val 24242"/>
            </a:avLst>
          </a:prstGeom>
          <a:solidFill>
            <a:srgbClr val="162233"/>
          </a:solidFill>
          <a:ln w="12700">
            <a:solidFill>
              <a:srgbClr val="4F8EF7"/>
            </a:solidFill>
            <a:prstDash val="solid"/>
          </a:ln>
        </p:spPr>
      </p:sp>
      <p:sp>
        <p:nvSpPr>
          <p:cNvPr id="19" name="Text 17"/>
          <p:cNvSpPr/>
          <p:nvPr/>
        </p:nvSpPr>
        <p:spPr>
          <a:xfrm>
            <a:off x="6583680" y="4572000"/>
            <a:ext cx="1371600" cy="301752"/>
          </a:xfrm>
          <a:prstGeom prst="rect">
            <a:avLst/>
          </a:prstGeom>
          <a:noFill/>
          <a:ln/>
        </p:spPr>
        <p:txBody>
          <a:bodyPr wrap="square" rtlCol="0" anchor="ctr"/>
          <a:lstStyle/>
          <a:p>
            <a:pPr algn="ctr" indent="0" marL="0">
              <a:buNone/>
            </a:pPr>
            <a:r>
              <a:rPr lang="en-US" sz="950" b="1" dirty="0">
                <a:solidFill>
                  <a:srgbClr val="4F8EF7"/>
                </a:solidFill>
                <a:latin typeface="Calibri" pitchFamily="34" charset="0"/>
                <a:ea typeface="Calibri" pitchFamily="34" charset="-122"/>
                <a:cs typeface="Calibri" pitchFamily="34" charset="-120"/>
              </a:rPr>
              <a:t>Claude</a:t>
            </a:r>
            <a:endParaRPr lang="en-US" sz="950" dirty="0"/>
          </a:p>
        </p:txBody>
      </p:sp>
      <p:sp>
        <p:nvSpPr>
          <p:cNvPr id="20" name="Shape 18"/>
          <p:cNvSpPr/>
          <p:nvPr/>
        </p:nvSpPr>
        <p:spPr>
          <a:xfrm>
            <a:off x="8092440" y="4572000"/>
            <a:ext cx="1371600" cy="301752"/>
          </a:xfrm>
          <a:prstGeom prst="roundRect">
            <a:avLst>
              <a:gd name="adj" fmla="val 24242"/>
            </a:avLst>
          </a:prstGeom>
          <a:solidFill>
            <a:srgbClr val="162233"/>
          </a:solidFill>
          <a:ln w="12700">
            <a:solidFill>
              <a:srgbClr val="4F8EF7"/>
            </a:solidFill>
            <a:prstDash val="solid"/>
          </a:ln>
        </p:spPr>
      </p:sp>
      <p:sp>
        <p:nvSpPr>
          <p:cNvPr id="21" name="Text 19"/>
          <p:cNvSpPr/>
          <p:nvPr/>
        </p:nvSpPr>
        <p:spPr>
          <a:xfrm>
            <a:off x="8092440" y="4572000"/>
            <a:ext cx="1371600" cy="301752"/>
          </a:xfrm>
          <a:prstGeom prst="rect">
            <a:avLst/>
          </a:prstGeom>
          <a:noFill/>
          <a:ln/>
        </p:spPr>
        <p:txBody>
          <a:bodyPr wrap="square" rtlCol="0" anchor="ctr"/>
          <a:lstStyle/>
          <a:p>
            <a:pPr algn="ctr" indent="0" marL="0">
              <a:buNone/>
            </a:pPr>
            <a:r>
              <a:rPr lang="en-US" sz="950" b="1" dirty="0">
                <a:solidFill>
                  <a:srgbClr val="4F8EF7"/>
                </a:solidFill>
                <a:latin typeface="Calibri" pitchFamily="34" charset="0"/>
                <a:ea typeface="Calibri" pitchFamily="34" charset="-122"/>
                <a:cs typeface="Calibri" pitchFamily="34" charset="-120"/>
              </a:rPr>
              <a:t>Gemini</a:t>
            </a:r>
            <a:endParaRPr lang="en-US" sz="950" dirty="0"/>
          </a:p>
        </p:txBody>
      </p:sp>
      <p:sp>
        <p:nvSpPr>
          <p:cNvPr id="22" name="Text 20"/>
          <p:cNvSpPr/>
          <p:nvPr/>
        </p:nvSpPr>
        <p:spPr>
          <a:xfrm>
            <a:off x="548640" y="6035040"/>
            <a:ext cx="9144000" cy="274320"/>
          </a:xfrm>
          <a:prstGeom prst="rect">
            <a:avLst/>
          </a:prstGeom>
          <a:noFill/>
          <a:ln/>
        </p:spPr>
        <p:txBody>
          <a:bodyPr wrap="square" rtlCol="0" anchor="ctr"/>
          <a:lstStyle/>
          <a:p>
            <a:pPr indent="0" marL="0">
              <a:buNone/>
            </a:pPr>
            <a:r>
              <a:rPr lang="en-US" sz="900" dirty="0">
                <a:solidFill>
                  <a:srgbClr val="546E7A"/>
                </a:solidFill>
                <a:latin typeface="Calibri" pitchFamily="34" charset="0"/>
                <a:ea typeface="Calibri" pitchFamily="34" charset="-122"/>
                <a:cs typeface="Calibri" pitchFamily="34" charset="-120"/>
              </a:rPr>
              <a:t>Client Presentation  |  April 2026  |  Version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AGENDA</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What We Will Cover Today</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2 / 20</a:t>
            </a:r>
            <a:endParaRPr lang="en-US" sz="750" dirty="0"/>
          </a:p>
        </p:txBody>
      </p:sp>
      <p:sp>
        <p:nvSpPr>
          <p:cNvPr id="10" name="Shape 8"/>
          <p:cNvSpPr/>
          <p:nvPr/>
        </p:nvSpPr>
        <p:spPr>
          <a:xfrm>
            <a:off x="393192" y="1417320"/>
            <a:ext cx="402336" cy="402336"/>
          </a:xfrm>
          <a:prstGeom prst="ellipse">
            <a:avLst/>
          </a:prstGeom>
          <a:solidFill>
            <a:srgbClr val="4F8EF7"/>
          </a:solidFill>
          <a:ln w="12700">
            <a:solidFill>
              <a:srgbClr val="333333"/>
            </a:solidFill>
            <a:prstDash val="solid"/>
          </a:ln>
        </p:spPr>
      </p:sp>
      <p:sp>
        <p:nvSpPr>
          <p:cNvPr id="11" name="Text 9"/>
          <p:cNvSpPr/>
          <p:nvPr/>
        </p:nvSpPr>
        <p:spPr>
          <a:xfrm>
            <a:off x="393192" y="1417320"/>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2" name="Text 10"/>
          <p:cNvSpPr/>
          <p:nvPr/>
        </p:nvSpPr>
        <p:spPr>
          <a:xfrm>
            <a:off x="896112" y="1417320"/>
            <a:ext cx="4754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What Is DocuChat AI?</a:t>
            </a:r>
            <a:endParaRPr lang="en-US" sz="1200" dirty="0"/>
          </a:p>
        </p:txBody>
      </p:sp>
      <p:sp>
        <p:nvSpPr>
          <p:cNvPr id="13" name="Text 11"/>
          <p:cNvSpPr/>
          <p:nvPr/>
        </p:nvSpPr>
        <p:spPr>
          <a:xfrm>
            <a:off x="896112" y="1673352"/>
            <a:ext cx="4754880" cy="274320"/>
          </a:xfrm>
          <a:prstGeom prst="rect">
            <a:avLst/>
          </a:prstGeom>
          <a:noFill/>
          <a:ln/>
        </p:spPr>
        <p:txBody>
          <a:bodyPr wrap="square" rtlCol="0" anchor="ctr"/>
          <a:lstStyle/>
          <a:p>
            <a:pPr indent="0" marL="0">
              <a:buNone/>
            </a:pPr>
            <a:r>
              <a:rPr lang="en-US" sz="1000" dirty="0">
                <a:solidFill>
                  <a:srgbClr val="B0BEC5"/>
                </a:solidFill>
                <a:latin typeface="Calibri" pitchFamily="34" charset="0"/>
                <a:ea typeface="Calibri" pitchFamily="34" charset="-122"/>
                <a:cs typeface="Calibri" pitchFamily="34" charset="-120"/>
              </a:rPr>
              <a:t>The product, the problem it solves, and its value proposition</a:t>
            </a:r>
            <a:endParaRPr lang="en-US" sz="1000" dirty="0"/>
          </a:p>
        </p:txBody>
      </p:sp>
      <p:sp>
        <p:nvSpPr>
          <p:cNvPr id="14" name="Shape 12"/>
          <p:cNvSpPr/>
          <p:nvPr/>
        </p:nvSpPr>
        <p:spPr>
          <a:xfrm>
            <a:off x="393192" y="2377440"/>
            <a:ext cx="402336" cy="402336"/>
          </a:xfrm>
          <a:prstGeom prst="ellipse">
            <a:avLst/>
          </a:prstGeom>
          <a:solidFill>
            <a:srgbClr val="00C9A7"/>
          </a:solidFill>
          <a:ln w="12700">
            <a:solidFill>
              <a:srgbClr val="333333"/>
            </a:solidFill>
            <a:prstDash val="solid"/>
          </a:ln>
        </p:spPr>
      </p:sp>
      <p:sp>
        <p:nvSpPr>
          <p:cNvPr id="15" name="Text 13"/>
          <p:cNvSpPr/>
          <p:nvPr/>
        </p:nvSpPr>
        <p:spPr>
          <a:xfrm>
            <a:off x="393192" y="2377440"/>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6" name="Text 14"/>
          <p:cNvSpPr/>
          <p:nvPr/>
        </p:nvSpPr>
        <p:spPr>
          <a:xfrm>
            <a:off x="896112" y="2377440"/>
            <a:ext cx="4754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Who Is It For?</a:t>
            </a:r>
            <a:endParaRPr lang="en-US" sz="1200" dirty="0"/>
          </a:p>
        </p:txBody>
      </p:sp>
      <p:sp>
        <p:nvSpPr>
          <p:cNvPr id="17" name="Text 15"/>
          <p:cNvSpPr/>
          <p:nvPr/>
        </p:nvSpPr>
        <p:spPr>
          <a:xfrm>
            <a:off x="896112" y="2633472"/>
            <a:ext cx="4754880" cy="274320"/>
          </a:xfrm>
          <a:prstGeom prst="rect">
            <a:avLst/>
          </a:prstGeom>
          <a:noFill/>
          <a:ln/>
        </p:spPr>
        <p:txBody>
          <a:bodyPr wrap="square" rtlCol="0" anchor="ctr"/>
          <a:lstStyle/>
          <a:p>
            <a:pPr indent="0" marL="0">
              <a:buNone/>
            </a:pPr>
            <a:r>
              <a:rPr lang="en-US" sz="1000" dirty="0">
                <a:solidFill>
                  <a:srgbClr val="B0BEC5"/>
                </a:solidFill>
                <a:latin typeface="Calibri" pitchFamily="34" charset="0"/>
                <a:ea typeface="Calibri" pitchFamily="34" charset="-122"/>
                <a:cs typeface="Calibri" pitchFamily="34" charset="-120"/>
              </a:rPr>
              <a:t>Target users and real-world use cases</a:t>
            </a:r>
            <a:endParaRPr lang="en-US" sz="1000" dirty="0"/>
          </a:p>
        </p:txBody>
      </p:sp>
      <p:sp>
        <p:nvSpPr>
          <p:cNvPr id="18" name="Shape 16"/>
          <p:cNvSpPr/>
          <p:nvPr/>
        </p:nvSpPr>
        <p:spPr>
          <a:xfrm>
            <a:off x="393192" y="3337560"/>
            <a:ext cx="402336" cy="402336"/>
          </a:xfrm>
          <a:prstGeom prst="ellipse">
            <a:avLst/>
          </a:prstGeom>
          <a:solidFill>
            <a:srgbClr val="4F8EF7"/>
          </a:solidFill>
          <a:ln w="12700">
            <a:solidFill>
              <a:srgbClr val="333333"/>
            </a:solidFill>
            <a:prstDash val="solid"/>
          </a:ln>
        </p:spPr>
      </p:sp>
      <p:sp>
        <p:nvSpPr>
          <p:cNvPr id="19" name="Text 17"/>
          <p:cNvSpPr/>
          <p:nvPr/>
        </p:nvSpPr>
        <p:spPr>
          <a:xfrm>
            <a:off x="393192" y="3337560"/>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0" name="Text 18"/>
          <p:cNvSpPr/>
          <p:nvPr/>
        </p:nvSpPr>
        <p:spPr>
          <a:xfrm>
            <a:off x="896112" y="3337560"/>
            <a:ext cx="4754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Key Features</a:t>
            </a:r>
            <a:endParaRPr lang="en-US" sz="1200" dirty="0"/>
          </a:p>
        </p:txBody>
      </p:sp>
      <p:sp>
        <p:nvSpPr>
          <p:cNvPr id="21" name="Text 19"/>
          <p:cNvSpPr/>
          <p:nvPr/>
        </p:nvSpPr>
        <p:spPr>
          <a:xfrm>
            <a:off x="896112" y="3593592"/>
            <a:ext cx="4754880" cy="274320"/>
          </a:xfrm>
          <a:prstGeom prst="rect">
            <a:avLst/>
          </a:prstGeom>
          <a:noFill/>
          <a:ln/>
        </p:spPr>
        <p:txBody>
          <a:bodyPr wrap="square" rtlCol="0" anchor="ctr"/>
          <a:lstStyle/>
          <a:p>
            <a:pPr indent="0" marL="0">
              <a:buNone/>
            </a:pPr>
            <a:r>
              <a:rPr lang="en-US" sz="1000" dirty="0">
                <a:solidFill>
                  <a:srgbClr val="B0BEC5"/>
                </a:solidFill>
                <a:latin typeface="Calibri" pitchFamily="34" charset="0"/>
                <a:ea typeface="Calibri" pitchFamily="34" charset="-122"/>
                <a:cs typeface="Calibri" pitchFamily="34" charset="-120"/>
              </a:rPr>
              <a:t>A full walkthrough of all capabilities</a:t>
            </a:r>
            <a:endParaRPr lang="en-US" sz="1000" dirty="0"/>
          </a:p>
        </p:txBody>
      </p:sp>
      <p:sp>
        <p:nvSpPr>
          <p:cNvPr id="22" name="Shape 20"/>
          <p:cNvSpPr/>
          <p:nvPr/>
        </p:nvSpPr>
        <p:spPr>
          <a:xfrm>
            <a:off x="393192" y="4297680"/>
            <a:ext cx="402336" cy="402336"/>
          </a:xfrm>
          <a:prstGeom prst="ellipse">
            <a:avLst/>
          </a:prstGeom>
          <a:solidFill>
            <a:srgbClr val="00C9A7"/>
          </a:solidFill>
          <a:ln w="12700">
            <a:solidFill>
              <a:srgbClr val="333333"/>
            </a:solidFill>
            <a:prstDash val="solid"/>
          </a:ln>
        </p:spPr>
      </p:sp>
      <p:sp>
        <p:nvSpPr>
          <p:cNvPr id="23" name="Text 21"/>
          <p:cNvSpPr/>
          <p:nvPr/>
        </p:nvSpPr>
        <p:spPr>
          <a:xfrm>
            <a:off x="393192" y="4297680"/>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24" name="Text 22"/>
          <p:cNvSpPr/>
          <p:nvPr/>
        </p:nvSpPr>
        <p:spPr>
          <a:xfrm>
            <a:off x="896112" y="4297680"/>
            <a:ext cx="4754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How It Works</a:t>
            </a:r>
            <a:endParaRPr lang="en-US" sz="1200" dirty="0"/>
          </a:p>
        </p:txBody>
      </p:sp>
      <p:sp>
        <p:nvSpPr>
          <p:cNvPr id="25" name="Text 23"/>
          <p:cNvSpPr/>
          <p:nvPr/>
        </p:nvSpPr>
        <p:spPr>
          <a:xfrm>
            <a:off x="896112" y="4553712"/>
            <a:ext cx="4754880" cy="274320"/>
          </a:xfrm>
          <a:prstGeom prst="rect">
            <a:avLst/>
          </a:prstGeom>
          <a:noFill/>
          <a:ln/>
        </p:spPr>
        <p:txBody>
          <a:bodyPr wrap="square" rtlCol="0" anchor="ctr"/>
          <a:lstStyle/>
          <a:p>
            <a:pPr indent="0" marL="0">
              <a:buNone/>
            </a:pPr>
            <a:r>
              <a:rPr lang="en-US" sz="1000" dirty="0">
                <a:solidFill>
                  <a:srgbClr val="B0BEC5"/>
                </a:solidFill>
                <a:latin typeface="Calibri" pitchFamily="34" charset="0"/>
                <a:ea typeface="Calibri" pitchFamily="34" charset="-122"/>
                <a:cs typeface="Calibri" pitchFamily="34" charset="-120"/>
              </a:rPr>
              <a:t>Step-by-step user journey from login to answer</a:t>
            </a:r>
            <a:endParaRPr lang="en-US" sz="1000" dirty="0"/>
          </a:p>
        </p:txBody>
      </p:sp>
      <p:sp>
        <p:nvSpPr>
          <p:cNvPr id="26" name="Shape 24"/>
          <p:cNvSpPr/>
          <p:nvPr/>
        </p:nvSpPr>
        <p:spPr>
          <a:xfrm>
            <a:off x="393192" y="5257800"/>
            <a:ext cx="402336" cy="402336"/>
          </a:xfrm>
          <a:prstGeom prst="ellipse">
            <a:avLst/>
          </a:prstGeom>
          <a:solidFill>
            <a:srgbClr val="4F8EF7"/>
          </a:solidFill>
          <a:ln w="12700">
            <a:solidFill>
              <a:srgbClr val="333333"/>
            </a:solidFill>
            <a:prstDash val="solid"/>
          </a:ln>
        </p:spPr>
      </p:sp>
      <p:sp>
        <p:nvSpPr>
          <p:cNvPr id="27" name="Text 25"/>
          <p:cNvSpPr/>
          <p:nvPr/>
        </p:nvSpPr>
        <p:spPr>
          <a:xfrm>
            <a:off x="393192" y="5257800"/>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05</a:t>
            </a:r>
            <a:endParaRPr lang="en-US" sz="1100" dirty="0"/>
          </a:p>
        </p:txBody>
      </p:sp>
      <p:sp>
        <p:nvSpPr>
          <p:cNvPr id="28" name="Text 26"/>
          <p:cNvSpPr/>
          <p:nvPr/>
        </p:nvSpPr>
        <p:spPr>
          <a:xfrm>
            <a:off x="896112" y="5257800"/>
            <a:ext cx="4754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Supported Files &amp; AI Models</a:t>
            </a:r>
            <a:endParaRPr lang="en-US" sz="1200" dirty="0"/>
          </a:p>
        </p:txBody>
      </p:sp>
      <p:sp>
        <p:nvSpPr>
          <p:cNvPr id="29" name="Text 27"/>
          <p:cNvSpPr/>
          <p:nvPr/>
        </p:nvSpPr>
        <p:spPr>
          <a:xfrm>
            <a:off x="896112" y="5513832"/>
            <a:ext cx="4754880" cy="274320"/>
          </a:xfrm>
          <a:prstGeom prst="rect">
            <a:avLst/>
          </a:prstGeom>
          <a:noFill/>
          <a:ln/>
        </p:spPr>
        <p:txBody>
          <a:bodyPr wrap="square" rtlCol="0" anchor="ctr"/>
          <a:lstStyle/>
          <a:p>
            <a:pPr indent="0" marL="0">
              <a:buNone/>
            </a:pPr>
            <a:r>
              <a:rPr lang="en-US" sz="1000" dirty="0">
                <a:solidFill>
                  <a:srgbClr val="B0BEC5"/>
                </a:solidFill>
                <a:latin typeface="Calibri" pitchFamily="34" charset="0"/>
                <a:ea typeface="Calibri" pitchFamily="34" charset="-122"/>
                <a:cs typeface="Calibri" pitchFamily="34" charset="-120"/>
              </a:rPr>
              <a:t>Formats, limits, and model options</a:t>
            </a:r>
            <a:endParaRPr lang="en-US" sz="1000" dirty="0"/>
          </a:p>
        </p:txBody>
      </p:sp>
      <p:sp>
        <p:nvSpPr>
          <p:cNvPr id="30" name="Shape 28"/>
          <p:cNvSpPr/>
          <p:nvPr/>
        </p:nvSpPr>
        <p:spPr>
          <a:xfrm>
            <a:off x="6519672" y="1417320"/>
            <a:ext cx="402336" cy="402336"/>
          </a:xfrm>
          <a:prstGeom prst="ellipse">
            <a:avLst/>
          </a:prstGeom>
          <a:solidFill>
            <a:srgbClr val="6C63FF"/>
          </a:solidFill>
          <a:ln w="12700">
            <a:solidFill>
              <a:srgbClr val="333333"/>
            </a:solidFill>
            <a:prstDash val="solid"/>
          </a:ln>
        </p:spPr>
      </p:sp>
      <p:sp>
        <p:nvSpPr>
          <p:cNvPr id="31" name="Text 29"/>
          <p:cNvSpPr/>
          <p:nvPr/>
        </p:nvSpPr>
        <p:spPr>
          <a:xfrm>
            <a:off x="6519672" y="1417320"/>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06</a:t>
            </a:r>
            <a:endParaRPr lang="en-US" sz="1100" dirty="0"/>
          </a:p>
        </p:txBody>
      </p:sp>
      <p:sp>
        <p:nvSpPr>
          <p:cNvPr id="32" name="Text 30"/>
          <p:cNvSpPr/>
          <p:nvPr/>
        </p:nvSpPr>
        <p:spPr>
          <a:xfrm>
            <a:off x="7022592" y="1417320"/>
            <a:ext cx="4754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Interface &amp; Screens</a:t>
            </a:r>
            <a:endParaRPr lang="en-US" sz="1200" dirty="0"/>
          </a:p>
        </p:txBody>
      </p:sp>
      <p:sp>
        <p:nvSpPr>
          <p:cNvPr id="33" name="Text 31"/>
          <p:cNvSpPr/>
          <p:nvPr/>
        </p:nvSpPr>
        <p:spPr>
          <a:xfrm>
            <a:off x="7022592" y="1673352"/>
            <a:ext cx="4754880" cy="274320"/>
          </a:xfrm>
          <a:prstGeom prst="rect">
            <a:avLst/>
          </a:prstGeom>
          <a:noFill/>
          <a:ln/>
        </p:spPr>
        <p:txBody>
          <a:bodyPr wrap="square" rtlCol="0" anchor="ctr"/>
          <a:lstStyle/>
          <a:p>
            <a:pPr indent="0" marL="0">
              <a:buNone/>
            </a:pPr>
            <a:r>
              <a:rPr lang="en-US" sz="1000" dirty="0">
                <a:solidFill>
                  <a:srgbClr val="B0BEC5"/>
                </a:solidFill>
                <a:latin typeface="Calibri" pitchFamily="34" charset="0"/>
                <a:ea typeface="Calibri" pitchFamily="34" charset="-122"/>
                <a:cs typeface="Calibri" pitchFamily="34" charset="-120"/>
              </a:rPr>
              <a:t>Visual walkthrough of the application UI</a:t>
            </a:r>
            <a:endParaRPr lang="en-US" sz="1000" dirty="0"/>
          </a:p>
        </p:txBody>
      </p:sp>
      <p:sp>
        <p:nvSpPr>
          <p:cNvPr id="34" name="Shape 32"/>
          <p:cNvSpPr/>
          <p:nvPr/>
        </p:nvSpPr>
        <p:spPr>
          <a:xfrm>
            <a:off x="6519672" y="2377440"/>
            <a:ext cx="402336" cy="402336"/>
          </a:xfrm>
          <a:prstGeom prst="ellipse">
            <a:avLst/>
          </a:prstGeom>
          <a:solidFill>
            <a:srgbClr val="FF6B35"/>
          </a:solidFill>
          <a:ln w="12700">
            <a:solidFill>
              <a:srgbClr val="333333"/>
            </a:solidFill>
            <a:prstDash val="solid"/>
          </a:ln>
        </p:spPr>
      </p:sp>
      <p:sp>
        <p:nvSpPr>
          <p:cNvPr id="35" name="Text 33"/>
          <p:cNvSpPr/>
          <p:nvPr/>
        </p:nvSpPr>
        <p:spPr>
          <a:xfrm>
            <a:off x="6519672" y="2377440"/>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07</a:t>
            </a:r>
            <a:endParaRPr lang="en-US" sz="1100" dirty="0"/>
          </a:p>
        </p:txBody>
      </p:sp>
      <p:sp>
        <p:nvSpPr>
          <p:cNvPr id="36" name="Text 34"/>
          <p:cNvSpPr/>
          <p:nvPr/>
        </p:nvSpPr>
        <p:spPr>
          <a:xfrm>
            <a:off x="7022592" y="2377440"/>
            <a:ext cx="4754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Security &amp; Privacy</a:t>
            </a:r>
            <a:endParaRPr lang="en-US" sz="1200" dirty="0"/>
          </a:p>
        </p:txBody>
      </p:sp>
      <p:sp>
        <p:nvSpPr>
          <p:cNvPr id="37" name="Text 35"/>
          <p:cNvSpPr/>
          <p:nvPr/>
        </p:nvSpPr>
        <p:spPr>
          <a:xfrm>
            <a:off x="7022592" y="2633472"/>
            <a:ext cx="4754880" cy="274320"/>
          </a:xfrm>
          <a:prstGeom prst="rect">
            <a:avLst/>
          </a:prstGeom>
          <a:noFill/>
          <a:ln/>
        </p:spPr>
        <p:txBody>
          <a:bodyPr wrap="square" rtlCol="0" anchor="ctr"/>
          <a:lstStyle/>
          <a:p>
            <a:pPr indent="0" marL="0">
              <a:buNone/>
            </a:pPr>
            <a:r>
              <a:rPr lang="en-US" sz="1000" dirty="0">
                <a:solidFill>
                  <a:srgbClr val="B0BEC5"/>
                </a:solidFill>
                <a:latin typeface="Calibri" pitchFamily="34" charset="0"/>
                <a:ea typeface="Calibri" pitchFamily="34" charset="-122"/>
                <a:cs typeface="Calibri" pitchFamily="34" charset="-120"/>
              </a:rPr>
              <a:t>How user data is protected at every layer</a:t>
            </a:r>
            <a:endParaRPr lang="en-US" sz="1000" dirty="0"/>
          </a:p>
        </p:txBody>
      </p:sp>
      <p:sp>
        <p:nvSpPr>
          <p:cNvPr id="38" name="Shape 36"/>
          <p:cNvSpPr/>
          <p:nvPr/>
        </p:nvSpPr>
        <p:spPr>
          <a:xfrm>
            <a:off x="6519672" y="3337560"/>
            <a:ext cx="402336" cy="402336"/>
          </a:xfrm>
          <a:prstGeom prst="ellipse">
            <a:avLst/>
          </a:prstGeom>
          <a:solidFill>
            <a:srgbClr val="6C63FF"/>
          </a:solidFill>
          <a:ln w="12700">
            <a:solidFill>
              <a:srgbClr val="333333"/>
            </a:solidFill>
            <a:prstDash val="solid"/>
          </a:ln>
        </p:spPr>
      </p:sp>
      <p:sp>
        <p:nvSpPr>
          <p:cNvPr id="39" name="Text 37"/>
          <p:cNvSpPr/>
          <p:nvPr/>
        </p:nvSpPr>
        <p:spPr>
          <a:xfrm>
            <a:off x="6519672" y="3337560"/>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08</a:t>
            </a:r>
            <a:endParaRPr lang="en-US" sz="1100" dirty="0"/>
          </a:p>
        </p:txBody>
      </p:sp>
      <p:sp>
        <p:nvSpPr>
          <p:cNvPr id="40" name="Text 38"/>
          <p:cNvSpPr/>
          <p:nvPr/>
        </p:nvSpPr>
        <p:spPr>
          <a:xfrm>
            <a:off x="7022592" y="3337560"/>
            <a:ext cx="4754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Technology Stack</a:t>
            </a:r>
            <a:endParaRPr lang="en-US" sz="1200" dirty="0"/>
          </a:p>
        </p:txBody>
      </p:sp>
      <p:sp>
        <p:nvSpPr>
          <p:cNvPr id="41" name="Text 39"/>
          <p:cNvSpPr/>
          <p:nvPr/>
        </p:nvSpPr>
        <p:spPr>
          <a:xfrm>
            <a:off x="7022592" y="3593592"/>
            <a:ext cx="4754880" cy="274320"/>
          </a:xfrm>
          <a:prstGeom prst="rect">
            <a:avLst/>
          </a:prstGeom>
          <a:noFill/>
          <a:ln/>
        </p:spPr>
        <p:txBody>
          <a:bodyPr wrap="square" rtlCol="0" anchor="ctr"/>
          <a:lstStyle/>
          <a:p>
            <a:pPr indent="0" marL="0">
              <a:buNone/>
            </a:pPr>
            <a:r>
              <a:rPr lang="en-US" sz="1000" dirty="0">
                <a:solidFill>
                  <a:srgbClr val="B0BEC5"/>
                </a:solidFill>
                <a:latin typeface="Calibri" pitchFamily="34" charset="0"/>
                <a:ea typeface="Calibri" pitchFamily="34" charset="-122"/>
                <a:cs typeface="Calibri" pitchFamily="34" charset="-120"/>
              </a:rPr>
              <a:t>Plain-language overview of the tech powering the app</a:t>
            </a:r>
            <a:endParaRPr lang="en-US" sz="1000" dirty="0"/>
          </a:p>
        </p:txBody>
      </p:sp>
      <p:sp>
        <p:nvSpPr>
          <p:cNvPr id="42" name="Shape 40"/>
          <p:cNvSpPr/>
          <p:nvPr/>
        </p:nvSpPr>
        <p:spPr>
          <a:xfrm>
            <a:off x="6519672" y="4297680"/>
            <a:ext cx="402336" cy="402336"/>
          </a:xfrm>
          <a:prstGeom prst="ellipse">
            <a:avLst/>
          </a:prstGeom>
          <a:solidFill>
            <a:srgbClr val="FF6B35"/>
          </a:solidFill>
          <a:ln w="12700">
            <a:solidFill>
              <a:srgbClr val="333333"/>
            </a:solidFill>
            <a:prstDash val="solid"/>
          </a:ln>
        </p:spPr>
      </p:sp>
      <p:sp>
        <p:nvSpPr>
          <p:cNvPr id="43" name="Text 41"/>
          <p:cNvSpPr/>
          <p:nvPr/>
        </p:nvSpPr>
        <p:spPr>
          <a:xfrm>
            <a:off x="6519672" y="4297680"/>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09</a:t>
            </a:r>
            <a:endParaRPr lang="en-US" sz="1100" dirty="0"/>
          </a:p>
        </p:txBody>
      </p:sp>
      <p:sp>
        <p:nvSpPr>
          <p:cNvPr id="44" name="Text 42"/>
          <p:cNvSpPr/>
          <p:nvPr/>
        </p:nvSpPr>
        <p:spPr>
          <a:xfrm>
            <a:off x="7022592" y="4297680"/>
            <a:ext cx="4754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Setup &amp; Requirements</a:t>
            </a:r>
            <a:endParaRPr lang="en-US" sz="1200" dirty="0"/>
          </a:p>
        </p:txBody>
      </p:sp>
      <p:sp>
        <p:nvSpPr>
          <p:cNvPr id="45" name="Text 43"/>
          <p:cNvSpPr/>
          <p:nvPr/>
        </p:nvSpPr>
        <p:spPr>
          <a:xfrm>
            <a:off x="7022592" y="4553712"/>
            <a:ext cx="4754880" cy="274320"/>
          </a:xfrm>
          <a:prstGeom prst="rect">
            <a:avLst/>
          </a:prstGeom>
          <a:noFill/>
          <a:ln/>
        </p:spPr>
        <p:txBody>
          <a:bodyPr wrap="square" rtlCol="0" anchor="ctr"/>
          <a:lstStyle/>
          <a:p>
            <a:pPr indent="0" marL="0">
              <a:buNone/>
            </a:pPr>
            <a:r>
              <a:rPr lang="en-US" sz="1000" dirty="0">
                <a:solidFill>
                  <a:srgbClr val="B0BEC5"/>
                </a:solidFill>
                <a:latin typeface="Calibri" pitchFamily="34" charset="0"/>
                <a:ea typeface="Calibri" pitchFamily="34" charset="-122"/>
                <a:cs typeface="Calibri" pitchFamily="34" charset="-120"/>
              </a:rPr>
              <a:t>What is needed to deploy and run the application</a:t>
            </a:r>
            <a:endParaRPr lang="en-US" sz="1000" dirty="0"/>
          </a:p>
        </p:txBody>
      </p:sp>
      <p:sp>
        <p:nvSpPr>
          <p:cNvPr id="46" name="Shape 44"/>
          <p:cNvSpPr/>
          <p:nvPr/>
        </p:nvSpPr>
        <p:spPr>
          <a:xfrm>
            <a:off x="6519672" y="5257800"/>
            <a:ext cx="402336" cy="402336"/>
          </a:xfrm>
          <a:prstGeom prst="ellipse">
            <a:avLst/>
          </a:prstGeom>
          <a:solidFill>
            <a:srgbClr val="6C63FF"/>
          </a:solidFill>
          <a:ln w="12700">
            <a:solidFill>
              <a:srgbClr val="333333"/>
            </a:solidFill>
            <a:prstDash val="solid"/>
          </a:ln>
        </p:spPr>
      </p:sp>
      <p:sp>
        <p:nvSpPr>
          <p:cNvPr id="47" name="Text 45"/>
          <p:cNvSpPr/>
          <p:nvPr/>
        </p:nvSpPr>
        <p:spPr>
          <a:xfrm>
            <a:off x="6519672" y="5257800"/>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48" name="Text 46"/>
          <p:cNvSpPr/>
          <p:nvPr/>
        </p:nvSpPr>
        <p:spPr>
          <a:xfrm>
            <a:off x="7022592" y="5257800"/>
            <a:ext cx="47548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Limitations &amp; FAQ</a:t>
            </a:r>
            <a:endParaRPr lang="en-US" sz="1200" dirty="0"/>
          </a:p>
        </p:txBody>
      </p:sp>
      <p:sp>
        <p:nvSpPr>
          <p:cNvPr id="49" name="Text 47"/>
          <p:cNvSpPr/>
          <p:nvPr/>
        </p:nvSpPr>
        <p:spPr>
          <a:xfrm>
            <a:off x="7022592" y="5513832"/>
            <a:ext cx="4754880" cy="274320"/>
          </a:xfrm>
          <a:prstGeom prst="rect">
            <a:avLst/>
          </a:prstGeom>
          <a:noFill/>
          <a:ln/>
        </p:spPr>
        <p:txBody>
          <a:bodyPr wrap="square" rtlCol="0" anchor="ctr"/>
          <a:lstStyle/>
          <a:p>
            <a:pPr indent="0" marL="0">
              <a:buNone/>
            </a:pPr>
            <a:r>
              <a:rPr lang="en-US" sz="1000" dirty="0">
                <a:solidFill>
                  <a:srgbClr val="B0BEC5"/>
                </a:solidFill>
                <a:latin typeface="Calibri" pitchFamily="34" charset="0"/>
                <a:ea typeface="Calibri" pitchFamily="34" charset="-122"/>
                <a:cs typeface="Calibri" pitchFamily="34" charset="-120"/>
              </a:rPr>
              <a:t>Honest boundaries and common questions answered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OVERVIEW</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What Is DocuChat AI?</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3 / 20</a:t>
            </a:r>
            <a:endParaRPr lang="en-US" sz="750" dirty="0"/>
          </a:p>
        </p:txBody>
      </p:sp>
      <p:sp>
        <p:nvSpPr>
          <p:cNvPr id="10" name="Shape 8"/>
          <p:cNvSpPr/>
          <p:nvPr/>
        </p:nvSpPr>
        <p:spPr>
          <a:xfrm>
            <a:off x="365760" y="1325880"/>
            <a:ext cx="5303520" cy="2011680"/>
          </a:xfrm>
          <a:prstGeom prst="roundRect">
            <a:avLst>
              <a:gd name="adj" fmla="val 5455"/>
            </a:avLst>
          </a:prstGeom>
          <a:solidFill>
            <a:srgbClr val="162233"/>
          </a:solidFill>
          <a:ln w="15240">
            <a:solidFill>
              <a:srgbClr val="253A52"/>
            </a:solidFill>
            <a:prstDash val="solid"/>
          </a:ln>
        </p:spPr>
      </p:sp>
      <p:sp>
        <p:nvSpPr>
          <p:cNvPr id="11" name="Shape 9"/>
          <p:cNvSpPr/>
          <p:nvPr/>
        </p:nvSpPr>
        <p:spPr>
          <a:xfrm>
            <a:off x="365760" y="1325880"/>
            <a:ext cx="109728" cy="2011680"/>
          </a:xfrm>
          <a:prstGeom prst="rect">
            <a:avLst/>
          </a:prstGeom>
          <a:solidFill>
            <a:srgbClr val="FF6B35"/>
          </a:solidFill>
          <a:ln w="12700">
            <a:solidFill>
              <a:srgbClr val="333333"/>
            </a:solidFill>
            <a:prstDash val="solid"/>
          </a:ln>
        </p:spPr>
      </p:sp>
      <p:sp>
        <p:nvSpPr>
          <p:cNvPr id="12" name="Text 10"/>
          <p:cNvSpPr/>
          <p:nvPr/>
        </p:nvSpPr>
        <p:spPr>
          <a:xfrm>
            <a:off x="566928" y="1417320"/>
            <a:ext cx="4937760" cy="320040"/>
          </a:xfrm>
          <a:prstGeom prst="rect">
            <a:avLst/>
          </a:prstGeom>
          <a:noFill/>
          <a:ln/>
        </p:spPr>
        <p:txBody>
          <a:bodyPr wrap="square" rtlCol="0" anchor="ctr"/>
          <a:lstStyle/>
          <a:p>
            <a:pPr indent="0" marL="0">
              <a:buNone/>
            </a:pPr>
            <a:r>
              <a:rPr lang="en-US" sz="1300" b="1" dirty="0">
                <a:solidFill>
                  <a:srgbClr val="FF6B35"/>
                </a:solidFill>
                <a:latin typeface="Calibri" pitchFamily="34" charset="0"/>
                <a:ea typeface="Calibri" pitchFamily="34" charset="-122"/>
                <a:cs typeface="Calibri" pitchFamily="34" charset="-120"/>
              </a:rPr>
              <a:t>The Problem</a:t>
            </a:r>
            <a:endParaRPr lang="en-US" sz="1300" dirty="0"/>
          </a:p>
        </p:txBody>
      </p:sp>
      <p:sp>
        <p:nvSpPr>
          <p:cNvPr id="13" name="Text 11"/>
          <p:cNvSpPr/>
          <p:nvPr/>
        </p:nvSpPr>
        <p:spPr>
          <a:xfrm>
            <a:off x="566928" y="1783080"/>
            <a:ext cx="4892040" cy="1371600"/>
          </a:xfrm>
          <a:prstGeom prst="rect">
            <a:avLst/>
          </a:prstGeom>
          <a:noFill/>
          <a:ln/>
        </p:spPr>
        <p:txBody>
          <a:bodyPr wrap="square" rtlCol="0" anchor="t"/>
          <a:lstStyle/>
          <a:p>
            <a:pPr algn="l" indent="0" marL="0">
              <a:buNone/>
            </a:pPr>
            <a:r>
              <a:rPr lang="en-US" sz="1200" dirty="0">
                <a:solidFill>
                  <a:srgbClr val="CFD8DC"/>
                </a:solidFill>
                <a:latin typeface="Calibri" pitchFamily="34" charset="0"/>
                <a:ea typeface="Calibri" pitchFamily="34" charset="-122"/>
                <a:cs typeface="Calibri" pitchFamily="34" charset="-120"/>
              </a:rPr>
              <a:t>Finding specific information inside large documents — contracts, reports, spreadsheets, manuals — is slow, tedious, and error-prone. People spend hours searching when they need answers in minutes.</a:t>
            </a:r>
            <a:endParaRPr lang="en-US" sz="1200" dirty="0"/>
          </a:p>
        </p:txBody>
      </p:sp>
      <p:sp>
        <p:nvSpPr>
          <p:cNvPr id="14" name="Shape 12"/>
          <p:cNvSpPr/>
          <p:nvPr/>
        </p:nvSpPr>
        <p:spPr>
          <a:xfrm>
            <a:off x="5989320" y="1325880"/>
            <a:ext cx="5852160" cy="2011680"/>
          </a:xfrm>
          <a:prstGeom prst="roundRect">
            <a:avLst>
              <a:gd name="adj" fmla="val 5455"/>
            </a:avLst>
          </a:prstGeom>
          <a:solidFill>
            <a:srgbClr val="162233"/>
          </a:solidFill>
          <a:ln w="15240">
            <a:solidFill>
              <a:srgbClr val="253A52"/>
            </a:solidFill>
            <a:prstDash val="solid"/>
          </a:ln>
        </p:spPr>
      </p:sp>
      <p:sp>
        <p:nvSpPr>
          <p:cNvPr id="15" name="Shape 13"/>
          <p:cNvSpPr/>
          <p:nvPr/>
        </p:nvSpPr>
        <p:spPr>
          <a:xfrm>
            <a:off x="5989320" y="1325880"/>
            <a:ext cx="109728" cy="2011680"/>
          </a:xfrm>
          <a:prstGeom prst="rect">
            <a:avLst/>
          </a:prstGeom>
          <a:solidFill>
            <a:srgbClr val="00C9A7"/>
          </a:solidFill>
          <a:ln w="12700">
            <a:solidFill>
              <a:srgbClr val="333333"/>
            </a:solidFill>
            <a:prstDash val="solid"/>
          </a:ln>
        </p:spPr>
      </p:sp>
      <p:sp>
        <p:nvSpPr>
          <p:cNvPr id="16" name="Text 14"/>
          <p:cNvSpPr/>
          <p:nvPr/>
        </p:nvSpPr>
        <p:spPr>
          <a:xfrm>
            <a:off x="6190488" y="1417320"/>
            <a:ext cx="5486400" cy="320040"/>
          </a:xfrm>
          <a:prstGeom prst="rect">
            <a:avLst/>
          </a:prstGeom>
          <a:noFill/>
          <a:ln/>
        </p:spPr>
        <p:txBody>
          <a:bodyPr wrap="square"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The Solution</a:t>
            </a:r>
            <a:endParaRPr lang="en-US" sz="1300" dirty="0"/>
          </a:p>
        </p:txBody>
      </p:sp>
      <p:sp>
        <p:nvSpPr>
          <p:cNvPr id="17" name="Text 15"/>
          <p:cNvSpPr/>
          <p:nvPr/>
        </p:nvSpPr>
        <p:spPr>
          <a:xfrm>
            <a:off x="6190488" y="1783080"/>
            <a:ext cx="5486400" cy="1371600"/>
          </a:xfrm>
          <a:prstGeom prst="rect">
            <a:avLst/>
          </a:prstGeom>
          <a:noFill/>
          <a:ln/>
        </p:spPr>
        <p:txBody>
          <a:bodyPr wrap="square" rtlCol="0" anchor="t"/>
          <a:lstStyle/>
          <a:p>
            <a:pPr algn="l" indent="0" marL="0">
              <a:buNone/>
            </a:pPr>
            <a:r>
              <a:rPr lang="en-US" sz="1200" dirty="0">
                <a:solidFill>
                  <a:srgbClr val="CFD8DC"/>
                </a:solidFill>
                <a:latin typeface="Calibri" pitchFamily="34" charset="0"/>
                <a:ea typeface="Calibri" pitchFamily="34" charset="-122"/>
                <a:cs typeface="Calibri" pitchFamily="34" charset="-120"/>
              </a:rPr>
              <a:t>DocuChat AI lets users upload any document and ask questions in plain English — just like chatting with an expert assistant. The AI reads the document, finds the relevant sections, and delivers a clear answer with source references.</a:t>
            </a:r>
            <a:endParaRPr lang="en-US" sz="1200" dirty="0"/>
          </a:p>
        </p:txBody>
      </p:sp>
      <p:sp>
        <p:nvSpPr>
          <p:cNvPr id="18" name="Text 16"/>
          <p:cNvSpPr/>
          <p:nvPr/>
        </p:nvSpPr>
        <p:spPr>
          <a:xfrm>
            <a:off x="365760" y="3520440"/>
            <a:ext cx="11430000" cy="320040"/>
          </a:xfrm>
          <a:prstGeom prst="rect">
            <a:avLst/>
          </a:prstGeom>
          <a:noFill/>
          <a:ln/>
        </p:spPr>
        <p:txBody>
          <a:bodyPr wrap="square" rtlCol="0" anchor="ctr"/>
          <a:lstStyle/>
          <a:p>
            <a:pPr indent="0" marL="0">
              <a:buNone/>
            </a:pPr>
            <a:r>
              <a:rPr lang="en-US" sz="1200" b="1" dirty="0">
                <a:solidFill>
                  <a:srgbClr val="4F8EF7"/>
                </a:solidFill>
                <a:latin typeface="Calibri" pitchFamily="34" charset="0"/>
                <a:ea typeface="Calibri" pitchFamily="34" charset="-122"/>
                <a:cs typeface="Calibri" pitchFamily="34" charset="-120"/>
              </a:rPr>
              <a:t>Example Questions Users Can Ask:</a:t>
            </a:r>
            <a:endParaRPr lang="en-US" sz="1200" dirty="0"/>
          </a:p>
        </p:txBody>
      </p:sp>
      <p:sp>
        <p:nvSpPr>
          <p:cNvPr id="19" name="Shape 17"/>
          <p:cNvSpPr/>
          <p:nvPr/>
        </p:nvSpPr>
        <p:spPr>
          <a:xfrm>
            <a:off x="365760" y="3913632"/>
            <a:ext cx="5394960" cy="475488"/>
          </a:xfrm>
          <a:prstGeom prst="roundRect">
            <a:avLst>
              <a:gd name="adj" fmla="val 23077"/>
            </a:avLst>
          </a:prstGeom>
          <a:solidFill>
            <a:srgbClr val="1A2D41"/>
          </a:solidFill>
          <a:ln w="15240">
            <a:solidFill>
              <a:srgbClr val="253A52"/>
            </a:solidFill>
            <a:prstDash val="solid"/>
          </a:ln>
        </p:spPr>
      </p:sp>
      <p:sp>
        <p:nvSpPr>
          <p:cNvPr id="20" name="Text 18"/>
          <p:cNvSpPr/>
          <p:nvPr/>
        </p:nvSpPr>
        <p:spPr>
          <a:xfrm>
            <a:off x="502920" y="3913632"/>
            <a:ext cx="5120640" cy="475488"/>
          </a:xfrm>
          <a:prstGeom prst="rect">
            <a:avLst/>
          </a:prstGeom>
          <a:noFill/>
          <a:ln/>
        </p:spPr>
        <p:txBody>
          <a:bodyPr wrap="square" rtlCol="0" anchor="ctr"/>
          <a:lstStyle/>
          <a:p>
            <a:pPr indent="0" marL="0">
              <a:buNone/>
            </a:pPr>
            <a:r>
              <a:rPr lang="en-US" sz="1150" i="1" dirty="0">
                <a:solidFill>
                  <a:srgbClr val="EFF4FF"/>
                </a:solidFill>
                <a:latin typeface="Calibri" pitchFamily="34" charset="0"/>
                <a:ea typeface="Calibri" pitchFamily="34" charset="-122"/>
                <a:cs typeface="Calibri" pitchFamily="34" charset="-120"/>
              </a:rPr>
              <a:t>"What is the total revenue for Q3?"</a:t>
            </a:r>
            <a:endParaRPr lang="en-US" sz="1150" dirty="0"/>
          </a:p>
        </p:txBody>
      </p:sp>
      <p:sp>
        <p:nvSpPr>
          <p:cNvPr id="21" name="Shape 19"/>
          <p:cNvSpPr/>
          <p:nvPr/>
        </p:nvSpPr>
        <p:spPr>
          <a:xfrm>
            <a:off x="365760" y="4535424"/>
            <a:ext cx="5394960" cy="475488"/>
          </a:xfrm>
          <a:prstGeom prst="roundRect">
            <a:avLst>
              <a:gd name="adj" fmla="val 23077"/>
            </a:avLst>
          </a:prstGeom>
          <a:solidFill>
            <a:srgbClr val="1A2D41"/>
          </a:solidFill>
          <a:ln w="15240">
            <a:solidFill>
              <a:srgbClr val="253A52"/>
            </a:solidFill>
            <a:prstDash val="solid"/>
          </a:ln>
        </p:spPr>
      </p:sp>
      <p:sp>
        <p:nvSpPr>
          <p:cNvPr id="22" name="Text 20"/>
          <p:cNvSpPr/>
          <p:nvPr/>
        </p:nvSpPr>
        <p:spPr>
          <a:xfrm>
            <a:off x="502920" y="4535424"/>
            <a:ext cx="5120640" cy="475488"/>
          </a:xfrm>
          <a:prstGeom prst="rect">
            <a:avLst/>
          </a:prstGeom>
          <a:noFill/>
          <a:ln/>
        </p:spPr>
        <p:txBody>
          <a:bodyPr wrap="square" rtlCol="0" anchor="ctr"/>
          <a:lstStyle/>
          <a:p>
            <a:pPr indent="0" marL="0">
              <a:buNone/>
            </a:pPr>
            <a:r>
              <a:rPr lang="en-US" sz="1150" i="1" dirty="0">
                <a:solidFill>
                  <a:srgbClr val="EFF4FF"/>
                </a:solidFill>
                <a:latin typeface="Calibri" pitchFamily="34" charset="0"/>
                <a:ea typeface="Calibri" pitchFamily="34" charset="-122"/>
                <a:cs typeface="Calibri" pitchFamily="34" charset="-120"/>
              </a:rPr>
              <a:t>"Summarize the key findings from this report."</a:t>
            </a:r>
            <a:endParaRPr lang="en-US" sz="1150" dirty="0"/>
          </a:p>
        </p:txBody>
      </p:sp>
      <p:sp>
        <p:nvSpPr>
          <p:cNvPr id="23" name="Shape 21"/>
          <p:cNvSpPr/>
          <p:nvPr/>
        </p:nvSpPr>
        <p:spPr>
          <a:xfrm>
            <a:off x="6126480" y="3913632"/>
            <a:ext cx="5394960" cy="475488"/>
          </a:xfrm>
          <a:prstGeom prst="roundRect">
            <a:avLst>
              <a:gd name="adj" fmla="val 23077"/>
            </a:avLst>
          </a:prstGeom>
          <a:solidFill>
            <a:srgbClr val="1A2D41"/>
          </a:solidFill>
          <a:ln w="15240">
            <a:solidFill>
              <a:srgbClr val="253A52"/>
            </a:solidFill>
            <a:prstDash val="solid"/>
          </a:ln>
        </p:spPr>
      </p:sp>
      <p:sp>
        <p:nvSpPr>
          <p:cNvPr id="24" name="Text 22"/>
          <p:cNvSpPr/>
          <p:nvPr/>
        </p:nvSpPr>
        <p:spPr>
          <a:xfrm>
            <a:off x="6263640" y="3913632"/>
            <a:ext cx="5120640" cy="475488"/>
          </a:xfrm>
          <a:prstGeom prst="rect">
            <a:avLst/>
          </a:prstGeom>
          <a:noFill/>
          <a:ln/>
        </p:spPr>
        <p:txBody>
          <a:bodyPr wrap="square" rtlCol="0" anchor="ctr"/>
          <a:lstStyle/>
          <a:p>
            <a:pPr indent="0" marL="0">
              <a:buNone/>
            </a:pPr>
            <a:r>
              <a:rPr lang="en-US" sz="1150" i="1" dirty="0">
                <a:solidFill>
                  <a:srgbClr val="EFF4FF"/>
                </a:solidFill>
                <a:latin typeface="Calibri" pitchFamily="34" charset="0"/>
                <a:ea typeface="Calibri" pitchFamily="34" charset="-122"/>
                <a:cs typeface="Calibri" pitchFamily="34" charset="-120"/>
              </a:rPr>
              <a:t>"What are the payment terms in this contract?"</a:t>
            </a:r>
            <a:endParaRPr lang="en-US" sz="1150" dirty="0"/>
          </a:p>
        </p:txBody>
      </p:sp>
      <p:sp>
        <p:nvSpPr>
          <p:cNvPr id="25" name="Shape 23"/>
          <p:cNvSpPr/>
          <p:nvPr/>
        </p:nvSpPr>
        <p:spPr>
          <a:xfrm>
            <a:off x="6126480" y="4535424"/>
            <a:ext cx="5394960" cy="475488"/>
          </a:xfrm>
          <a:prstGeom prst="roundRect">
            <a:avLst>
              <a:gd name="adj" fmla="val 23077"/>
            </a:avLst>
          </a:prstGeom>
          <a:solidFill>
            <a:srgbClr val="1A2D41"/>
          </a:solidFill>
          <a:ln w="15240">
            <a:solidFill>
              <a:srgbClr val="253A52"/>
            </a:solidFill>
            <a:prstDash val="solid"/>
          </a:ln>
        </p:spPr>
      </p:sp>
      <p:sp>
        <p:nvSpPr>
          <p:cNvPr id="26" name="Text 24"/>
          <p:cNvSpPr/>
          <p:nvPr/>
        </p:nvSpPr>
        <p:spPr>
          <a:xfrm>
            <a:off x="6263640" y="4535424"/>
            <a:ext cx="5120640" cy="475488"/>
          </a:xfrm>
          <a:prstGeom prst="rect">
            <a:avLst/>
          </a:prstGeom>
          <a:noFill/>
          <a:ln/>
        </p:spPr>
        <p:txBody>
          <a:bodyPr wrap="square" rtlCol="0" anchor="ctr"/>
          <a:lstStyle/>
          <a:p>
            <a:pPr indent="0" marL="0">
              <a:buNone/>
            </a:pPr>
            <a:r>
              <a:rPr lang="en-US" sz="1150" i="1" dirty="0">
                <a:solidFill>
                  <a:srgbClr val="EFF4FF"/>
                </a:solidFill>
                <a:latin typeface="Calibri" pitchFamily="34" charset="0"/>
                <a:ea typeface="Calibri" pitchFamily="34" charset="-122"/>
                <a:cs typeface="Calibri" pitchFamily="34" charset="-120"/>
              </a:rPr>
              <a:t>"List all the product SKUs in this catalogue."</a:t>
            </a:r>
            <a:endParaRPr lang="en-US" sz="1150" dirty="0"/>
          </a:p>
        </p:txBody>
      </p:sp>
      <p:sp>
        <p:nvSpPr>
          <p:cNvPr id="27" name="Text 25"/>
          <p:cNvSpPr/>
          <p:nvPr/>
        </p:nvSpPr>
        <p:spPr>
          <a:xfrm>
            <a:off x="365760" y="5257800"/>
            <a:ext cx="11430000" cy="365760"/>
          </a:xfrm>
          <a:prstGeom prst="rect">
            <a:avLst/>
          </a:prstGeom>
          <a:noFill/>
          <a:ln/>
        </p:spPr>
        <p:txBody>
          <a:bodyPr wrap="square" rtlCol="0" anchor="t"/>
          <a:lstStyle/>
          <a:p>
            <a:pPr algn="l" indent="0" marL="0">
              <a:buNone/>
            </a:pPr>
            <a:r>
              <a:rPr lang="en-US" sz="1200" i="1" dirty="0">
                <a:solidFill>
                  <a:srgbClr val="B0BEC5"/>
                </a:solidFill>
                <a:latin typeface="Calibri" pitchFamily="34" charset="0"/>
                <a:ea typeface="Calibri" pitchFamily="34" charset="-122"/>
                <a:cs typeface="Calibri" pitchFamily="34" charset="-120"/>
              </a:rPr>
              <a:t>No technical expertise required. If you can type, you can use DocuChat AI.</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TARGET USERS</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Who Is DocuChat AI For?</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4 / 20</a:t>
            </a:r>
            <a:endParaRPr lang="en-US" sz="750" dirty="0"/>
          </a:p>
        </p:txBody>
      </p:sp>
      <p:sp>
        <p:nvSpPr>
          <p:cNvPr id="10" name="Shape 8"/>
          <p:cNvSpPr/>
          <p:nvPr/>
        </p:nvSpPr>
        <p:spPr>
          <a:xfrm>
            <a:off x="365760" y="1417320"/>
            <a:ext cx="3657600" cy="2011680"/>
          </a:xfrm>
          <a:prstGeom prst="roundRect">
            <a:avLst>
              <a:gd name="adj" fmla="val 5455"/>
            </a:avLst>
          </a:prstGeom>
          <a:solidFill>
            <a:srgbClr val="162233"/>
          </a:solidFill>
          <a:ln w="15240">
            <a:solidFill>
              <a:srgbClr val="253A52"/>
            </a:solidFill>
            <a:prstDash val="solid"/>
          </a:ln>
        </p:spPr>
      </p:sp>
      <p:sp>
        <p:nvSpPr>
          <p:cNvPr id="11" name="Shape 9"/>
          <p:cNvSpPr/>
          <p:nvPr/>
        </p:nvSpPr>
        <p:spPr>
          <a:xfrm>
            <a:off x="502920" y="1527048"/>
            <a:ext cx="731520" cy="731520"/>
          </a:xfrm>
          <a:prstGeom prst="ellipse">
            <a:avLst/>
          </a:prstGeom>
          <a:solidFill>
            <a:srgbClr val="4F8EF7"/>
          </a:solidFill>
          <a:ln w="12700">
            <a:solidFill>
              <a:srgbClr val="333333"/>
            </a:solidFill>
            <a:prstDash val="solid"/>
          </a:ln>
        </p:spPr>
      </p:sp>
      <p:sp>
        <p:nvSpPr>
          <p:cNvPr id="12" name="Text 10"/>
          <p:cNvSpPr/>
          <p:nvPr/>
        </p:nvSpPr>
        <p:spPr>
          <a:xfrm>
            <a:off x="502920" y="1527048"/>
            <a:ext cx="731520" cy="73152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13" name="Text 11"/>
          <p:cNvSpPr/>
          <p:nvPr/>
        </p:nvSpPr>
        <p:spPr>
          <a:xfrm>
            <a:off x="1371600" y="1618488"/>
            <a:ext cx="2560320" cy="347472"/>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Business Professionals</a:t>
            </a:r>
            <a:endParaRPr lang="en-US" sz="1250" dirty="0"/>
          </a:p>
        </p:txBody>
      </p:sp>
      <p:sp>
        <p:nvSpPr>
          <p:cNvPr id="14" name="Text 12"/>
          <p:cNvSpPr/>
          <p:nvPr/>
        </p:nvSpPr>
        <p:spPr>
          <a:xfrm>
            <a:off x="1371600" y="1984248"/>
            <a:ext cx="2560320" cy="594360"/>
          </a:xfrm>
          <a:prstGeom prst="rect">
            <a:avLst/>
          </a:prstGeom>
          <a:noFill/>
          <a:ln/>
        </p:spPr>
        <p:txBody>
          <a:bodyPr wrap="square" rtlCol="0" anchor="ctr"/>
          <a:lstStyle/>
          <a:p>
            <a:pPr indent="0" marL="0">
              <a:buNone/>
            </a:pPr>
            <a:r>
              <a:rPr lang="en-US" sz="1050" dirty="0">
                <a:solidFill>
                  <a:srgbClr val="CFD8DC"/>
                </a:solidFill>
                <a:latin typeface="Calibri" pitchFamily="34" charset="0"/>
                <a:ea typeface="Calibri" pitchFamily="34" charset="-122"/>
                <a:cs typeface="Calibri" pitchFamily="34" charset="-120"/>
              </a:rPr>
              <a:t>Reviewing contracts,</a:t>
            </a:r>
            <a:endParaRPr lang="en-US" sz="1050" dirty="0"/>
          </a:p>
          <a:p>
            <a:pPr indent="0" marL="0">
              <a:buNone/>
            </a:pPr>
            <a:r>
              <a:rPr lang="en-US" sz="1050" dirty="0">
                <a:solidFill>
                  <a:srgbClr val="CFD8DC"/>
                </a:solidFill>
                <a:latin typeface="Calibri" pitchFamily="34" charset="0"/>
                <a:ea typeface="Calibri" pitchFamily="34" charset="-122"/>
                <a:cs typeface="Calibri" pitchFamily="34" charset="-120"/>
              </a:rPr>
              <a:t>proposals, or reports</a:t>
            </a:r>
            <a:endParaRPr lang="en-US" sz="1050" dirty="0"/>
          </a:p>
        </p:txBody>
      </p:sp>
      <p:sp>
        <p:nvSpPr>
          <p:cNvPr id="15" name="Shape 13"/>
          <p:cNvSpPr/>
          <p:nvPr/>
        </p:nvSpPr>
        <p:spPr>
          <a:xfrm>
            <a:off x="548640" y="2743200"/>
            <a:ext cx="3291840" cy="27432"/>
          </a:xfrm>
          <a:prstGeom prst="rect">
            <a:avLst/>
          </a:prstGeom>
          <a:solidFill>
            <a:srgbClr val="253A52"/>
          </a:solidFill>
          <a:ln w="12700">
            <a:solidFill>
              <a:srgbClr val="333333"/>
            </a:solidFill>
            <a:prstDash val="solid"/>
          </a:ln>
        </p:spPr>
      </p:sp>
      <p:sp>
        <p:nvSpPr>
          <p:cNvPr id="16" name="Text 14"/>
          <p:cNvSpPr/>
          <p:nvPr/>
        </p:nvSpPr>
        <p:spPr>
          <a:xfrm>
            <a:off x="548640" y="2843784"/>
            <a:ext cx="3291840" cy="274320"/>
          </a:xfrm>
          <a:prstGeom prst="rect">
            <a:avLst/>
          </a:prstGeom>
          <a:noFill/>
          <a:ln/>
        </p:spPr>
        <p:txBody>
          <a:bodyPr wrap="square" rtlCol="0" anchor="ctr"/>
          <a:lstStyle/>
          <a:p>
            <a:pPr indent="0" marL="0">
              <a:buNone/>
            </a:pPr>
            <a:r>
              <a:rPr lang="en-US" sz="900" i="1" dirty="0">
                <a:solidFill>
                  <a:srgbClr val="4F8EF7"/>
                </a:solidFill>
                <a:latin typeface="Calibri" pitchFamily="34" charset="0"/>
                <a:ea typeface="Calibri" pitchFamily="34" charset="-122"/>
                <a:cs typeface="Calibri" pitchFamily="34" charset="-120"/>
              </a:rPr>
              <a:t>No technical skills required</a:t>
            </a:r>
            <a:endParaRPr lang="en-US" sz="900" dirty="0"/>
          </a:p>
        </p:txBody>
      </p:sp>
      <p:sp>
        <p:nvSpPr>
          <p:cNvPr id="17" name="Shape 15"/>
          <p:cNvSpPr/>
          <p:nvPr/>
        </p:nvSpPr>
        <p:spPr>
          <a:xfrm>
            <a:off x="4297680" y="1417320"/>
            <a:ext cx="3657600" cy="2011680"/>
          </a:xfrm>
          <a:prstGeom prst="roundRect">
            <a:avLst>
              <a:gd name="adj" fmla="val 5455"/>
            </a:avLst>
          </a:prstGeom>
          <a:solidFill>
            <a:srgbClr val="162233"/>
          </a:solidFill>
          <a:ln w="15240">
            <a:solidFill>
              <a:srgbClr val="253A52"/>
            </a:solidFill>
            <a:prstDash val="solid"/>
          </a:ln>
        </p:spPr>
      </p:sp>
      <p:sp>
        <p:nvSpPr>
          <p:cNvPr id="18" name="Shape 16"/>
          <p:cNvSpPr/>
          <p:nvPr/>
        </p:nvSpPr>
        <p:spPr>
          <a:xfrm>
            <a:off x="4434840" y="1527048"/>
            <a:ext cx="731520" cy="731520"/>
          </a:xfrm>
          <a:prstGeom prst="ellipse">
            <a:avLst/>
          </a:prstGeom>
          <a:solidFill>
            <a:srgbClr val="00C9A7"/>
          </a:solidFill>
          <a:ln w="12700">
            <a:solidFill>
              <a:srgbClr val="333333"/>
            </a:solidFill>
            <a:prstDash val="solid"/>
          </a:ln>
        </p:spPr>
      </p:sp>
      <p:sp>
        <p:nvSpPr>
          <p:cNvPr id="19" name="Text 17"/>
          <p:cNvSpPr/>
          <p:nvPr/>
        </p:nvSpPr>
        <p:spPr>
          <a:xfrm>
            <a:off x="4434840" y="1527048"/>
            <a:ext cx="731520" cy="73152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20" name="Text 18"/>
          <p:cNvSpPr/>
          <p:nvPr/>
        </p:nvSpPr>
        <p:spPr>
          <a:xfrm>
            <a:off x="5303520" y="1618488"/>
            <a:ext cx="2560320" cy="347472"/>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Researchers</a:t>
            </a:r>
            <a:endParaRPr lang="en-US" sz="1250" dirty="0"/>
          </a:p>
        </p:txBody>
      </p:sp>
      <p:sp>
        <p:nvSpPr>
          <p:cNvPr id="21" name="Text 19"/>
          <p:cNvSpPr/>
          <p:nvPr/>
        </p:nvSpPr>
        <p:spPr>
          <a:xfrm>
            <a:off x="5303520" y="1984248"/>
            <a:ext cx="2560320" cy="594360"/>
          </a:xfrm>
          <a:prstGeom prst="rect">
            <a:avLst/>
          </a:prstGeom>
          <a:noFill/>
          <a:ln/>
        </p:spPr>
        <p:txBody>
          <a:bodyPr wrap="square" rtlCol="0" anchor="ctr"/>
          <a:lstStyle/>
          <a:p>
            <a:pPr indent="0" marL="0">
              <a:buNone/>
            </a:pPr>
            <a:r>
              <a:rPr lang="en-US" sz="1050" dirty="0">
                <a:solidFill>
                  <a:srgbClr val="CFD8DC"/>
                </a:solidFill>
                <a:latin typeface="Calibri" pitchFamily="34" charset="0"/>
                <a:ea typeface="Calibri" pitchFamily="34" charset="-122"/>
                <a:cs typeface="Calibri" pitchFamily="34" charset="-120"/>
              </a:rPr>
              <a:t>Extracting insights from</a:t>
            </a:r>
            <a:endParaRPr lang="en-US" sz="1050" dirty="0"/>
          </a:p>
          <a:p>
            <a:pPr indent="0" marL="0">
              <a:buNone/>
            </a:pPr>
            <a:r>
              <a:rPr lang="en-US" sz="1050" dirty="0">
                <a:solidFill>
                  <a:srgbClr val="CFD8DC"/>
                </a:solidFill>
                <a:latin typeface="Calibri" pitchFamily="34" charset="0"/>
                <a:ea typeface="Calibri" pitchFamily="34" charset="-122"/>
                <a:cs typeface="Calibri" pitchFamily="34" charset="-120"/>
              </a:rPr>
              <a:t>academic papers &amp; studies</a:t>
            </a:r>
            <a:endParaRPr lang="en-US" sz="1050" dirty="0"/>
          </a:p>
        </p:txBody>
      </p:sp>
      <p:sp>
        <p:nvSpPr>
          <p:cNvPr id="22" name="Shape 20"/>
          <p:cNvSpPr/>
          <p:nvPr/>
        </p:nvSpPr>
        <p:spPr>
          <a:xfrm>
            <a:off x="4480560" y="2743200"/>
            <a:ext cx="3291840" cy="27432"/>
          </a:xfrm>
          <a:prstGeom prst="rect">
            <a:avLst/>
          </a:prstGeom>
          <a:solidFill>
            <a:srgbClr val="253A52"/>
          </a:solidFill>
          <a:ln w="12700">
            <a:solidFill>
              <a:srgbClr val="333333"/>
            </a:solidFill>
            <a:prstDash val="solid"/>
          </a:ln>
        </p:spPr>
      </p:sp>
      <p:sp>
        <p:nvSpPr>
          <p:cNvPr id="23" name="Text 21"/>
          <p:cNvSpPr/>
          <p:nvPr/>
        </p:nvSpPr>
        <p:spPr>
          <a:xfrm>
            <a:off x="4480560" y="2843784"/>
            <a:ext cx="3291840" cy="274320"/>
          </a:xfrm>
          <a:prstGeom prst="rect">
            <a:avLst/>
          </a:prstGeom>
          <a:noFill/>
          <a:ln/>
        </p:spPr>
        <p:txBody>
          <a:bodyPr wrap="square" rtlCol="0" anchor="ctr"/>
          <a:lstStyle/>
          <a:p>
            <a:pPr indent="0" marL="0">
              <a:buNone/>
            </a:pPr>
            <a:r>
              <a:rPr lang="en-US" sz="900" i="1" dirty="0">
                <a:solidFill>
                  <a:srgbClr val="00C9A7"/>
                </a:solidFill>
                <a:latin typeface="Calibri" pitchFamily="34" charset="0"/>
                <a:ea typeface="Calibri" pitchFamily="34" charset="-122"/>
                <a:cs typeface="Calibri" pitchFamily="34" charset="-120"/>
              </a:rPr>
              <a:t>No technical skills required</a:t>
            </a:r>
            <a:endParaRPr lang="en-US" sz="900" dirty="0"/>
          </a:p>
        </p:txBody>
      </p:sp>
      <p:sp>
        <p:nvSpPr>
          <p:cNvPr id="24" name="Shape 22"/>
          <p:cNvSpPr/>
          <p:nvPr/>
        </p:nvSpPr>
        <p:spPr>
          <a:xfrm>
            <a:off x="8229600" y="1417320"/>
            <a:ext cx="3657600" cy="2011680"/>
          </a:xfrm>
          <a:prstGeom prst="roundRect">
            <a:avLst>
              <a:gd name="adj" fmla="val 5455"/>
            </a:avLst>
          </a:prstGeom>
          <a:solidFill>
            <a:srgbClr val="162233"/>
          </a:solidFill>
          <a:ln w="15240">
            <a:solidFill>
              <a:srgbClr val="253A52"/>
            </a:solidFill>
            <a:prstDash val="solid"/>
          </a:ln>
        </p:spPr>
      </p:sp>
      <p:sp>
        <p:nvSpPr>
          <p:cNvPr id="25" name="Shape 23"/>
          <p:cNvSpPr/>
          <p:nvPr/>
        </p:nvSpPr>
        <p:spPr>
          <a:xfrm>
            <a:off x="8366760" y="1527048"/>
            <a:ext cx="731520" cy="731520"/>
          </a:xfrm>
          <a:prstGeom prst="ellipse">
            <a:avLst/>
          </a:prstGeom>
          <a:solidFill>
            <a:srgbClr val="6C63FF"/>
          </a:solidFill>
          <a:ln w="12700">
            <a:solidFill>
              <a:srgbClr val="333333"/>
            </a:solidFill>
            <a:prstDash val="solid"/>
          </a:ln>
        </p:spPr>
      </p:sp>
      <p:sp>
        <p:nvSpPr>
          <p:cNvPr id="26" name="Text 24"/>
          <p:cNvSpPr/>
          <p:nvPr/>
        </p:nvSpPr>
        <p:spPr>
          <a:xfrm>
            <a:off x="8366760" y="1527048"/>
            <a:ext cx="731520" cy="73152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27" name="Text 25"/>
          <p:cNvSpPr/>
          <p:nvPr/>
        </p:nvSpPr>
        <p:spPr>
          <a:xfrm>
            <a:off x="9235440" y="1618488"/>
            <a:ext cx="2560320" cy="347472"/>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Finance Teams</a:t>
            </a:r>
            <a:endParaRPr lang="en-US" sz="1250" dirty="0"/>
          </a:p>
        </p:txBody>
      </p:sp>
      <p:sp>
        <p:nvSpPr>
          <p:cNvPr id="28" name="Text 26"/>
          <p:cNvSpPr/>
          <p:nvPr/>
        </p:nvSpPr>
        <p:spPr>
          <a:xfrm>
            <a:off x="9235440" y="1984248"/>
            <a:ext cx="2560320" cy="594360"/>
          </a:xfrm>
          <a:prstGeom prst="rect">
            <a:avLst/>
          </a:prstGeom>
          <a:noFill/>
          <a:ln/>
        </p:spPr>
        <p:txBody>
          <a:bodyPr wrap="square" rtlCol="0" anchor="ctr"/>
          <a:lstStyle/>
          <a:p>
            <a:pPr indent="0" marL="0">
              <a:buNone/>
            </a:pPr>
            <a:r>
              <a:rPr lang="en-US" sz="1050" dirty="0">
                <a:solidFill>
                  <a:srgbClr val="CFD8DC"/>
                </a:solidFill>
                <a:latin typeface="Calibri" pitchFamily="34" charset="0"/>
                <a:ea typeface="Calibri" pitchFamily="34" charset="-122"/>
                <a:cs typeface="Calibri" pitchFamily="34" charset="-120"/>
              </a:rPr>
              <a:t>Analyzing spreadsheets</a:t>
            </a:r>
            <a:endParaRPr lang="en-US" sz="1050" dirty="0"/>
          </a:p>
          <a:p>
            <a:pPr indent="0" marL="0">
              <a:buNone/>
            </a:pPr>
            <a:r>
              <a:rPr lang="en-US" sz="1050" dirty="0">
                <a:solidFill>
                  <a:srgbClr val="CFD8DC"/>
                </a:solidFill>
                <a:latin typeface="Calibri" pitchFamily="34" charset="0"/>
                <a:ea typeface="Calibri" pitchFamily="34" charset="-122"/>
                <a:cs typeface="Calibri" pitchFamily="34" charset="-120"/>
              </a:rPr>
              <a:t>and financial statements</a:t>
            </a:r>
            <a:endParaRPr lang="en-US" sz="1050" dirty="0"/>
          </a:p>
        </p:txBody>
      </p:sp>
      <p:sp>
        <p:nvSpPr>
          <p:cNvPr id="29" name="Shape 27"/>
          <p:cNvSpPr/>
          <p:nvPr/>
        </p:nvSpPr>
        <p:spPr>
          <a:xfrm>
            <a:off x="8412480" y="2743200"/>
            <a:ext cx="3291840" cy="27432"/>
          </a:xfrm>
          <a:prstGeom prst="rect">
            <a:avLst/>
          </a:prstGeom>
          <a:solidFill>
            <a:srgbClr val="253A52"/>
          </a:solidFill>
          <a:ln w="12700">
            <a:solidFill>
              <a:srgbClr val="333333"/>
            </a:solidFill>
            <a:prstDash val="solid"/>
          </a:ln>
        </p:spPr>
      </p:sp>
      <p:sp>
        <p:nvSpPr>
          <p:cNvPr id="30" name="Text 28"/>
          <p:cNvSpPr/>
          <p:nvPr/>
        </p:nvSpPr>
        <p:spPr>
          <a:xfrm>
            <a:off x="8412480" y="2843784"/>
            <a:ext cx="3291840" cy="274320"/>
          </a:xfrm>
          <a:prstGeom prst="rect">
            <a:avLst/>
          </a:prstGeom>
          <a:noFill/>
          <a:ln/>
        </p:spPr>
        <p:txBody>
          <a:bodyPr wrap="square" rtlCol="0" anchor="ctr"/>
          <a:lstStyle/>
          <a:p>
            <a:pPr indent="0" marL="0">
              <a:buNone/>
            </a:pPr>
            <a:r>
              <a:rPr lang="en-US" sz="900" i="1" dirty="0">
                <a:solidFill>
                  <a:srgbClr val="6C63FF"/>
                </a:solidFill>
                <a:latin typeface="Calibri" pitchFamily="34" charset="0"/>
                <a:ea typeface="Calibri" pitchFamily="34" charset="-122"/>
                <a:cs typeface="Calibri" pitchFamily="34" charset="-120"/>
              </a:rPr>
              <a:t>No technical skills required</a:t>
            </a:r>
            <a:endParaRPr lang="en-US" sz="900" dirty="0"/>
          </a:p>
        </p:txBody>
      </p:sp>
      <p:sp>
        <p:nvSpPr>
          <p:cNvPr id="31" name="Shape 29"/>
          <p:cNvSpPr/>
          <p:nvPr/>
        </p:nvSpPr>
        <p:spPr>
          <a:xfrm>
            <a:off x="365760" y="3749040"/>
            <a:ext cx="3657600" cy="2011680"/>
          </a:xfrm>
          <a:prstGeom prst="roundRect">
            <a:avLst>
              <a:gd name="adj" fmla="val 5455"/>
            </a:avLst>
          </a:prstGeom>
          <a:solidFill>
            <a:srgbClr val="162233"/>
          </a:solidFill>
          <a:ln w="15240">
            <a:solidFill>
              <a:srgbClr val="253A52"/>
            </a:solidFill>
            <a:prstDash val="solid"/>
          </a:ln>
        </p:spPr>
      </p:sp>
      <p:sp>
        <p:nvSpPr>
          <p:cNvPr id="32" name="Shape 30"/>
          <p:cNvSpPr/>
          <p:nvPr/>
        </p:nvSpPr>
        <p:spPr>
          <a:xfrm>
            <a:off x="502920" y="3858768"/>
            <a:ext cx="731520" cy="731520"/>
          </a:xfrm>
          <a:prstGeom prst="ellipse">
            <a:avLst/>
          </a:prstGeom>
          <a:solidFill>
            <a:srgbClr val="FF6B35"/>
          </a:solidFill>
          <a:ln w="12700">
            <a:solidFill>
              <a:srgbClr val="333333"/>
            </a:solidFill>
            <a:prstDash val="solid"/>
          </a:ln>
        </p:spPr>
      </p:sp>
      <p:sp>
        <p:nvSpPr>
          <p:cNvPr id="33" name="Text 31"/>
          <p:cNvSpPr/>
          <p:nvPr/>
        </p:nvSpPr>
        <p:spPr>
          <a:xfrm>
            <a:off x="502920" y="3858768"/>
            <a:ext cx="731520" cy="73152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34" name="Text 32"/>
          <p:cNvSpPr/>
          <p:nvPr/>
        </p:nvSpPr>
        <p:spPr>
          <a:xfrm>
            <a:off x="1371600" y="3950208"/>
            <a:ext cx="2560320" cy="347472"/>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Legal Staff</a:t>
            </a:r>
            <a:endParaRPr lang="en-US" sz="1250" dirty="0"/>
          </a:p>
        </p:txBody>
      </p:sp>
      <p:sp>
        <p:nvSpPr>
          <p:cNvPr id="35" name="Text 33"/>
          <p:cNvSpPr/>
          <p:nvPr/>
        </p:nvSpPr>
        <p:spPr>
          <a:xfrm>
            <a:off x="1371600" y="4315968"/>
            <a:ext cx="2560320" cy="594360"/>
          </a:xfrm>
          <a:prstGeom prst="rect">
            <a:avLst/>
          </a:prstGeom>
          <a:noFill/>
          <a:ln/>
        </p:spPr>
        <p:txBody>
          <a:bodyPr wrap="square" rtlCol="0" anchor="ctr"/>
          <a:lstStyle/>
          <a:p>
            <a:pPr indent="0" marL="0">
              <a:buNone/>
            </a:pPr>
            <a:r>
              <a:rPr lang="en-US" sz="1050" dirty="0">
                <a:solidFill>
                  <a:srgbClr val="CFD8DC"/>
                </a:solidFill>
                <a:latin typeface="Calibri" pitchFamily="34" charset="0"/>
                <a:ea typeface="Calibri" pitchFamily="34" charset="-122"/>
                <a:cs typeface="Calibri" pitchFamily="34" charset="-120"/>
              </a:rPr>
              <a:t>Reviewing agreements</a:t>
            </a:r>
            <a:endParaRPr lang="en-US" sz="1050" dirty="0"/>
          </a:p>
          <a:p>
            <a:pPr indent="0" marL="0">
              <a:buNone/>
            </a:pPr>
            <a:r>
              <a:rPr lang="en-US" sz="1050" dirty="0">
                <a:solidFill>
                  <a:srgbClr val="CFD8DC"/>
                </a:solidFill>
                <a:latin typeface="Calibri" pitchFamily="34" charset="0"/>
                <a:ea typeface="Calibri" pitchFamily="34" charset="-122"/>
                <a:cs typeface="Calibri" pitchFamily="34" charset="-120"/>
              </a:rPr>
              <a:t>or compliance documents</a:t>
            </a:r>
            <a:endParaRPr lang="en-US" sz="1050" dirty="0"/>
          </a:p>
        </p:txBody>
      </p:sp>
      <p:sp>
        <p:nvSpPr>
          <p:cNvPr id="36" name="Shape 34"/>
          <p:cNvSpPr/>
          <p:nvPr/>
        </p:nvSpPr>
        <p:spPr>
          <a:xfrm>
            <a:off x="548640" y="5074920"/>
            <a:ext cx="3291840" cy="27432"/>
          </a:xfrm>
          <a:prstGeom prst="rect">
            <a:avLst/>
          </a:prstGeom>
          <a:solidFill>
            <a:srgbClr val="253A52"/>
          </a:solidFill>
          <a:ln w="12700">
            <a:solidFill>
              <a:srgbClr val="333333"/>
            </a:solidFill>
            <a:prstDash val="solid"/>
          </a:ln>
        </p:spPr>
      </p:sp>
      <p:sp>
        <p:nvSpPr>
          <p:cNvPr id="37" name="Text 35"/>
          <p:cNvSpPr/>
          <p:nvPr/>
        </p:nvSpPr>
        <p:spPr>
          <a:xfrm>
            <a:off x="548640" y="5175504"/>
            <a:ext cx="3291840" cy="274320"/>
          </a:xfrm>
          <a:prstGeom prst="rect">
            <a:avLst/>
          </a:prstGeom>
          <a:noFill/>
          <a:ln/>
        </p:spPr>
        <p:txBody>
          <a:bodyPr wrap="square" rtlCol="0" anchor="ctr"/>
          <a:lstStyle/>
          <a:p>
            <a:pPr indent="0" marL="0">
              <a:buNone/>
            </a:pPr>
            <a:r>
              <a:rPr lang="en-US" sz="900" i="1" dirty="0">
                <a:solidFill>
                  <a:srgbClr val="FF6B35"/>
                </a:solidFill>
                <a:latin typeface="Calibri" pitchFamily="34" charset="0"/>
                <a:ea typeface="Calibri" pitchFamily="34" charset="-122"/>
                <a:cs typeface="Calibri" pitchFamily="34" charset="-120"/>
              </a:rPr>
              <a:t>No technical skills required</a:t>
            </a:r>
            <a:endParaRPr lang="en-US" sz="900" dirty="0"/>
          </a:p>
        </p:txBody>
      </p:sp>
      <p:sp>
        <p:nvSpPr>
          <p:cNvPr id="38" name="Shape 36"/>
          <p:cNvSpPr/>
          <p:nvPr/>
        </p:nvSpPr>
        <p:spPr>
          <a:xfrm>
            <a:off x="4297680" y="3749040"/>
            <a:ext cx="3657600" cy="2011680"/>
          </a:xfrm>
          <a:prstGeom prst="roundRect">
            <a:avLst>
              <a:gd name="adj" fmla="val 5455"/>
            </a:avLst>
          </a:prstGeom>
          <a:solidFill>
            <a:srgbClr val="162233"/>
          </a:solidFill>
          <a:ln w="15240">
            <a:solidFill>
              <a:srgbClr val="253A52"/>
            </a:solidFill>
            <a:prstDash val="solid"/>
          </a:ln>
        </p:spPr>
      </p:sp>
      <p:sp>
        <p:nvSpPr>
          <p:cNvPr id="39" name="Shape 37"/>
          <p:cNvSpPr/>
          <p:nvPr/>
        </p:nvSpPr>
        <p:spPr>
          <a:xfrm>
            <a:off x="4434840" y="3858768"/>
            <a:ext cx="731520" cy="731520"/>
          </a:xfrm>
          <a:prstGeom prst="ellipse">
            <a:avLst/>
          </a:prstGeom>
          <a:solidFill>
            <a:srgbClr val="E91E8C"/>
          </a:solidFill>
          <a:ln w="12700">
            <a:solidFill>
              <a:srgbClr val="333333"/>
            </a:solidFill>
            <a:prstDash val="solid"/>
          </a:ln>
        </p:spPr>
      </p:sp>
      <p:sp>
        <p:nvSpPr>
          <p:cNvPr id="40" name="Text 38"/>
          <p:cNvSpPr/>
          <p:nvPr/>
        </p:nvSpPr>
        <p:spPr>
          <a:xfrm>
            <a:off x="4434840" y="3858768"/>
            <a:ext cx="731520" cy="73152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41" name="Text 39"/>
          <p:cNvSpPr/>
          <p:nvPr/>
        </p:nvSpPr>
        <p:spPr>
          <a:xfrm>
            <a:off x="5303520" y="3950208"/>
            <a:ext cx="2560320" cy="347472"/>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Customer Support</a:t>
            </a:r>
            <a:endParaRPr lang="en-US" sz="1250" dirty="0"/>
          </a:p>
        </p:txBody>
      </p:sp>
      <p:sp>
        <p:nvSpPr>
          <p:cNvPr id="42" name="Text 40"/>
          <p:cNvSpPr/>
          <p:nvPr/>
        </p:nvSpPr>
        <p:spPr>
          <a:xfrm>
            <a:off x="5303520" y="4315968"/>
            <a:ext cx="2560320" cy="594360"/>
          </a:xfrm>
          <a:prstGeom prst="rect">
            <a:avLst/>
          </a:prstGeom>
          <a:noFill/>
          <a:ln/>
        </p:spPr>
        <p:txBody>
          <a:bodyPr wrap="square" rtlCol="0" anchor="ctr"/>
          <a:lstStyle/>
          <a:p>
            <a:pPr indent="0" marL="0">
              <a:buNone/>
            </a:pPr>
            <a:r>
              <a:rPr lang="en-US" sz="1050" dirty="0">
                <a:solidFill>
                  <a:srgbClr val="CFD8DC"/>
                </a:solidFill>
                <a:latin typeface="Calibri" pitchFamily="34" charset="0"/>
                <a:ea typeface="Calibri" pitchFamily="34" charset="-122"/>
                <a:cs typeface="Calibri" pitchFamily="34" charset="-120"/>
              </a:rPr>
              <a:t>Navigating product</a:t>
            </a:r>
            <a:endParaRPr lang="en-US" sz="1050" dirty="0"/>
          </a:p>
          <a:p>
            <a:pPr indent="0" marL="0">
              <a:buNone/>
            </a:pPr>
            <a:r>
              <a:rPr lang="en-US" sz="1050" dirty="0">
                <a:solidFill>
                  <a:srgbClr val="CFD8DC"/>
                </a:solidFill>
                <a:latin typeface="Calibri" pitchFamily="34" charset="0"/>
                <a:ea typeface="Calibri" pitchFamily="34" charset="-122"/>
                <a:cs typeface="Calibri" pitchFamily="34" charset="-120"/>
              </a:rPr>
              <a:t>manuals or policy docs</a:t>
            </a:r>
            <a:endParaRPr lang="en-US" sz="1050" dirty="0"/>
          </a:p>
        </p:txBody>
      </p:sp>
      <p:sp>
        <p:nvSpPr>
          <p:cNvPr id="43" name="Shape 41"/>
          <p:cNvSpPr/>
          <p:nvPr/>
        </p:nvSpPr>
        <p:spPr>
          <a:xfrm>
            <a:off x="4480560" y="5074920"/>
            <a:ext cx="3291840" cy="27432"/>
          </a:xfrm>
          <a:prstGeom prst="rect">
            <a:avLst/>
          </a:prstGeom>
          <a:solidFill>
            <a:srgbClr val="253A52"/>
          </a:solidFill>
          <a:ln w="12700">
            <a:solidFill>
              <a:srgbClr val="333333"/>
            </a:solidFill>
            <a:prstDash val="solid"/>
          </a:ln>
        </p:spPr>
      </p:sp>
      <p:sp>
        <p:nvSpPr>
          <p:cNvPr id="44" name="Text 42"/>
          <p:cNvSpPr/>
          <p:nvPr/>
        </p:nvSpPr>
        <p:spPr>
          <a:xfrm>
            <a:off x="4480560" y="5175504"/>
            <a:ext cx="3291840" cy="274320"/>
          </a:xfrm>
          <a:prstGeom prst="rect">
            <a:avLst/>
          </a:prstGeom>
          <a:noFill/>
          <a:ln/>
        </p:spPr>
        <p:txBody>
          <a:bodyPr wrap="square" rtlCol="0" anchor="ctr"/>
          <a:lstStyle/>
          <a:p>
            <a:pPr indent="0" marL="0">
              <a:buNone/>
            </a:pPr>
            <a:r>
              <a:rPr lang="en-US" sz="900" i="1" dirty="0">
                <a:solidFill>
                  <a:srgbClr val="E91E8C"/>
                </a:solidFill>
                <a:latin typeface="Calibri" pitchFamily="34" charset="0"/>
                <a:ea typeface="Calibri" pitchFamily="34" charset="-122"/>
                <a:cs typeface="Calibri" pitchFamily="34" charset="-120"/>
              </a:rPr>
              <a:t>No technical skills required</a:t>
            </a:r>
            <a:endParaRPr lang="en-US" sz="900" dirty="0"/>
          </a:p>
        </p:txBody>
      </p:sp>
      <p:sp>
        <p:nvSpPr>
          <p:cNvPr id="45" name="Shape 43"/>
          <p:cNvSpPr/>
          <p:nvPr/>
        </p:nvSpPr>
        <p:spPr>
          <a:xfrm>
            <a:off x="8229600" y="3749040"/>
            <a:ext cx="3657600" cy="2011680"/>
          </a:xfrm>
          <a:prstGeom prst="roundRect">
            <a:avLst>
              <a:gd name="adj" fmla="val 5455"/>
            </a:avLst>
          </a:prstGeom>
          <a:solidFill>
            <a:srgbClr val="162233"/>
          </a:solidFill>
          <a:ln w="15240">
            <a:solidFill>
              <a:srgbClr val="253A52"/>
            </a:solidFill>
            <a:prstDash val="solid"/>
          </a:ln>
        </p:spPr>
      </p:sp>
      <p:sp>
        <p:nvSpPr>
          <p:cNvPr id="46" name="Shape 44"/>
          <p:cNvSpPr/>
          <p:nvPr/>
        </p:nvSpPr>
        <p:spPr>
          <a:xfrm>
            <a:off x="8366760" y="3858768"/>
            <a:ext cx="731520" cy="731520"/>
          </a:xfrm>
          <a:prstGeom prst="ellipse">
            <a:avLst/>
          </a:prstGeom>
          <a:solidFill>
            <a:srgbClr val="00BCD4"/>
          </a:solidFill>
          <a:ln w="12700">
            <a:solidFill>
              <a:srgbClr val="333333"/>
            </a:solidFill>
            <a:prstDash val="solid"/>
          </a:ln>
        </p:spPr>
      </p:sp>
      <p:sp>
        <p:nvSpPr>
          <p:cNvPr id="47" name="Text 45"/>
          <p:cNvSpPr/>
          <p:nvPr/>
        </p:nvSpPr>
        <p:spPr>
          <a:xfrm>
            <a:off x="8366760" y="3858768"/>
            <a:ext cx="731520" cy="73152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48" name="Text 46"/>
          <p:cNvSpPr/>
          <p:nvPr/>
        </p:nvSpPr>
        <p:spPr>
          <a:xfrm>
            <a:off x="9235440" y="3950208"/>
            <a:ext cx="2560320" cy="347472"/>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Students</a:t>
            </a:r>
            <a:endParaRPr lang="en-US" sz="1250" dirty="0"/>
          </a:p>
        </p:txBody>
      </p:sp>
      <p:sp>
        <p:nvSpPr>
          <p:cNvPr id="49" name="Text 47"/>
          <p:cNvSpPr/>
          <p:nvPr/>
        </p:nvSpPr>
        <p:spPr>
          <a:xfrm>
            <a:off x="9235440" y="4315968"/>
            <a:ext cx="2560320" cy="594360"/>
          </a:xfrm>
          <a:prstGeom prst="rect">
            <a:avLst/>
          </a:prstGeom>
          <a:noFill/>
          <a:ln/>
        </p:spPr>
        <p:txBody>
          <a:bodyPr wrap="square" rtlCol="0" anchor="ctr"/>
          <a:lstStyle/>
          <a:p>
            <a:pPr indent="0" marL="0">
              <a:buNone/>
            </a:pPr>
            <a:r>
              <a:rPr lang="en-US" sz="1050" dirty="0">
                <a:solidFill>
                  <a:srgbClr val="CFD8DC"/>
                </a:solidFill>
                <a:latin typeface="Calibri" pitchFamily="34" charset="0"/>
                <a:ea typeface="Calibri" pitchFamily="34" charset="-122"/>
                <a:cs typeface="Calibri" pitchFamily="34" charset="-120"/>
              </a:rPr>
              <a:t>Studying textbooks</a:t>
            </a:r>
            <a:endParaRPr lang="en-US" sz="1050" dirty="0"/>
          </a:p>
          <a:p>
            <a:pPr indent="0" marL="0">
              <a:buNone/>
            </a:pPr>
            <a:r>
              <a:rPr lang="en-US" sz="1050" dirty="0">
                <a:solidFill>
                  <a:srgbClr val="CFD8DC"/>
                </a:solidFill>
                <a:latin typeface="Calibri" pitchFamily="34" charset="0"/>
                <a:ea typeface="Calibri" pitchFamily="34" charset="-122"/>
                <a:cs typeface="Calibri" pitchFamily="34" charset="-120"/>
              </a:rPr>
              <a:t>or lecture notes</a:t>
            </a:r>
            <a:endParaRPr lang="en-US" sz="1050" dirty="0"/>
          </a:p>
        </p:txBody>
      </p:sp>
      <p:sp>
        <p:nvSpPr>
          <p:cNvPr id="50" name="Shape 48"/>
          <p:cNvSpPr/>
          <p:nvPr/>
        </p:nvSpPr>
        <p:spPr>
          <a:xfrm>
            <a:off x="8412480" y="5074920"/>
            <a:ext cx="3291840" cy="27432"/>
          </a:xfrm>
          <a:prstGeom prst="rect">
            <a:avLst/>
          </a:prstGeom>
          <a:solidFill>
            <a:srgbClr val="253A52"/>
          </a:solidFill>
          <a:ln w="12700">
            <a:solidFill>
              <a:srgbClr val="333333"/>
            </a:solidFill>
            <a:prstDash val="solid"/>
          </a:ln>
        </p:spPr>
      </p:sp>
      <p:sp>
        <p:nvSpPr>
          <p:cNvPr id="51" name="Text 49"/>
          <p:cNvSpPr/>
          <p:nvPr/>
        </p:nvSpPr>
        <p:spPr>
          <a:xfrm>
            <a:off x="8412480" y="5175504"/>
            <a:ext cx="3291840" cy="274320"/>
          </a:xfrm>
          <a:prstGeom prst="rect">
            <a:avLst/>
          </a:prstGeom>
          <a:noFill/>
          <a:ln/>
        </p:spPr>
        <p:txBody>
          <a:bodyPr wrap="square" rtlCol="0" anchor="ctr"/>
          <a:lstStyle/>
          <a:p>
            <a:pPr indent="0" marL="0">
              <a:buNone/>
            </a:pPr>
            <a:r>
              <a:rPr lang="en-US" sz="900" i="1" dirty="0">
                <a:solidFill>
                  <a:srgbClr val="00BCD4"/>
                </a:solidFill>
                <a:latin typeface="Calibri" pitchFamily="34" charset="0"/>
                <a:ea typeface="Calibri" pitchFamily="34" charset="-122"/>
                <a:cs typeface="Calibri" pitchFamily="34" charset="-120"/>
              </a:rPr>
              <a:t>No technical skills required</a:t>
            </a:r>
            <a:endParaRPr lang="en-US" sz="900" dirty="0"/>
          </a:p>
        </p:txBody>
      </p:sp>
      <p:sp>
        <p:nvSpPr>
          <p:cNvPr id="52" name="Text 50"/>
          <p:cNvSpPr/>
          <p:nvPr/>
        </p:nvSpPr>
        <p:spPr>
          <a:xfrm>
            <a:off x="365760" y="6108192"/>
            <a:ext cx="11430000" cy="365760"/>
          </a:xfrm>
          <a:prstGeom prst="rect">
            <a:avLst/>
          </a:prstGeom>
          <a:noFill/>
          <a:ln/>
        </p:spPr>
        <p:txBody>
          <a:bodyPr wrap="square" rtlCol="0" anchor="t"/>
          <a:lstStyle/>
          <a:p>
            <a:pPr algn="l" indent="0" marL="0">
              <a:buNone/>
            </a:pPr>
            <a:r>
              <a:rPr lang="en-US" sz="1100" i="1" dirty="0">
                <a:solidFill>
                  <a:srgbClr val="B0BEC5"/>
                </a:solidFill>
                <a:latin typeface="Calibri" pitchFamily="34" charset="0"/>
                <a:ea typeface="Calibri" pitchFamily="34" charset="-122"/>
                <a:cs typeface="Calibri" pitchFamily="34" charset="-120"/>
              </a:rPr>
              <a:t>DocuChat AI is designed for any professional who regularly works with documents and needs fast, reliable answers.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FEATURES</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Key Features — Core Capabilities</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5 / 20</a:t>
            </a:r>
            <a:endParaRPr lang="en-US" sz="750" dirty="0"/>
          </a:p>
        </p:txBody>
      </p:sp>
      <p:sp>
        <p:nvSpPr>
          <p:cNvPr id="10" name="Shape 8"/>
          <p:cNvSpPr/>
          <p:nvPr/>
        </p:nvSpPr>
        <p:spPr>
          <a:xfrm>
            <a:off x="365760" y="1417320"/>
            <a:ext cx="5577840" cy="1463040"/>
          </a:xfrm>
          <a:prstGeom prst="roundRect">
            <a:avLst>
              <a:gd name="adj" fmla="val 7500"/>
            </a:avLst>
          </a:prstGeom>
          <a:solidFill>
            <a:srgbClr val="162233"/>
          </a:solidFill>
          <a:ln w="15240">
            <a:solidFill>
              <a:srgbClr val="253A52"/>
            </a:solidFill>
            <a:prstDash val="solid"/>
          </a:ln>
        </p:spPr>
      </p:sp>
      <p:sp>
        <p:nvSpPr>
          <p:cNvPr id="11" name="Shape 9"/>
          <p:cNvSpPr/>
          <p:nvPr/>
        </p:nvSpPr>
        <p:spPr>
          <a:xfrm>
            <a:off x="365760" y="1417320"/>
            <a:ext cx="5577840" cy="64008"/>
          </a:xfrm>
          <a:prstGeom prst="rect">
            <a:avLst/>
          </a:prstGeom>
          <a:solidFill>
            <a:srgbClr val="4F8EF7"/>
          </a:solidFill>
          <a:ln w="12700">
            <a:solidFill>
              <a:srgbClr val="333333"/>
            </a:solidFill>
            <a:prstDash val="solid"/>
          </a:ln>
        </p:spPr>
      </p:sp>
      <p:sp>
        <p:nvSpPr>
          <p:cNvPr id="12" name="Shape 10"/>
          <p:cNvSpPr/>
          <p:nvPr/>
        </p:nvSpPr>
        <p:spPr>
          <a:xfrm>
            <a:off x="530352" y="1673352"/>
            <a:ext cx="621792" cy="621792"/>
          </a:xfrm>
          <a:prstGeom prst="ellipse">
            <a:avLst/>
          </a:prstGeom>
          <a:solidFill>
            <a:srgbClr val="4F8EF7"/>
          </a:solidFill>
          <a:ln w="12700">
            <a:solidFill>
              <a:srgbClr val="333333"/>
            </a:solidFill>
            <a:prstDash val="solid"/>
          </a:ln>
        </p:spPr>
      </p:sp>
      <p:sp>
        <p:nvSpPr>
          <p:cNvPr id="13" name="Text 11"/>
          <p:cNvSpPr/>
          <p:nvPr/>
        </p:nvSpPr>
        <p:spPr>
          <a:xfrm>
            <a:off x="530352" y="1673352"/>
            <a:ext cx="621792" cy="621792"/>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14" name="Text 12"/>
          <p:cNvSpPr/>
          <p:nvPr/>
        </p:nvSpPr>
        <p:spPr>
          <a:xfrm>
            <a:off x="1335024" y="1600200"/>
            <a:ext cx="44348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Document Upload</a:t>
            </a:r>
            <a:endParaRPr lang="en-US" sz="1300" dirty="0"/>
          </a:p>
        </p:txBody>
      </p:sp>
      <p:sp>
        <p:nvSpPr>
          <p:cNvPr id="15" name="Text 13"/>
          <p:cNvSpPr/>
          <p:nvPr/>
        </p:nvSpPr>
        <p:spPr>
          <a:xfrm>
            <a:off x="1335024" y="1947672"/>
            <a:ext cx="4434840" cy="77724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Upload PDFs, spreadsheets, text files, and images. Drag-and-drop supported. Up to 5 files per account, 50 MB each.</a:t>
            </a:r>
            <a:endParaRPr lang="en-US" sz="1100" dirty="0"/>
          </a:p>
        </p:txBody>
      </p:sp>
      <p:sp>
        <p:nvSpPr>
          <p:cNvPr id="16" name="Shape 14"/>
          <p:cNvSpPr/>
          <p:nvPr/>
        </p:nvSpPr>
        <p:spPr>
          <a:xfrm>
            <a:off x="6263640" y="1417320"/>
            <a:ext cx="5577840" cy="1463040"/>
          </a:xfrm>
          <a:prstGeom prst="roundRect">
            <a:avLst>
              <a:gd name="adj" fmla="val 7500"/>
            </a:avLst>
          </a:prstGeom>
          <a:solidFill>
            <a:srgbClr val="162233"/>
          </a:solidFill>
          <a:ln w="15240">
            <a:solidFill>
              <a:srgbClr val="253A52"/>
            </a:solidFill>
            <a:prstDash val="solid"/>
          </a:ln>
        </p:spPr>
      </p:sp>
      <p:sp>
        <p:nvSpPr>
          <p:cNvPr id="17" name="Shape 15"/>
          <p:cNvSpPr/>
          <p:nvPr/>
        </p:nvSpPr>
        <p:spPr>
          <a:xfrm>
            <a:off x="6263640" y="1417320"/>
            <a:ext cx="5577840" cy="64008"/>
          </a:xfrm>
          <a:prstGeom prst="rect">
            <a:avLst/>
          </a:prstGeom>
          <a:solidFill>
            <a:srgbClr val="00C9A7"/>
          </a:solidFill>
          <a:ln w="12700">
            <a:solidFill>
              <a:srgbClr val="333333"/>
            </a:solidFill>
            <a:prstDash val="solid"/>
          </a:ln>
        </p:spPr>
      </p:sp>
      <p:sp>
        <p:nvSpPr>
          <p:cNvPr id="18" name="Shape 16"/>
          <p:cNvSpPr/>
          <p:nvPr/>
        </p:nvSpPr>
        <p:spPr>
          <a:xfrm>
            <a:off x="6428232" y="1673352"/>
            <a:ext cx="621792" cy="621792"/>
          </a:xfrm>
          <a:prstGeom prst="ellipse">
            <a:avLst/>
          </a:prstGeom>
          <a:solidFill>
            <a:srgbClr val="00C9A7"/>
          </a:solidFill>
          <a:ln w="12700">
            <a:solidFill>
              <a:srgbClr val="333333"/>
            </a:solidFill>
            <a:prstDash val="solid"/>
          </a:ln>
        </p:spPr>
      </p:sp>
      <p:sp>
        <p:nvSpPr>
          <p:cNvPr id="19" name="Text 17"/>
          <p:cNvSpPr/>
          <p:nvPr/>
        </p:nvSpPr>
        <p:spPr>
          <a:xfrm>
            <a:off x="6428232" y="1673352"/>
            <a:ext cx="621792" cy="621792"/>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20" name="Text 18"/>
          <p:cNvSpPr/>
          <p:nvPr/>
        </p:nvSpPr>
        <p:spPr>
          <a:xfrm>
            <a:off x="7232904" y="1600200"/>
            <a:ext cx="44348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Natural Language Q&amp;A</a:t>
            </a:r>
            <a:endParaRPr lang="en-US" sz="1300" dirty="0"/>
          </a:p>
        </p:txBody>
      </p:sp>
      <p:sp>
        <p:nvSpPr>
          <p:cNvPr id="21" name="Text 19"/>
          <p:cNvSpPr/>
          <p:nvPr/>
        </p:nvSpPr>
        <p:spPr>
          <a:xfrm>
            <a:off x="7232904" y="1947672"/>
            <a:ext cx="4434840" cy="77724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Ask questions in plain English. No commands, no syntax — just type your question and receive a clear answer.</a:t>
            </a:r>
            <a:endParaRPr lang="en-US" sz="1100" dirty="0"/>
          </a:p>
        </p:txBody>
      </p:sp>
      <p:sp>
        <p:nvSpPr>
          <p:cNvPr id="22" name="Shape 20"/>
          <p:cNvSpPr/>
          <p:nvPr/>
        </p:nvSpPr>
        <p:spPr>
          <a:xfrm>
            <a:off x="365760" y="3035808"/>
            <a:ext cx="5577840" cy="1463040"/>
          </a:xfrm>
          <a:prstGeom prst="roundRect">
            <a:avLst>
              <a:gd name="adj" fmla="val 7500"/>
            </a:avLst>
          </a:prstGeom>
          <a:solidFill>
            <a:srgbClr val="162233"/>
          </a:solidFill>
          <a:ln w="15240">
            <a:solidFill>
              <a:srgbClr val="253A52"/>
            </a:solidFill>
            <a:prstDash val="solid"/>
          </a:ln>
        </p:spPr>
      </p:sp>
      <p:sp>
        <p:nvSpPr>
          <p:cNvPr id="23" name="Shape 21"/>
          <p:cNvSpPr/>
          <p:nvPr/>
        </p:nvSpPr>
        <p:spPr>
          <a:xfrm>
            <a:off x="365760" y="3035808"/>
            <a:ext cx="5577840" cy="64008"/>
          </a:xfrm>
          <a:prstGeom prst="rect">
            <a:avLst/>
          </a:prstGeom>
          <a:solidFill>
            <a:srgbClr val="6C63FF"/>
          </a:solidFill>
          <a:ln w="12700">
            <a:solidFill>
              <a:srgbClr val="333333"/>
            </a:solidFill>
            <a:prstDash val="solid"/>
          </a:ln>
        </p:spPr>
      </p:sp>
      <p:sp>
        <p:nvSpPr>
          <p:cNvPr id="24" name="Shape 22"/>
          <p:cNvSpPr/>
          <p:nvPr/>
        </p:nvSpPr>
        <p:spPr>
          <a:xfrm>
            <a:off x="530352" y="3291840"/>
            <a:ext cx="621792" cy="621792"/>
          </a:xfrm>
          <a:prstGeom prst="ellipse">
            <a:avLst/>
          </a:prstGeom>
          <a:solidFill>
            <a:srgbClr val="6C63FF"/>
          </a:solidFill>
          <a:ln w="12700">
            <a:solidFill>
              <a:srgbClr val="333333"/>
            </a:solidFill>
            <a:prstDash val="solid"/>
          </a:ln>
        </p:spPr>
      </p:sp>
      <p:sp>
        <p:nvSpPr>
          <p:cNvPr id="25" name="Text 23"/>
          <p:cNvSpPr/>
          <p:nvPr/>
        </p:nvSpPr>
        <p:spPr>
          <a:xfrm>
            <a:off x="530352" y="3291840"/>
            <a:ext cx="621792" cy="621792"/>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26" name="Text 24"/>
          <p:cNvSpPr/>
          <p:nvPr/>
        </p:nvSpPr>
        <p:spPr>
          <a:xfrm>
            <a:off x="1335024" y="3218688"/>
            <a:ext cx="44348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Source References</a:t>
            </a:r>
            <a:endParaRPr lang="en-US" sz="1300" dirty="0"/>
          </a:p>
        </p:txBody>
      </p:sp>
      <p:sp>
        <p:nvSpPr>
          <p:cNvPr id="27" name="Text 25"/>
          <p:cNvSpPr/>
          <p:nvPr/>
        </p:nvSpPr>
        <p:spPr>
          <a:xfrm>
            <a:off x="1335024" y="3566160"/>
            <a:ext cx="4434840" cy="77724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Every answer includes the exact document name, page number, and a text preview of the source section used.</a:t>
            </a:r>
            <a:endParaRPr lang="en-US" sz="1100" dirty="0"/>
          </a:p>
        </p:txBody>
      </p:sp>
      <p:sp>
        <p:nvSpPr>
          <p:cNvPr id="28" name="Shape 26"/>
          <p:cNvSpPr/>
          <p:nvPr/>
        </p:nvSpPr>
        <p:spPr>
          <a:xfrm>
            <a:off x="6263640" y="3035808"/>
            <a:ext cx="5577840" cy="1463040"/>
          </a:xfrm>
          <a:prstGeom prst="roundRect">
            <a:avLst>
              <a:gd name="adj" fmla="val 7500"/>
            </a:avLst>
          </a:prstGeom>
          <a:solidFill>
            <a:srgbClr val="162233"/>
          </a:solidFill>
          <a:ln w="15240">
            <a:solidFill>
              <a:srgbClr val="253A52"/>
            </a:solidFill>
            <a:prstDash val="solid"/>
          </a:ln>
        </p:spPr>
      </p:sp>
      <p:sp>
        <p:nvSpPr>
          <p:cNvPr id="29" name="Shape 27"/>
          <p:cNvSpPr/>
          <p:nvPr/>
        </p:nvSpPr>
        <p:spPr>
          <a:xfrm>
            <a:off x="6263640" y="3035808"/>
            <a:ext cx="5577840" cy="64008"/>
          </a:xfrm>
          <a:prstGeom prst="rect">
            <a:avLst/>
          </a:prstGeom>
          <a:solidFill>
            <a:srgbClr val="FF6B35"/>
          </a:solidFill>
          <a:ln w="12700">
            <a:solidFill>
              <a:srgbClr val="333333"/>
            </a:solidFill>
            <a:prstDash val="solid"/>
          </a:ln>
        </p:spPr>
      </p:sp>
      <p:sp>
        <p:nvSpPr>
          <p:cNvPr id="30" name="Shape 28"/>
          <p:cNvSpPr/>
          <p:nvPr/>
        </p:nvSpPr>
        <p:spPr>
          <a:xfrm>
            <a:off x="6428232" y="3291840"/>
            <a:ext cx="621792" cy="621792"/>
          </a:xfrm>
          <a:prstGeom prst="ellipse">
            <a:avLst/>
          </a:prstGeom>
          <a:solidFill>
            <a:srgbClr val="FF6B35"/>
          </a:solidFill>
          <a:ln w="12700">
            <a:solidFill>
              <a:srgbClr val="333333"/>
            </a:solidFill>
            <a:prstDash val="solid"/>
          </a:ln>
        </p:spPr>
      </p:sp>
      <p:sp>
        <p:nvSpPr>
          <p:cNvPr id="31" name="Text 29"/>
          <p:cNvSpPr/>
          <p:nvPr/>
        </p:nvSpPr>
        <p:spPr>
          <a:xfrm>
            <a:off x="6428232" y="3291840"/>
            <a:ext cx="621792" cy="621792"/>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32" name="Text 30"/>
          <p:cNvSpPr/>
          <p:nvPr/>
        </p:nvSpPr>
        <p:spPr>
          <a:xfrm>
            <a:off x="7232904" y="3218688"/>
            <a:ext cx="44348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Conversation Memory</a:t>
            </a:r>
            <a:endParaRPr lang="en-US" sz="1300" dirty="0"/>
          </a:p>
        </p:txBody>
      </p:sp>
      <p:sp>
        <p:nvSpPr>
          <p:cNvPr id="33" name="Text 31"/>
          <p:cNvSpPr/>
          <p:nvPr/>
        </p:nvSpPr>
        <p:spPr>
          <a:xfrm>
            <a:off x="7232904" y="3566160"/>
            <a:ext cx="4434840" cy="77724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The app remembers your last 10 messages, enabling natural follow-up questions and contextual dialogue.</a:t>
            </a:r>
            <a:endParaRPr lang="en-US" sz="1100" dirty="0"/>
          </a:p>
        </p:txBody>
      </p:sp>
      <p:sp>
        <p:nvSpPr>
          <p:cNvPr id="34" name="Shape 32"/>
          <p:cNvSpPr/>
          <p:nvPr/>
        </p:nvSpPr>
        <p:spPr>
          <a:xfrm>
            <a:off x="365760" y="4654296"/>
            <a:ext cx="5577840" cy="1463040"/>
          </a:xfrm>
          <a:prstGeom prst="roundRect">
            <a:avLst>
              <a:gd name="adj" fmla="val 7500"/>
            </a:avLst>
          </a:prstGeom>
          <a:solidFill>
            <a:srgbClr val="162233"/>
          </a:solidFill>
          <a:ln w="15240">
            <a:solidFill>
              <a:srgbClr val="253A52"/>
            </a:solidFill>
            <a:prstDash val="solid"/>
          </a:ln>
        </p:spPr>
      </p:sp>
      <p:sp>
        <p:nvSpPr>
          <p:cNvPr id="35" name="Shape 33"/>
          <p:cNvSpPr/>
          <p:nvPr/>
        </p:nvSpPr>
        <p:spPr>
          <a:xfrm>
            <a:off x="365760" y="4654296"/>
            <a:ext cx="5577840" cy="64008"/>
          </a:xfrm>
          <a:prstGeom prst="rect">
            <a:avLst/>
          </a:prstGeom>
          <a:solidFill>
            <a:srgbClr val="E91E8C"/>
          </a:solidFill>
          <a:ln w="12700">
            <a:solidFill>
              <a:srgbClr val="333333"/>
            </a:solidFill>
            <a:prstDash val="solid"/>
          </a:ln>
        </p:spPr>
      </p:sp>
      <p:sp>
        <p:nvSpPr>
          <p:cNvPr id="36" name="Shape 34"/>
          <p:cNvSpPr/>
          <p:nvPr/>
        </p:nvSpPr>
        <p:spPr>
          <a:xfrm>
            <a:off x="530352" y="4910328"/>
            <a:ext cx="621792" cy="621792"/>
          </a:xfrm>
          <a:prstGeom prst="ellipse">
            <a:avLst/>
          </a:prstGeom>
          <a:solidFill>
            <a:srgbClr val="E91E8C"/>
          </a:solidFill>
          <a:ln w="12700">
            <a:solidFill>
              <a:srgbClr val="333333"/>
            </a:solidFill>
            <a:prstDash val="solid"/>
          </a:ln>
        </p:spPr>
      </p:sp>
      <p:sp>
        <p:nvSpPr>
          <p:cNvPr id="37" name="Text 35"/>
          <p:cNvSpPr/>
          <p:nvPr/>
        </p:nvSpPr>
        <p:spPr>
          <a:xfrm>
            <a:off x="530352" y="4910328"/>
            <a:ext cx="621792" cy="621792"/>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38" name="Text 36"/>
          <p:cNvSpPr/>
          <p:nvPr/>
        </p:nvSpPr>
        <p:spPr>
          <a:xfrm>
            <a:off x="1335024" y="4837176"/>
            <a:ext cx="44348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Live Streaming Answers</a:t>
            </a:r>
            <a:endParaRPr lang="en-US" sz="1300" dirty="0"/>
          </a:p>
        </p:txBody>
      </p:sp>
      <p:sp>
        <p:nvSpPr>
          <p:cNvPr id="39" name="Text 37"/>
          <p:cNvSpPr/>
          <p:nvPr/>
        </p:nvSpPr>
        <p:spPr>
          <a:xfrm>
            <a:off x="1335024" y="5184648"/>
            <a:ext cx="4434840" cy="77724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AI responses appear word-by-word in real time — no waiting for the full response before reading begins.</a:t>
            </a:r>
            <a:endParaRPr lang="en-US" sz="1100" dirty="0"/>
          </a:p>
        </p:txBody>
      </p:sp>
      <p:sp>
        <p:nvSpPr>
          <p:cNvPr id="40" name="Shape 38"/>
          <p:cNvSpPr/>
          <p:nvPr/>
        </p:nvSpPr>
        <p:spPr>
          <a:xfrm>
            <a:off x="6263640" y="4654296"/>
            <a:ext cx="5577840" cy="1463040"/>
          </a:xfrm>
          <a:prstGeom prst="roundRect">
            <a:avLst>
              <a:gd name="adj" fmla="val 7500"/>
            </a:avLst>
          </a:prstGeom>
          <a:solidFill>
            <a:srgbClr val="162233"/>
          </a:solidFill>
          <a:ln w="15240">
            <a:solidFill>
              <a:srgbClr val="253A52"/>
            </a:solidFill>
            <a:prstDash val="solid"/>
          </a:ln>
        </p:spPr>
      </p:sp>
      <p:sp>
        <p:nvSpPr>
          <p:cNvPr id="41" name="Shape 39"/>
          <p:cNvSpPr/>
          <p:nvPr/>
        </p:nvSpPr>
        <p:spPr>
          <a:xfrm>
            <a:off x="6263640" y="4654296"/>
            <a:ext cx="5577840" cy="64008"/>
          </a:xfrm>
          <a:prstGeom prst="rect">
            <a:avLst/>
          </a:prstGeom>
          <a:solidFill>
            <a:srgbClr val="00BCD4"/>
          </a:solidFill>
          <a:ln w="12700">
            <a:solidFill>
              <a:srgbClr val="333333"/>
            </a:solidFill>
            <a:prstDash val="solid"/>
          </a:ln>
        </p:spPr>
      </p:sp>
      <p:sp>
        <p:nvSpPr>
          <p:cNvPr id="42" name="Shape 40"/>
          <p:cNvSpPr/>
          <p:nvPr/>
        </p:nvSpPr>
        <p:spPr>
          <a:xfrm>
            <a:off x="6428232" y="4910328"/>
            <a:ext cx="621792" cy="621792"/>
          </a:xfrm>
          <a:prstGeom prst="ellipse">
            <a:avLst/>
          </a:prstGeom>
          <a:solidFill>
            <a:srgbClr val="00BCD4"/>
          </a:solidFill>
          <a:ln w="12700">
            <a:solidFill>
              <a:srgbClr val="333333"/>
            </a:solidFill>
            <a:prstDash val="solid"/>
          </a:ln>
        </p:spPr>
      </p:sp>
      <p:sp>
        <p:nvSpPr>
          <p:cNvPr id="43" name="Text 41"/>
          <p:cNvSpPr/>
          <p:nvPr/>
        </p:nvSpPr>
        <p:spPr>
          <a:xfrm>
            <a:off x="6428232" y="4910328"/>
            <a:ext cx="621792" cy="621792"/>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44" name="Text 42"/>
          <p:cNvSpPr/>
          <p:nvPr/>
        </p:nvSpPr>
        <p:spPr>
          <a:xfrm>
            <a:off x="7232904" y="4837176"/>
            <a:ext cx="44348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Multiple AI Models</a:t>
            </a:r>
            <a:endParaRPr lang="en-US" sz="1300" dirty="0"/>
          </a:p>
        </p:txBody>
      </p:sp>
      <p:sp>
        <p:nvSpPr>
          <p:cNvPr id="45" name="Text 43"/>
          <p:cNvSpPr/>
          <p:nvPr/>
        </p:nvSpPr>
        <p:spPr>
          <a:xfrm>
            <a:off x="7232904" y="5184648"/>
            <a:ext cx="4434840" cy="77724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Choose between GPT-4o, GPT-4o Mini, Claude 3.5 Sonnet, and Gemini 2.5 Flash. Switch models anytime.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FEATURES</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Key Features — Advanced Capabilities</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6 / 20</a:t>
            </a:r>
            <a:endParaRPr lang="en-US" sz="750" dirty="0"/>
          </a:p>
        </p:txBody>
      </p:sp>
      <p:sp>
        <p:nvSpPr>
          <p:cNvPr id="10" name="Shape 8"/>
          <p:cNvSpPr/>
          <p:nvPr/>
        </p:nvSpPr>
        <p:spPr>
          <a:xfrm>
            <a:off x="365760" y="1417320"/>
            <a:ext cx="5577840" cy="1463040"/>
          </a:xfrm>
          <a:prstGeom prst="roundRect">
            <a:avLst>
              <a:gd name="adj" fmla="val 7500"/>
            </a:avLst>
          </a:prstGeom>
          <a:solidFill>
            <a:srgbClr val="162233"/>
          </a:solidFill>
          <a:ln w="15240">
            <a:solidFill>
              <a:srgbClr val="253A52"/>
            </a:solidFill>
            <a:prstDash val="solid"/>
          </a:ln>
        </p:spPr>
      </p:sp>
      <p:sp>
        <p:nvSpPr>
          <p:cNvPr id="11" name="Shape 9"/>
          <p:cNvSpPr/>
          <p:nvPr/>
        </p:nvSpPr>
        <p:spPr>
          <a:xfrm>
            <a:off x="365760" y="1417320"/>
            <a:ext cx="5577840" cy="64008"/>
          </a:xfrm>
          <a:prstGeom prst="rect">
            <a:avLst/>
          </a:prstGeom>
          <a:solidFill>
            <a:srgbClr val="4F8EF7"/>
          </a:solidFill>
          <a:ln w="12700">
            <a:solidFill>
              <a:srgbClr val="333333"/>
            </a:solidFill>
            <a:prstDash val="solid"/>
          </a:ln>
        </p:spPr>
      </p:sp>
      <p:sp>
        <p:nvSpPr>
          <p:cNvPr id="12" name="Shape 10"/>
          <p:cNvSpPr/>
          <p:nvPr/>
        </p:nvSpPr>
        <p:spPr>
          <a:xfrm>
            <a:off x="530352" y="1673352"/>
            <a:ext cx="621792" cy="621792"/>
          </a:xfrm>
          <a:prstGeom prst="ellipse">
            <a:avLst/>
          </a:prstGeom>
          <a:solidFill>
            <a:srgbClr val="4F8EF7"/>
          </a:solidFill>
          <a:ln w="12700">
            <a:solidFill>
              <a:srgbClr val="333333"/>
            </a:solidFill>
            <a:prstDash val="solid"/>
          </a:ln>
        </p:spPr>
      </p:sp>
      <p:sp>
        <p:nvSpPr>
          <p:cNvPr id="13" name="Text 11"/>
          <p:cNvSpPr/>
          <p:nvPr/>
        </p:nvSpPr>
        <p:spPr>
          <a:xfrm>
            <a:off x="530352" y="1673352"/>
            <a:ext cx="621792" cy="621792"/>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14" name="Text 12"/>
          <p:cNvSpPr/>
          <p:nvPr/>
        </p:nvSpPr>
        <p:spPr>
          <a:xfrm>
            <a:off x="1335024" y="1600200"/>
            <a:ext cx="44348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Follow-up Suggestions</a:t>
            </a:r>
            <a:endParaRPr lang="en-US" sz="1300" dirty="0"/>
          </a:p>
        </p:txBody>
      </p:sp>
      <p:sp>
        <p:nvSpPr>
          <p:cNvPr id="15" name="Text 13"/>
          <p:cNvSpPr/>
          <p:nvPr/>
        </p:nvSpPr>
        <p:spPr>
          <a:xfrm>
            <a:off x="1335024" y="1947672"/>
            <a:ext cx="4434840" cy="77724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After every answer, the AI suggests 3 related questions you might want to ask next, guiding deeper exploration.</a:t>
            </a:r>
            <a:endParaRPr lang="en-US" sz="1100" dirty="0"/>
          </a:p>
        </p:txBody>
      </p:sp>
      <p:sp>
        <p:nvSpPr>
          <p:cNvPr id="16" name="Shape 14"/>
          <p:cNvSpPr/>
          <p:nvPr/>
        </p:nvSpPr>
        <p:spPr>
          <a:xfrm>
            <a:off x="6263640" y="1417320"/>
            <a:ext cx="5577840" cy="1463040"/>
          </a:xfrm>
          <a:prstGeom prst="roundRect">
            <a:avLst>
              <a:gd name="adj" fmla="val 7500"/>
            </a:avLst>
          </a:prstGeom>
          <a:solidFill>
            <a:srgbClr val="162233"/>
          </a:solidFill>
          <a:ln w="15240">
            <a:solidFill>
              <a:srgbClr val="253A52"/>
            </a:solidFill>
            <a:prstDash val="solid"/>
          </a:ln>
        </p:spPr>
      </p:sp>
      <p:sp>
        <p:nvSpPr>
          <p:cNvPr id="17" name="Shape 15"/>
          <p:cNvSpPr/>
          <p:nvPr/>
        </p:nvSpPr>
        <p:spPr>
          <a:xfrm>
            <a:off x="6263640" y="1417320"/>
            <a:ext cx="5577840" cy="64008"/>
          </a:xfrm>
          <a:prstGeom prst="rect">
            <a:avLst/>
          </a:prstGeom>
          <a:solidFill>
            <a:srgbClr val="00C9A7"/>
          </a:solidFill>
          <a:ln w="12700">
            <a:solidFill>
              <a:srgbClr val="333333"/>
            </a:solidFill>
            <a:prstDash val="solid"/>
          </a:ln>
        </p:spPr>
      </p:sp>
      <p:sp>
        <p:nvSpPr>
          <p:cNvPr id="18" name="Shape 16"/>
          <p:cNvSpPr/>
          <p:nvPr/>
        </p:nvSpPr>
        <p:spPr>
          <a:xfrm>
            <a:off x="6428232" y="1673352"/>
            <a:ext cx="621792" cy="621792"/>
          </a:xfrm>
          <a:prstGeom prst="ellipse">
            <a:avLst/>
          </a:prstGeom>
          <a:solidFill>
            <a:srgbClr val="00C9A7"/>
          </a:solidFill>
          <a:ln w="12700">
            <a:solidFill>
              <a:srgbClr val="333333"/>
            </a:solidFill>
            <a:prstDash val="solid"/>
          </a:ln>
        </p:spPr>
      </p:sp>
      <p:sp>
        <p:nvSpPr>
          <p:cNvPr id="19" name="Text 17"/>
          <p:cNvSpPr/>
          <p:nvPr/>
        </p:nvSpPr>
        <p:spPr>
          <a:xfrm>
            <a:off x="6428232" y="1673352"/>
            <a:ext cx="621792" cy="621792"/>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20" name="Text 18"/>
          <p:cNvSpPr/>
          <p:nvPr/>
        </p:nvSpPr>
        <p:spPr>
          <a:xfrm>
            <a:off x="7232904" y="1600200"/>
            <a:ext cx="44348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Chat Export</a:t>
            </a:r>
            <a:endParaRPr lang="en-US" sz="1300" dirty="0"/>
          </a:p>
        </p:txBody>
      </p:sp>
      <p:sp>
        <p:nvSpPr>
          <p:cNvPr id="21" name="Text 19"/>
          <p:cNvSpPr/>
          <p:nvPr/>
        </p:nvSpPr>
        <p:spPr>
          <a:xfrm>
            <a:off x="7232904" y="1947672"/>
            <a:ext cx="4434840" cy="77724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Download your entire Q&amp;A conversation as a text file for records, sharing, or further analysis.</a:t>
            </a:r>
            <a:endParaRPr lang="en-US" sz="1100" dirty="0"/>
          </a:p>
        </p:txBody>
      </p:sp>
      <p:sp>
        <p:nvSpPr>
          <p:cNvPr id="22" name="Shape 20"/>
          <p:cNvSpPr/>
          <p:nvPr/>
        </p:nvSpPr>
        <p:spPr>
          <a:xfrm>
            <a:off x="365760" y="3035808"/>
            <a:ext cx="5577840" cy="1463040"/>
          </a:xfrm>
          <a:prstGeom prst="roundRect">
            <a:avLst>
              <a:gd name="adj" fmla="val 7500"/>
            </a:avLst>
          </a:prstGeom>
          <a:solidFill>
            <a:srgbClr val="162233"/>
          </a:solidFill>
          <a:ln w="15240">
            <a:solidFill>
              <a:srgbClr val="253A52"/>
            </a:solidFill>
            <a:prstDash val="solid"/>
          </a:ln>
        </p:spPr>
      </p:sp>
      <p:sp>
        <p:nvSpPr>
          <p:cNvPr id="23" name="Shape 21"/>
          <p:cNvSpPr/>
          <p:nvPr/>
        </p:nvSpPr>
        <p:spPr>
          <a:xfrm>
            <a:off x="365760" y="3035808"/>
            <a:ext cx="5577840" cy="64008"/>
          </a:xfrm>
          <a:prstGeom prst="rect">
            <a:avLst/>
          </a:prstGeom>
          <a:solidFill>
            <a:srgbClr val="6C63FF"/>
          </a:solidFill>
          <a:ln w="12700">
            <a:solidFill>
              <a:srgbClr val="333333"/>
            </a:solidFill>
            <a:prstDash val="solid"/>
          </a:ln>
        </p:spPr>
      </p:sp>
      <p:sp>
        <p:nvSpPr>
          <p:cNvPr id="24" name="Shape 22"/>
          <p:cNvSpPr/>
          <p:nvPr/>
        </p:nvSpPr>
        <p:spPr>
          <a:xfrm>
            <a:off x="530352" y="3291840"/>
            <a:ext cx="621792" cy="621792"/>
          </a:xfrm>
          <a:prstGeom prst="ellipse">
            <a:avLst/>
          </a:prstGeom>
          <a:solidFill>
            <a:srgbClr val="6C63FF"/>
          </a:solidFill>
          <a:ln w="12700">
            <a:solidFill>
              <a:srgbClr val="333333"/>
            </a:solidFill>
            <a:prstDash val="solid"/>
          </a:ln>
        </p:spPr>
      </p:sp>
      <p:sp>
        <p:nvSpPr>
          <p:cNvPr id="25" name="Text 23"/>
          <p:cNvSpPr/>
          <p:nvPr/>
        </p:nvSpPr>
        <p:spPr>
          <a:xfrm>
            <a:off x="530352" y="3291840"/>
            <a:ext cx="621792" cy="621792"/>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26" name="Text 24"/>
          <p:cNvSpPr/>
          <p:nvPr/>
        </p:nvSpPr>
        <p:spPr>
          <a:xfrm>
            <a:off x="1335024" y="3218688"/>
            <a:ext cx="44348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Secure Private Accounts</a:t>
            </a:r>
            <a:endParaRPr lang="en-US" sz="1300" dirty="0"/>
          </a:p>
        </p:txBody>
      </p:sp>
      <p:sp>
        <p:nvSpPr>
          <p:cNvPr id="27" name="Text 25"/>
          <p:cNvSpPr/>
          <p:nvPr/>
        </p:nvSpPr>
        <p:spPr>
          <a:xfrm>
            <a:off x="1335024" y="3566160"/>
            <a:ext cx="4434840" cy="77724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Each user has an isolated, password-protected account. No one else can see your documents or conversations.</a:t>
            </a:r>
            <a:endParaRPr lang="en-US" sz="1100" dirty="0"/>
          </a:p>
        </p:txBody>
      </p:sp>
      <p:sp>
        <p:nvSpPr>
          <p:cNvPr id="28" name="Shape 26"/>
          <p:cNvSpPr/>
          <p:nvPr/>
        </p:nvSpPr>
        <p:spPr>
          <a:xfrm>
            <a:off x="6263640" y="3035808"/>
            <a:ext cx="5577840" cy="1463040"/>
          </a:xfrm>
          <a:prstGeom prst="roundRect">
            <a:avLst>
              <a:gd name="adj" fmla="val 7500"/>
            </a:avLst>
          </a:prstGeom>
          <a:solidFill>
            <a:srgbClr val="162233"/>
          </a:solidFill>
          <a:ln w="15240">
            <a:solidFill>
              <a:srgbClr val="253A52"/>
            </a:solidFill>
            <a:prstDash val="solid"/>
          </a:ln>
        </p:spPr>
      </p:sp>
      <p:sp>
        <p:nvSpPr>
          <p:cNvPr id="29" name="Shape 27"/>
          <p:cNvSpPr/>
          <p:nvPr/>
        </p:nvSpPr>
        <p:spPr>
          <a:xfrm>
            <a:off x="6263640" y="3035808"/>
            <a:ext cx="5577840" cy="64008"/>
          </a:xfrm>
          <a:prstGeom prst="rect">
            <a:avLst/>
          </a:prstGeom>
          <a:solidFill>
            <a:srgbClr val="FF6B35"/>
          </a:solidFill>
          <a:ln w="12700">
            <a:solidFill>
              <a:srgbClr val="333333"/>
            </a:solidFill>
            <a:prstDash val="solid"/>
          </a:ln>
        </p:spPr>
      </p:sp>
      <p:sp>
        <p:nvSpPr>
          <p:cNvPr id="30" name="Shape 28"/>
          <p:cNvSpPr/>
          <p:nvPr/>
        </p:nvSpPr>
        <p:spPr>
          <a:xfrm>
            <a:off x="6428232" y="3291840"/>
            <a:ext cx="621792" cy="621792"/>
          </a:xfrm>
          <a:prstGeom prst="ellipse">
            <a:avLst/>
          </a:prstGeom>
          <a:solidFill>
            <a:srgbClr val="FF6B35"/>
          </a:solidFill>
          <a:ln w="12700">
            <a:solidFill>
              <a:srgbClr val="333333"/>
            </a:solidFill>
            <a:prstDash val="solid"/>
          </a:ln>
        </p:spPr>
      </p:sp>
      <p:sp>
        <p:nvSpPr>
          <p:cNvPr id="31" name="Text 29"/>
          <p:cNvSpPr/>
          <p:nvPr/>
        </p:nvSpPr>
        <p:spPr>
          <a:xfrm>
            <a:off x="6428232" y="3291840"/>
            <a:ext cx="621792" cy="621792"/>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32" name="Text 30"/>
          <p:cNvSpPr/>
          <p:nvPr/>
        </p:nvSpPr>
        <p:spPr>
          <a:xfrm>
            <a:off x="7232904" y="3218688"/>
            <a:ext cx="44348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Image Understanding</a:t>
            </a:r>
            <a:endParaRPr lang="en-US" sz="1300" dirty="0"/>
          </a:p>
        </p:txBody>
      </p:sp>
      <p:sp>
        <p:nvSpPr>
          <p:cNvPr id="33" name="Text 31"/>
          <p:cNvSpPr/>
          <p:nvPr/>
        </p:nvSpPr>
        <p:spPr>
          <a:xfrm>
            <a:off x="7232904" y="3566160"/>
            <a:ext cx="4434840" cy="77724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Upload images — charts, screenshots, scanned photos — and ask questions about their visual content.</a:t>
            </a:r>
            <a:endParaRPr lang="en-US" sz="1100" dirty="0"/>
          </a:p>
        </p:txBody>
      </p:sp>
      <p:sp>
        <p:nvSpPr>
          <p:cNvPr id="34" name="Shape 32"/>
          <p:cNvSpPr/>
          <p:nvPr/>
        </p:nvSpPr>
        <p:spPr>
          <a:xfrm>
            <a:off x="365760" y="4654296"/>
            <a:ext cx="5577840" cy="1463040"/>
          </a:xfrm>
          <a:prstGeom prst="roundRect">
            <a:avLst>
              <a:gd name="adj" fmla="val 7500"/>
            </a:avLst>
          </a:prstGeom>
          <a:solidFill>
            <a:srgbClr val="162233"/>
          </a:solidFill>
          <a:ln w="15240">
            <a:solidFill>
              <a:srgbClr val="253A52"/>
            </a:solidFill>
            <a:prstDash val="solid"/>
          </a:ln>
        </p:spPr>
      </p:sp>
      <p:sp>
        <p:nvSpPr>
          <p:cNvPr id="35" name="Shape 33"/>
          <p:cNvSpPr/>
          <p:nvPr/>
        </p:nvSpPr>
        <p:spPr>
          <a:xfrm>
            <a:off x="365760" y="4654296"/>
            <a:ext cx="5577840" cy="64008"/>
          </a:xfrm>
          <a:prstGeom prst="rect">
            <a:avLst/>
          </a:prstGeom>
          <a:solidFill>
            <a:srgbClr val="E91E8C"/>
          </a:solidFill>
          <a:ln w="12700">
            <a:solidFill>
              <a:srgbClr val="333333"/>
            </a:solidFill>
            <a:prstDash val="solid"/>
          </a:ln>
        </p:spPr>
      </p:sp>
      <p:sp>
        <p:nvSpPr>
          <p:cNvPr id="36" name="Shape 34"/>
          <p:cNvSpPr/>
          <p:nvPr/>
        </p:nvSpPr>
        <p:spPr>
          <a:xfrm>
            <a:off x="530352" y="4910328"/>
            <a:ext cx="621792" cy="621792"/>
          </a:xfrm>
          <a:prstGeom prst="ellipse">
            <a:avLst/>
          </a:prstGeom>
          <a:solidFill>
            <a:srgbClr val="E91E8C"/>
          </a:solidFill>
          <a:ln w="12700">
            <a:solidFill>
              <a:srgbClr val="333333"/>
            </a:solidFill>
            <a:prstDash val="solid"/>
          </a:ln>
        </p:spPr>
      </p:sp>
      <p:sp>
        <p:nvSpPr>
          <p:cNvPr id="37" name="Text 35"/>
          <p:cNvSpPr/>
          <p:nvPr/>
        </p:nvSpPr>
        <p:spPr>
          <a:xfrm>
            <a:off x="530352" y="4910328"/>
            <a:ext cx="621792" cy="621792"/>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38" name="Text 36"/>
          <p:cNvSpPr/>
          <p:nvPr/>
        </p:nvSpPr>
        <p:spPr>
          <a:xfrm>
            <a:off x="1335024" y="4837176"/>
            <a:ext cx="44348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Edit &amp; Regenerate</a:t>
            </a:r>
            <a:endParaRPr lang="en-US" sz="1300" dirty="0"/>
          </a:p>
        </p:txBody>
      </p:sp>
      <p:sp>
        <p:nvSpPr>
          <p:cNvPr id="39" name="Text 37"/>
          <p:cNvSpPr/>
          <p:nvPr/>
        </p:nvSpPr>
        <p:spPr>
          <a:xfrm>
            <a:off x="1335024" y="5184648"/>
            <a:ext cx="4434840" cy="77724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Edit a previous question and re-ask it, or regenerate an answer if you want a different phrasing.</a:t>
            </a:r>
            <a:endParaRPr lang="en-US" sz="1100" dirty="0"/>
          </a:p>
        </p:txBody>
      </p:sp>
      <p:sp>
        <p:nvSpPr>
          <p:cNvPr id="40" name="Shape 38"/>
          <p:cNvSpPr/>
          <p:nvPr/>
        </p:nvSpPr>
        <p:spPr>
          <a:xfrm>
            <a:off x="6263640" y="4654296"/>
            <a:ext cx="5577840" cy="1463040"/>
          </a:xfrm>
          <a:prstGeom prst="roundRect">
            <a:avLst>
              <a:gd name="adj" fmla="val 7500"/>
            </a:avLst>
          </a:prstGeom>
          <a:solidFill>
            <a:srgbClr val="162233"/>
          </a:solidFill>
          <a:ln w="15240">
            <a:solidFill>
              <a:srgbClr val="253A52"/>
            </a:solidFill>
            <a:prstDash val="solid"/>
          </a:ln>
        </p:spPr>
      </p:sp>
      <p:sp>
        <p:nvSpPr>
          <p:cNvPr id="41" name="Shape 39"/>
          <p:cNvSpPr/>
          <p:nvPr/>
        </p:nvSpPr>
        <p:spPr>
          <a:xfrm>
            <a:off x="6263640" y="4654296"/>
            <a:ext cx="5577840" cy="64008"/>
          </a:xfrm>
          <a:prstGeom prst="rect">
            <a:avLst/>
          </a:prstGeom>
          <a:solidFill>
            <a:srgbClr val="00BCD4"/>
          </a:solidFill>
          <a:ln w="12700">
            <a:solidFill>
              <a:srgbClr val="333333"/>
            </a:solidFill>
            <a:prstDash val="solid"/>
          </a:ln>
        </p:spPr>
      </p:sp>
      <p:sp>
        <p:nvSpPr>
          <p:cNvPr id="42" name="Shape 40"/>
          <p:cNvSpPr/>
          <p:nvPr/>
        </p:nvSpPr>
        <p:spPr>
          <a:xfrm>
            <a:off x="6428232" y="4910328"/>
            <a:ext cx="621792" cy="621792"/>
          </a:xfrm>
          <a:prstGeom prst="ellipse">
            <a:avLst/>
          </a:prstGeom>
          <a:solidFill>
            <a:srgbClr val="00BCD4"/>
          </a:solidFill>
          <a:ln w="12700">
            <a:solidFill>
              <a:srgbClr val="333333"/>
            </a:solidFill>
            <a:prstDash val="solid"/>
          </a:ln>
        </p:spPr>
      </p:sp>
      <p:sp>
        <p:nvSpPr>
          <p:cNvPr id="43" name="Text 41"/>
          <p:cNvSpPr/>
          <p:nvPr/>
        </p:nvSpPr>
        <p:spPr>
          <a:xfrm>
            <a:off x="6428232" y="4910328"/>
            <a:ext cx="621792" cy="621792"/>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44" name="Text 42"/>
          <p:cNvSpPr/>
          <p:nvPr/>
        </p:nvSpPr>
        <p:spPr>
          <a:xfrm>
            <a:off x="7232904" y="4837176"/>
            <a:ext cx="44348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Query Expansion</a:t>
            </a:r>
            <a:endParaRPr lang="en-US" sz="1300" dirty="0"/>
          </a:p>
        </p:txBody>
      </p:sp>
      <p:sp>
        <p:nvSpPr>
          <p:cNvPr id="45" name="Text 43"/>
          <p:cNvSpPr/>
          <p:nvPr/>
        </p:nvSpPr>
        <p:spPr>
          <a:xfrm>
            <a:off x="7232904" y="5184648"/>
            <a:ext cx="4434840" cy="77724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Automatically rephrases your question 2–3 ways to improve retrieval accuracy and answer quality.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HOW IT WORKS</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The User Journey — 5 Simple Steps</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7 / 20</a:t>
            </a:r>
            <a:endParaRPr lang="en-US" sz="750" dirty="0"/>
          </a:p>
        </p:txBody>
      </p:sp>
      <p:sp>
        <p:nvSpPr>
          <p:cNvPr id="10" name="Shape 8"/>
          <p:cNvSpPr/>
          <p:nvPr/>
        </p:nvSpPr>
        <p:spPr>
          <a:xfrm>
            <a:off x="365760" y="1417320"/>
            <a:ext cx="2011680" cy="3291840"/>
          </a:xfrm>
          <a:prstGeom prst="roundRect">
            <a:avLst>
              <a:gd name="adj" fmla="val 5455"/>
            </a:avLst>
          </a:prstGeom>
          <a:solidFill>
            <a:srgbClr val="162233"/>
          </a:solidFill>
          <a:ln w="15240">
            <a:solidFill>
              <a:srgbClr val="253A52"/>
            </a:solidFill>
            <a:prstDash val="solid"/>
          </a:ln>
        </p:spPr>
      </p:sp>
      <p:sp>
        <p:nvSpPr>
          <p:cNvPr id="11" name="Shape 9"/>
          <p:cNvSpPr/>
          <p:nvPr/>
        </p:nvSpPr>
        <p:spPr>
          <a:xfrm>
            <a:off x="365760" y="1417320"/>
            <a:ext cx="2011680" cy="91440"/>
          </a:xfrm>
          <a:prstGeom prst="rect">
            <a:avLst/>
          </a:prstGeom>
          <a:solidFill>
            <a:srgbClr val="4F8EF7"/>
          </a:solidFill>
          <a:ln w="12700">
            <a:solidFill>
              <a:srgbClr val="333333"/>
            </a:solidFill>
            <a:prstDash val="solid"/>
          </a:ln>
        </p:spPr>
      </p:sp>
      <p:sp>
        <p:nvSpPr>
          <p:cNvPr id="12" name="Shape 10"/>
          <p:cNvSpPr/>
          <p:nvPr/>
        </p:nvSpPr>
        <p:spPr>
          <a:xfrm>
            <a:off x="1078992" y="1600200"/>
            <a:ext cx="585216" cy="585216"/>
          </a:xfrm>
          <a:prstGeom prst="ellipse">
            <a:avLst/>
          </a:prstGeom>
          <a:solidFill>
            <a:srgbClr val="4F8EF7"/>
          </a:solidFill>
          <a:ln w="12700">
            <a:solidFill>
              <a:srgbClr val="333333"/>
            </a:solidFill>
            <a:prstDash val="solid"/>
          </a:ln>
        </p:spPr>
      </p:sp>
      <p:sp>
        <p:nvSpPr>
          <p:cNvPr id="13" name="Text 11"/>
          <p:cNvSpPr/>
          <p:nvPr/>
        </p:nvSpPr>
        <p:spPr>
          <a:xfrm>
            <a:off x="1078992" y="1600200"/>
            <a:ext cx="585216" cy="585216"/>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4" name="Text 12"/>
          <p:cNvSpPr/>
          <p:nvPr/>
        </p:nvSpPr>
        <p:spPr>
          <a:xfrm>
            <a:off x="914400" y="2304288"/>
            <a:ext cx="914400" cy="548640"/>
          </a:xfrm>
          <a:prstGeom prst="rect">
            <a:avLst/>
          </a:prstGeom>
          <a:noFill/>
          <a:ln/>
        </p:spPr>
        <p:txBody>
          <a:bodyPr wrap="square"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15" name="Text 13"/>
          <p:cNvSpPr/>
          <p:nvPr/>
        </p:nvSpPr>
        <p:spPr>
          <a:xfrm>
            <a:off x="457200" y="2907792"/>
            <a:ext cx="1828800" cy="347472"/>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Create Account</a:t>
            </a:r>
            <a:endParaRPr lang="en-US" sz="1150" dirty="0"/>
          </a:p>
        </p:txBody>
      </p:sp>
      <p:sp>
        <p:nvSpPr>
          <p:cNvPr id="16" name="Text 14"/>
          <p:cNvSpPr/>
          <p:nvPr/>
        </p:nvSpPr>
        <p:spPr>
          <a:xfrm>
            <a:off x="457200" y="3291840"/>
            <a:ext cx="1828800" cy="640080"/>
          </a:xfrm>
          <a:prstGeom prst="rect">
            <a:avLst/>
          </a:prstGeom>
          <a:noFill/>
          <a:ln/>
        </p:spPr>
        <p:txBody>
          <a:bodyPr wrap="square" rtlCol="0" anchor="ctr"/>
          <a:lstStyle/>
          <a:p>
            <a:pPr algn="ctr" indent="0" marL="0">
              <a:buNone/>
            </a:pPr>
            <a:r>
              <a:rPr lang="en-US" sz="950" dirty="0">
                <a:solidFill>
                  <a:srgbClr val="CFD8DC"/>
                </a:solidFill>
                <a:latin typeface="Calibri" pitchFamily="34" charset="0"/>
                <a:ea typeface="Calibri" pitchFamily="34" charset="-122"/>
                <a:cs typeface="Calibri" pitchFamily="34" charset="-120"/>
              </a:rPr>
              <a:t>Register with name,</a:t>
            </a:r>
            <a:endParaRPr lang="en-US" sz="950" dirty="0"/>
          </a:p>
          <a:p>
            <a:pPr algn="ctr" indent="0" marL="0">
              <a:buNone/>
            </a:pPr>
            <a:r>
              <a:rPr lang="en-US" sz="950" dirty="0">
                <a:solidFill>
                  <a:srgbClr val="CFD8DC"/>
                </a:solidFill>
                <a:latin typeface="Calibri" pitchFamily="34" charset="0"/>
                <a:ea typeface="Calibri" pitchFamily="34" charset="-122"/>
                <a:cs typeface="Calibri" pitchFamily="34" charset="-120"/>
              </a:rPr>
              <a:t>email &amp; password</a:t>
            </a:r>
            <a:endParaRPr lang="en-US" sz="950" dirty="0"/>
          </a:p>
        </p:txBody>
      </p:sp>
      <p:sp>
        <p:nvSpPr>
          <p:cNvPr id="17" name="Shape 15"/>
          <p:cNvSpPr/>
          <p:nvPr/>
        </p:nvSpPr>
        <p:spPr>
          <a:xfrm>
            <a:off x="2377440" y="3264408"/>
            <a:ext cx="274320" cy="54864"/>
          </a:xfrm>
          <a:prstGeom prst="rect">
            <a:avLst/>
          </a:prstGeom>
          <a:solidFill>
            <a:srgbClr val="546E7A"/>
          </a:solidFill>
          <a:ln w="12700">
            <a:solidFill>
              <a:srgbClr val="333333"/>
            </a:solidFill>
            <a:prstDash val="solid"/>
          </a:ln>
        </p:spPr>
      </p:sp>
      <p:sp>
        <p:nvSpPr>
          <p:cNvPr id="18" name="Text 16"/>
          <p:cNvSpPr/>
          <p:nvPr/>
        </p:nvSpPr>
        <p:spPr>
          <a:xfrm>
            <a:off x="2624328" y="3136392"/>
            <a:ext cx="182880" cy="274320"/>
          </a:xfrm>
          <a:prstGeom prst="rect">
            <a:avLst/>
          </a:prstGeom>
          <a:noFill/>
          <a:ln/>
        </p:spPr>
        <p:txBody>
          <a:bodyPr wrap="square" rtlCol="0" anchor="ctr"/>
          <a:lstStyle/>
          <a:p>
            <a:pPr algn="l" indent="0" marL="0">
              <a:buNone/>
            </a:pPr>
            <a:r>
              <a:rPr lang="en-US" sz="1100" dirty="0">
                <a:solidFill>
                  <a:srgbClr val="546E7A"/>
                </a:solidFill>
              </a:rPr>
              <a:t>▶</a:t>
            </a:r>
            <a:endParaRPr lang="en-US" sz="1100" dirty="0"/>
          </a:p>
        </p:txBody>
      </p:sp>
      <p:sp>
        <p:nvSpPr>
          <p:cNvPr id="19" name="Shape 17"/>
          <p:cNvSpPr/>
          <p:nvPr/>
        </p:nvSpPr>
        <p:spPr>
          <a:xfrm>
            <a:off x="2651760" y="1417320"/>
            <a:ext cx="2011680" cy="3291840"/>
          </a:xfrm>
          <a:prstGeom prst="roundRect">
            <a:avLst>
              <a:gd name="adj" fmla="val 5455"/>
            </a:avLst>
          </a:prstGeom>
          <a:solidFill>
            <a:srgbClr val="162233"/>
          </a:solidFill>
          <a:ln w="15240">
            <a:solidFill>
              <a:srgbClr val="253A52"/>
            </a:solidFill>
            <a:prstDash val="solid"/>
          </a:ln>
        </p:spPr>
      </p:sp>
      <p:sp>
        <p:nvSpPr>
          <p:cNvPr id="20" name="Shape 18"/>
          <p:cNvSpPr/>
          <p:nvPr/>
        </p:nvSpPr>
        <p:spPr>
          <a:xfrm>
            <a:off x="2651760" y="1417320"/>
            <a:ext cx="2011680" cy="91440"/>
          </a:xfrm>
          <a:prstGeom prst="rect">
            <a:avLst/>
          </a:prstGeom>
          <a:solidFill>
            <a:srgbClr val="00C9A7"/>
          </a:solidFill>
          <a:ln w="12700">
            <a:solidFill>
              <a:srgbClr val="333333"/>
            </a:solidFill>
            <a:prstDash val="solid"/>
          </a:ln>
        </p:spPr>
      </p:sp>
      <p:sp>
        <p:nvSpPr>
          <p:cNvPr id="21" name="Shape 19"/>
          <p:cNvSpPr/>
          <p:nvPr/>
        </p:nvSpPr>
        <p:spPr>
          <a:xfrm>
            <a:off x="3364992" y="1600200"/>
            <a:ext cx="585216" cy="585216"/>
          </a:xfrm>
          <a:prstGeom prst="ellipse">
            <a:avLst/>
          </a:prstGeom>
          <a:solidFill>
            <a:srgbClr val="00C9A7"/>
          </a:solidFill>
          <a:ln w="12700">
            <a:solidFill>
              <a:srgbClr val="333333"/>
            </a:solidFill>
            <a:prstDash val="solid"/>
          </a:ln>
        </p:spPr>
      </p:sp>
      <p:sp>
        <p:nvSpPr>
          <p:cNvPr id="22" name="Text 20"/>
          <p:cNvSpPr/>
          <p:nvPr/>
        </p:nvSpPr>
        <p:spPr>
          <a:xfrm>
            <a:off x="3364992" y="1600200"/>
            <a:ext cx="585216" cy="585216"/>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3" name="Text 21"/>
          <p:cNvSpPr/>
          <p:nvPr/>
        </p:nvSpPr>
        <p:spPr>
          <a:xfrm>
            <a:off x="3200400" y="2304288"/>
            <a:ext cx="914400" cy="548640"/>
          </a:xfrm>
          <a:prstGeom prst="rect">
            <a:avLst/>
          </a:prstGeom>
          <a:noFill/>
          <a:ln/>
        </p:spPr>
        <p:txBody>
          <a:bodyPr wrap="square"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24" name="Text 22"/>
          <p:cNvSpPr/>
          <p:nvPr/>
        </p:nvSpPr>
        <p:spPr>
          <a:xfrm>
            <a:off x="2743200" y="2907792"/>
            <a:ext cx="1828800" cy="347472"/>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Upload Documents</a:t>
            </a:r>
            <a:endParaRPr lang="en-US" sz="1150" dirty="0"/>
          </a:p>
        </p:txBody>
      </p:sp>
      <p:sp>
        <p:nvSpPr>
          <p:cNvPr id="25" name="Text 23"/>
          <p:cNvSpPr/>
          <p:nvPr/>
        </p:nvSpPr>
        <p:spPr>
          <a:xfrm>
            <a:off x="2743200" y="3291840"/>
            <a:ext cx="1828800" cy="640080"/>
          </a:xfrm>
          <a:prstGeom prst="rect">
            <a:avLst/>
          </a:prstGeom>
          <a:noFill/>
          <a:ln/>
        </p:spPr>
        <p:txBody>
          <a:bodyPr wrap="square" rtlCol="0" anchor="ctr"/>
          <a:lstStyle/>
          <a:p>
            <a:pPr algn="ctr" indent="0" marL="0">
              <a:buNone/>
            </a:pPr>
            <a:r>
              <a:rPr lang="en-US" sz="950" dirty="0">
                <a:solidFill>
                  <a:srgbClr val="CFD8DC"/>
                </a:solidFill>
                <a:latin typeface="Calibri" pitchFamily="34" charset="0"/>
                <a:ea typeface="Calibri" pitchFamily="34" charset="-122"/>
                <a:cs typeface="Calibri" pitchFamily="34" charset="-120"/>
              </a:rPr>
              <a:t>PDF, Excel, Image</a:t>
            </a:r>
            <a:endParaRPr lang="en-US" sz="950" dirty="0"/>
          </a:p>
          <a:p>
            <a:pPr algn="ctr" indent="0" marL="0">
              <a:buNone/>
            </a:pPr>
            <a:r>
              <a:rPr lang="en-US" sz="950" dirty="0">
                <a:solidFill>
                  <a:srgbClr val="CFD8DC"/>
                </a:solidFill>
                <a:latin typeface="Calibri" pitchFamily="34" charset="0"/>
                <a:ea typeface="Calibri" pitchFamily="34" charset="-122"/>
                <a:cs typeface="Calibri" pitchFamily="34" charset="-120"/>
              </a:rPr>
              <a:t>or Text — up to 5</a:t>
            </a:r>
            <a:endParaRPr lang="en-US" sz="950" dirty="0"/>
          </a:p>
        </p:txBody>
      </p:sp>
      <p:sp>
        <p:nvSpPr>
          <p:cNvPr id="26" name="Shape 24"/>
          <p:cNvSpPr/>
          <p:nvPr/>
        </p:nvSpPr>
        <p:spPr>
          <a:xfrm>
            <a:off x="4663440" y="3264408"/>
            <a:ext cx="274320" cy="54864"/>
          </a:xfrm>
          <a:prstGeom prst="rect">
            <a:avLst/>
          </a:prstGeom>
          <a:solidFill>
            <a:srgbClr val="546E7A"/>
          </a:solidFill>
          <a:ln w="12700">
            <a:solidFill>
              <a:srgbClr val="333333"/>
            </a:solidFill>
            <a:prstDash val="solid"/>
          </a:ln>
        </p:spPr>
      </p:sp>
      <p:sp>
        <p:nvSpPr>
          <p:cNvPr id="27" name="Text 25"/>
          <p:cNvSpPr/>
          <p:nvPr/>
        </p:nvSpPr>
        <p:spPr>
          <a:xfrm>
            <a:off x="4910328" y="3136392"/>
            <a:ext cx="182880" cy="274320"/>
          </a:xfrm>
          <a:prstGeom prst="rect">
            <a:avLst/>
          </a:prstGeom>
          <a:noFill/>
          <a:ln/>
        </p:spPr>
        <p:txBody>
          <a:bodyPr wrap="square" rtlCol="0" anchor="ctr"/>
          <a:lstStyle/>
          <a:p>
            <a:pPr algn="l" indent="0" marL="0">
              <a:buNone/>
            </a:pPr>
            <a:r>
              <a:rPr lang="en-US" sz="1100" dirty="0">
                <a:solidFill>
                  <a:srgbClr val="546E7A"/>
                </a:solidFill>
              </a:rPr>
              <a:t>▶</a:t>
            </a:r>
            <a:endParaRPr lang="en-US" sz="1100" dirty="0"/>
          </a:p>
        </p:txBody>
      </p:sp>
      <p:sp>
        <p:nvSpPr>
          <p:cNvPr id="28" name="Shape 26"/>
          <p:cNvSpPr/>
          <p:nvPr/>
        </p:nvSpPr>
        <p:spPr>
          <a:xfrm>
            <a:off x="4937760" y="1417320"/>
            <a:ext cx="2011680" cy="3291840"/>
          </a:xfrm>
          <a:prstGeom prst="roundRect">
            <a:avLst>
              <a:gd name="adj" fmla="val 5455"/>
            </a:avLst>
          </a:prstGeom>
          <a:solidFill>
            <a:srgbClr val="162233"/>
          </a:solidFill>
          <a:ln w="15240">
            <a:solidFill>
              <a:srgbClr val="253A52"/>
            </a:solidFill>
            <a:prstDash val="solid"/>
          </a:ln>
        </p:spPr>
      </p:sp>
      <p:sp>
        <p:nvSpPr>
          <p:cNvPr id="29" name="Shape 27"/>
          <p:cNvSpPr/>
          <p:nvPr/>
        </p:nvSpPr>
        <p:spPr>
          <a:xfrm>
            <a:off x="4937760" y="1417320"/>
            <a:ext cx="2011680" cy="91440"/>
          </a:xfrm>
          <a:prstGeom prst="rect">
            <a:avLst/>
          </a:prstGeom>
          <a:solidFill>
            <a:srgbClr val="6C63FF"/>
          </a:solidFill>
          <a:ln w="12700">
            <a:solidFill>
              <a:srgbClr val="333333"/>
            </a:solidFill>
            <a:prstDash val="solid"/>
          </a:ln>
        </p:spPr>
      </p:sp>
      <p:sp>
        <p:nvSpPr>
          <p:cNvPr id="30" name="Shape 28"/>
          <p:cNvSpPr/>
          <p:nvPr/>
        </p:nvSpPr>
        <p:spPr>
          <a:xfrm>
            <a:off x="5650992" y="1600200"/>
            <a:ext cx="585216" cy="585216"/>
          </a:xfrm>
          <a:prstGeom prst="ellipse">
            <a:avLst/>
          </a:prstGeom>
          <a:solidFill>
            <a:srgbClr val="6C63FF"/>
          </a:solidFill>
          <a:ln w="12700">
            <a:solidFill>
              <a:srgbClr val="333333"/>
            </a:solidFill>
            <a:prstDash val="solid"/>
          </a:ln>
        </p:spPr>
      </p:sp>
      <p:sp>
        <p:nvSpPr>
          <p:cNvPr id="31" name="Text 29"/>
          <p:cNvSpPr/>
          <p:nvPr/>
        </p:nvSpPr>
        <p:spPr>
          <a:xfrm>
            <a:off x="5650992" y="1600200"/>
            <a:ext cx="585216" cy="585216"/>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32" name="Text 30"/>
          <p:cNvSpPr/>
          <p:nvPr/>
        </p:nvSpPr>
        <p:spPr>
          <a:xfrm>
            <a:off x="5486400" y="2304288"/>
            <a:ext cx="914400" cy="548640"/>
          </a:xfrm>
          <a:prstGeom prst="rect">
            <a:avLst/>
          </a:prstGeom>
          <a:noFill/>
          <a:ln/>
        </p:spPr>
        <p:txBody>
          <a:bodyPr wrap="square"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33" name="Text 31"/>
          <p:cNvSpPr/>
          <p:nvPr/>
        </p:nvSpPr>
        <p:spPr>
          <a:xfrm>
            <a:off x="5029200" y="2907792"/>
            <a:ext cx="1828800" cy="347472"/>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Ask a Question</a:t>
            </a:r>
            <a:endParaRPr lang="en-US" sz="1150" dirty="0"/>
          </a:p>
        </p:txBody>
      </p:sp>
      <p:sp>
        <p:nvSpPr>
          <p:cNvPr id="34" name="Text 32"/>
          <p:cNvSpPr/>
          <p:nvPr/>
        </p:nvSpPr>
        <p:spPr>
          <a:xfrm>
            <a:off x="5029200" y="3291840"/>
            <a:ext cx="1828800" cy="640080"/>
          </a:xfrm>
          <a:prstGeom prst="rect">
            <a:avLst/>
          </a:prstGeom>
          <a:noFill/>
          <a:ln/>
        </p:spPr>
        <p:txBody>
          <a:bodyPr wrap="square" rtlCol="0" anchor="ctr"/>
          <a:lstStyle/>
          <a:p>
            <a:pPr algn="ctr" indent="0" marL="0">
              <a:buNone/>
            </a:pPr>
            <a:r>
              <a:rPr lang="en-US" sz="950" dirty="0">
                <a:solidFill>
                  <a:srgbClr val="CFD8DC"/>
                </a:solidFill>
                <a:latin typeface="Calibri" pitchFamily="34" charset="0"/>
                <a:ea typeface="Calibri" pitchFamily="34" charset="-122"/>
                <a:cs typeface="Calibri" pitchFamily="34" charset="-120"/>
              </a:rPr>
              <a:t>Type in plain English</a:t>
            </a:r>
            <a:endParaRPr lang="en-US" sz="950" dirty="0"/>
          </a:p>
          <a:p>
            <a:pPr algn="ctr" indent="0" marL="0">
              <a:buNone/>
            </a:pPr>
            <a:r>
              <a:rPr lang="en-US" sz="950" dirty="0">
                <a:solidFill>
                  <a:srgbClr val="CFD8DC"/>
                </a:solidFill>
                <a:latin typeface="Calibri" pitchFamily="34" charset="0"/>
                <a:ea typeface="Calibri" pitchFamily="34" charset="-122"/>
                <a:cs typeface="Calibri" pitchFamily="34" charset="-120"/>
              </a:rPr>
              <a:t>in the chat box</a:t>
            </a:r>
            <a:endParaRPr lang="en-US" sz="950" dirty="0"/>
          </a:p>
        </p:txBody>
      </p:sp>
      <p:sp>
        <p:nvSpPr>
          <p:cNvPr id="35" name="Shape 33"/>
          <p:cNvSpPr/>
          <p:nvPr/>
        </p:nvSpPr>
        <p:spPr>
          <a:xfrm>
            <a:off x="6949440" y="3264408"/>
            <a:ext cx="274320" cy="54864"/>
          </a:xfrm>
          <a:prstGeom prst="rect">
            <a:avLst/>
          </a:prstGeom>
          <a:solidFill>
            <a:srgbClr val="546E7A"/>
          </a:solidFill>
          <a:ln w="12700">
            <a:solidFill>
              <a:srgbClr val="333333"/>
            </a:solidFill>
            <a:prstDash val="solid"/>
          </a:ln>
        </p:spPr>
      </p:sp>
      <p:sp>
        <p:nvSpPr>
          <p:cNvPr id="36" name="Text 34"/>
          <p:cNvSpPr/>
          <p:nvPr/>
        </p:nvSpPr>
        <p:spPr>
          <a:xfrm>
            <a:off x="7196328" y="3136392"/>
            <a:ext cx="182880" cy="274320"/>
          </a:xfrm>
          <a:prstGeom prst="rect">
            <a:avLst/>
          </a:prstGeom>
          <a:noFill/>
          <a:ln/>
        </p:spPr>
        <p:txBody>
          <a:bodyPr wrap="square" rtlCol="0" anchor="ctr"/>
          <a:lstStyle/>
          <a:p>
            <a:pPr algn="l" indent="0" marL="0">
              <a:buNone/>
            </a:pPr>
            <a:r>
              <a:rPr lang="en-US" sz="1100" dirty="0">
                <a:solidFill>
                  <a:srgbClr val="546E7A"/>
                </a:solidFill>
              </a:rPr>
              <a:t>▶</a:t>
            </a:r>
            <a:endParaRPr lang="en-US" sz="1100" dirty="0"/>
          </a:p>
        </p:txBody>
      </p:sp>
      <p:sp>
        <p:nvSpPr>
          <p:cNvPr id="37" name="Shape 35"/>
          <p:cNvSpPr/>
          <p:nvPr/>
        </p:nvSpPr>
        <p:spPr>
          <a:xfrm>
            <a:off x="7223760" y="1417320"/>
            <a:ext cx="2011680" cy="3291840"/>
          </a:xfrm>
          <a:prstGeom prst="roundRect">
            <a:avLst>
              <a:gd name="adj" fmla="val 5455"/>
            </a:avLst>
          </a:prstGeom>
          <a:solidFill>
            <a:srgbClr val="162233"/>
          </a:solidFill>
          <a:ln w="15240">
            <a:solidFill>
              <a:srgbClr val="253A52"/>
            </a:solidFill>
            <a:prstDash val="solid"/>
          </a:ln>
        </p:spPr>
      </p:sp>
      <p:sp>
        <p:nvSpPr>
          <p:cNvPr id="38" name="Shape 36"/>
          <p:cNvSpPr/>
          <p:nvPr/>
        </p:nvSpPr>
        <p:spPr>
          <a:xfrm>
            <a:off x="7223760" y="1417320"/>
            <a:ext cx="2011680" cy="91440"/>
          </a:xfrm>
          <a:prstGeom prst="rect">
            <a:avLst/>
          </a:prstGeom>
          <a:solidFill>
            <a:srgbClr val="FF6B35"/>
          </a:solidFill>
          <a:ln w="12700">
            <a:solidFill>
              <a:srgbClr val="333333"/>
            </a:solidFill>
            <a:prstDash val="solid"/>
          </a:ln>
        </p:spPr>
      </p:sp>
      <p:sp>
        <p:nvSpPr>
          <p:cNvPr id="39" name="Shape 37"/>
          <p:cNvSpPr/>
          <p:nvPr/>
        </p:nvSpPr>
        <p:spPr>
          <a:xfrm>
            <a:off x="7936992" y="1600200"/>
            <a:ext cx="585216" cy="585216"/>
          </a:xfrm>
          <a:prstGeom prst="ellipse">
            <a:avLst/>
          </a:prstGeom>
          <a:solidFill>
            <a:srgbClr val="FF6B35"/>
          </a:solidFill>
          <a:ln w="12700">
            <a:solidFill>
              <a:srgbClr val="333333"/>
            </a:solidFill>
            <a:prstDash val="solid"/>
          </a:ln>
        </p:spPr>
      </p:sp>
      <p:sp>
        <p:nvSpPr>
          <p:cNvPr id="40" name="Text 38"/>
          <p:cNvSpPr/>
          <p:nvPr/>
        </p:nvSpPr>
        <p:spPr>
          <a:xfrm>
            <a:off x="7936992" y="1600200"/>
            <a:ext cx="585216" cy="585216"/>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1" name="Text 39"/>
          <p:cNvSpPr/>
          <p:nvPr/>
        </p:nvSpPr>
        <p:spPr>
          <a:xfrm>
            <a:off x="7772400" y="2304288"/>
            <a:ext cx="914400" cy="548640"/>
          </a:xfrm>
          <a:prstGeom prst="rect">
            <a:avLst/>
          </a:prstGeom>
          <a:noFill/>
          <a:ln/>
        </p:spPr>
        <p:txBody>
          <a:bodyPr wrap="square"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42" name="Text 40"/>
          <p:cNvSpPr/>
          <p:nvPr/>
        </p:nvSpPr>
        <p:spPr>
          <a:xfrm>
            <a:off x="7315200" y="2907792"/>
            <a:ext cx="1828800" cy="347472"/>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Get an Answer</a:t>
            </a:r>
            <a:endParaRPr lang="en-US" sz="1150" dirty="0"/>
          </a:p>
        </p:txBody>
      </p:sp>
      <p:sp>
        <p:nvSpPr>
          <p:cNvPr id="43" name="Text 41"/>
          <p:cNvSpPr/>
          <p:nvPr/>
        </p:nvSpPr>
        <p:spPr>
          <a:xfrm>
            <a:off x="7315200" y="3291840"/>
            <a:ext cx="1828800" cy="640080"/>
          </a:xfrm>
          <a:prstGeom prst="rect">
            <a:avLst/>
          </a:prstGeom>
          <a:noFill/>
          <a:ln/>
        </p:spPr>
        <p:txBody>
          <a:bodyPr wrap="square" rtlCol="0" anchor="ctr"/>
          <a:lstStyle/>
          <a:p>
            <a:pPr algn="ctr" indent="0" marL="0">
              <a:buNone/>
            </a:pPr>
            <a:r>
              <a:rPr lang="en-US" sz="950" dirty="0">
                <a:solidFill>
                  <a:srgbClr val="CFD8DC"/>
                </a:solidFill>
                <a:latin typeface="Calibri" pitchFamily="34" charset="0"/>
                <a:ea typeface="Calibri" pitchFamily="34" charset="-122"/>
                <a:cs typeface="Calibri" pitchFamily="34" charset="-120"/>
              </a:rPr>
              <a:t>AI streams a clear</a:t>
            </a:r>
            <a:endParaRPr lang="en-US" sz="950" dirty="0"/>
          </a:p>
          <a:p>
            <a:pPr algn="ctr" indent="0" marL="0">
              <a:buNone/>
            </a:pPr>
            <a:r>
              <a:rPr lang="en-US" sz="950" dirty="0">
                <a:solidFill>
                  <a:srgbClr val="CFD8DC"/>
                </a:solidFill>
                <a:latin typeface="Calibri" pitchFamily="34" charset="0"/>
                <a:ea typeface="Calibri" pitchFamily="34" charset="-122"/>
                <a:cs typeface="Calibri" pitchFamily="34" charset="-120"/>
              </a:rPr>
              <a:t>response with sources</a:t>
            </a:r>
            <a:endParaRPr lang="en-US" sz="950" dirty="0"/>
          </a:p>
        </p:txBody>
      </p:sp>
      <p:sp>
        <p:nvSpPr>
          <p:cNvPr id="44" name="Shape 42"/>
          <p:cNvSpPr/>
          <p:nvPr/>
        </p:nvSpPr>
        <p:spPr>
          <a:xfrm>
            <a:off x="9235440" y="3264408"/>
            <a:ext cx="274320" cy="54864"/>
          </a:xfrm>
          <a:prstGeom prst="rect">
            <a:avLst/>
          </a:prstGeom>
          <a:solidFill>
            <a:srgbClr val="546E7A"/>
          </a:solidFill>
          <a:ln w="12700">
            <a:solidFill>
              <a:srgbClr val="333333"/>
            </a:solidFill>
            <a:prstDash val="solid"/>
          </a:ln>
        </p:spPr>
      </p:sp>
      <p:sp>
        <p:nvSpPr>
          <p:cNvPr id="45" name="Text 43"/>
          <p:cNvSpPr/>
          <p:nvPr/>
        </p:nvSpPr>
        <p:spPr>
          <a:xfrm>
            <a:off x="9482328" y="3136392"/>
            <a:ext cx="182880" cy="274320"/>
          </a:xfrm>
          <a:prstGeom prst="rect">
            <a:avLst/>
          </a:prstGeom>
          <a:noFill/>
          <a:ln/>
        </p:spPr>
        <p:txBody>
          <a:bodyPr wrap="square" rtlCol="0" anchor="ctr"/>
          <a:lstStyle/>
          <a:p>
            <a:pPr algn="l" indent="0" marL="0">
              <a:buNone/>
            </a:pPr>
            <a:r>
              <a:rPr lang="en-US" sz="1100" dirty="0">
                <a:solidFill>
                  <a:srgbClr val="546E7A"/>
                </a:solidFill>
              </a:rPr>
              <a:t>▶</a:t>
            </a:r>
            <a:endParaRPr lang="en-US" sz="1100" dirty="0"/>
          </a:p>
        </p:txBody>
      </p:sp>
      <p:sp>
        <p:nvSpPr>
          <p:cNvPr id="46" name="Shape 44"/>
          <p:cNvSpPr/>
          <p:nvPr/>
        </p:nvSpPr>
        <p:spPr>
          <a:xfrm>
            <a:off x="9509760" y="1417320"/>
            <a:ext cx="2011680" cy="3291840"/>
          </a:xfrm>
          <a:prstGeom prst="roundRect">
            <a:avLst>
              <a:gd name="adj" fmla="val 5455"/>
            </a:avLst>
          </a:prstGeom>
          <a:solidFill>
            <a:srgbClr val="162233"/>
          </a:solidFill>
          <a:ln w="15240">
            <a:solidFill>
              <a:srgbClr val="253A52"/>
            </a:solidFill>
            <a:prstDash val="solid"/>
          </a:ln>
        </p:spPr>
      </p:sp>
      <p:sp>
        <p:nvSpPr>
          <p:cNvPr id="47" name="Shape 45"/>
          <p:cNvSpPr/>
          <p:nvPr/>
        </p:nvSpPr>
        <p:spPr>
          <a:xfrm>
            <a:off x="9509760" y="1417320"/>
            <a:ext cx="2011680" cy="91440"/>
          </a:xfrm>
          <a:prstGeom prst="rect">
            <a:avLst/>
          </a:prstGeom>
          <a:solidFill>
            <a:srgbClr val="E91E8C"/>
          </a:solidFill>
          <a:ln w="12700">
            <a:solidFill>
              <a:srgbClr val="333333"/>
            </a:solidFill>
            <a:prstDash val="solid"/>
          </a:ln>
        </p:spPr>
      </p:sp>
      <p:sp>
        <p:nvSpPr>
          <p:cNvPr id="48" name="Shape 46"/>
          <p:cNvSpPr/>
          <p:nvPr/>
        </p:nvSpPr>
        <p:spPr>
          <a:xfrm>
            <a:off x="10222992" y="1600200"/>
            <a:ext cx="585216" cy="585216"/>
          </a:xfrm>
          <a:prstGeom prst="ellipse">
            <a:avLst/>
          </a:prstGeom>
          <a:solidFill>
            <a:srgbClr val="E91E8C"/>
          </a:solidFill>
          <a:ln w="12700">
            <a:solidFill>
              <a:srgbClr val="333333"/>
            </a:solidFill>
            <a:prstDash val="solid"/>
          </a:ln>
        </p:spPr>
      </p:sp>
      <p:sp>
        <p:nvSpPr>
          <p:cNvPr id="49" name="Text 47"/>
          <p:cNvSpPr/>
          <p:nvPr/>
        </p:nvSpPr>
        <p:spPr>
          <a:xfrm>
            <a:off x="10222992" y="1600200"/>
            <a:ext cx="585216" cy="585216"/>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50" name="Text 48"/>
          <p:cNvSpPr/>
          <p:nvPr/>
        </p:nvSpPr>
        <p:spPr>
          <a:xfrm>
            <a:off x="10058400" y="2304288"/>
            <a:ext cx="914400" cy="548640"/>
          </a:xfrm>
          <a:prstGeom prst="rect">
            <a:avLst/>
          </a:prstGeom>
          <a:noFill/>
          <a:ln/>
        </p:spPr>
        <p:txBody>
          <a:bodyPr wrap="square" rtlCol="0" anchor="ctr"/>
          <a:lstStyle/>
          <a:p>
            <a:pPr algn="ctr" indent="0" marL="0">
              <a:buNone/>
            </a:pPr>
            <a:r>
              <a:rPr lang="en-US" sz="2200" dirty="0">
                <a:solidFill>
                  <a:srgbClr val="000000"/>
                </a:solidFill>
                <a:latin typeface="Segoe UI Emoji" pitchFamily="34" charset="0"/>
                <a:ea typeface="Segoe UI Emoji" pitchFamily="34" charset="-122"/>
                <a:cs typeface="Segoe UI Emoji" pitchFamily="34" charset="-120"/>
              </a:rPr>
              <a:t>🔄</a:t>
            </a:r>
            <a:endParaRPr lang="en-US" sz="2200" dirty="0"/>
          </a:p>
        </p:txBody>
      </p:sp>
      <p:sp>
        <p:nvSpPr>
          <p:cNvPr id="51" name="Text 49"/>
          <p:cNvSpPr/>
          <p:nvPr/>
        </p:nvSpPr>
        <p:spPr>
          <a:xfrm>
            <a:off x="9601200" y="2907792"/>
            <a:ext cx="1828800" cy="347472"/>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Continue &amp; Manage</a:t>
            </a:r>
            <a:endParaRPr lang="en-US" sz="1150" dirty="0"/>
          </a:p>
        </p:txBody>
      </p:sp>
      <p:sp>
        <p:nvSpPr>
          <p:cNvPr id="52" name="Text 50"/>
          <p:cNvSpPr/>
          <p:nvPr/>
        </p:nvSpPr>
        <p:spPr>
          <a:xfrm>
            <a:off x="9601200" y="3291840"/>
            <a:ext cx="1828800" cy="640080"/>
          </a:xfrm>
          <a:prstGeom prst="rect">
            <a:avLst/>
          </a:prstGeom>
          <a:noFill/>
          <a:ln/>
        </p:spPr>
        <p:txBody>
          <a:bodyPr wrap="square" rtlCol="0" anchor="ctr"/>
          <a:lstStyle/>
          <a:p>
            <a:pPr algn="ctr" indent="0" marL="0">
              <a:buNone/>
            </a:pPr>
            <a:r>
              <a:rPr lang="en-US" sz="950" dirty="0">
                <a:solidFill>
                  <a:srgbClr val="CFD8DC"/>
                </a:solidFill>
                <a:latin typeface="Calibri" pitchFamily="34" charset="0"/>
                <a:ea typeface="Calibri" pitchFamily="34" charset="-122"/>
                <a:cs typeface="Calibri" pitchFamily="34" charset="-120"/>
              </a:rPr>
              <a:t>Follow-up, export,</a:t>
            </a:r>
            <a:endParaRPr lang="en-US" sz="950" dirty="0"/>
          </a:p>
          <a:p>
            <a:pPr algn="ctr" indent="0" marL="0">
              <a:buNone/>
            </a:pPr>
            <a:r>
              <a:rPr lang="en-US" sz="950" dirty="0">
                <a:solidFill>
                  <a:srgbClr val="CFD8DC"/>
                </a:solidFill>
                <a:latin typeface="Calibri" pitchFamily="34" charset="0"/>
                <a:ea typeface="Calibri" pitchFamily="34" charset="-122"/>
                <a:cs typeface="Calibri" pitchFamily="34" charset="-120"/>
              </a:rPr>
              <a:t>switch models</a:t>
            </a:r>
            <a:endParaRPr lang="en-US" sz="950" dirty="0"/>
          </a:p>
        </p:txBody>
      </p:sp>
      <p:sp>
        <p:nvSpPr>
          <p:cNvPr id="53" name="Shape 51"/>
          <p:cNvSpPr/>
          <p:nvPr/>
        </p:nvSpPr>
        <p:spPr>
          <a:xfrm>
            <a:off x="365760" y="4956048"/>
            <a:ext cx="11430000" cy="804672"/>
          </a:xfrm>
          <a:prstGeom prst="roundRect">
            <a:avLst>
              <a:gd name="adj" fmla="val 13636"/>
            </a:avLst>
          </a:prstGeom>
          <a:solidFill>
            <a:srgbClr val="0F1C2E"/>
          </a:solidFill>
          <a:ln w="15240">
            <a:solidFill>
              <a:srgbClr val="253A52"/>
            </a:solidFill>
            <a:prstDash val="solid"/>
          </a:ln>
        </p:spPr>
      </p:sp>
      <p:sp>
        <p:nvSpPr>
          <p:cNvPr id="54" name="Text 52"/>
          <p:cNvSpPr/>
          <p:nvPr/>
        </p:nvSpPr>
        <p:spPr>
          <a:xfrm>
            <a:off x="640080" y="5029200"/>
            <a:ext cx="11064240" cy="658368"/>
          </a:xfrm>
          <a:prstGeom prst="rect">
            <a:avLst/>
          </a:prstGeom>
          <a:noFill/>
          <a:ln/>
        </p:spPr>
        <p:txBody>
          <a:bodyPr wrap="square" rtlCol="0" anchor="ctr"/>
          <a:lstStyle/>
          <a:p>
            <a:pPr indent="0" marL="0">
              <a:buNone/>
            </a:pPr>
            <a:r>
              <a:rPr lang="en-US" sz="1100" dirty="0">
                <a:solidFill>
                  <a:srgbClr val="B0BEC5"/>
                </a:solidFill>
                <a:latin typeface="Calibri" pitchFamily="34" charset="0"/>
                <a:ea typeface="Calibri" pitchFamily="34" charset="-122"/>
                <a:cs typeface="Calibri" pitchFamily="34" charset="-120"/>
              </a:rPr>
              <a:t>🔁  The process is cyclical — you can keep uploading new documents, asking follow-up questions, switching AI models, and exporting results at any time. Your conversation history is preserved across sessions.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HOW IT WORKS</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Step 1 — Create Account  &amp;  Step 2 — Upload Documents</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8 / 20</a:t>
            </a:r>
            <a:endParaRPr lang="en-US" sz="750" dirty="0"/>
          </a:p>
        </p:txBody>
      </p:sp>
      <p:sp>
        <p:nvSpPr>
          <p:cNvPr id="10" name="Shape 8"/>
          <p:cNvSpPr/>
          <p:nvPr/>
        </p:nvSpPr>
        <p:spPr>
          <a:xfrm>
            <a:off x="365760" y="1389888"/>
            <a:ext cx="5440680" cy="4937760"/>
          </a:xfrm>
          <a:prstGeom prst="roundRect">
            <a:avLst>
              <a:gd name="adj" fmla="val 2222"/>
            </a:avLst>
          </a:prstGeom>
          <a:solidFill>
            <a:srgbClr val="162233"/>
          </a:solidFill>
          <a:ln w="15240">
            <a:solidFill>
              <a:srgbClr val="253A52"/>
            </a:solidFill>
            <a:prstDash val="solid"/>
          </a:ln>
        </p:spPr>
      </p:sp>
      <p:sp>
        <p:nvSpPr>
          <p:cNvPr id="11" name="Shape 9"/>
          <p:cNvSpPr/>
          <p:nvPr/>
        </p:nvSpPr>
        <p:spPr>
          <a:xfrm>
            <a:off x="365760" y="1389888"/>
            <a:ext cx="5440680" cy="91440"/>
          </a:xfrm>
          <a:prstGeom prst="rect">
            <a:avLst/>
          </a:prstGeom>
          <a:solidFill>
            <a:srgbClr val="4F8EF7"/>
          </a:solidFill>
          <a:ln w="12700">
            <a:solidFill>
              <a:srgbClr val="333333"/>
            </a:solidFill>
            <a:prstDash val="solid"/>
          </a:ln>
        </p:spPr>
      </p:sp>
      <p:sp>
        <p:nvSpPr>
          <p:cNvPr id="12" name="Shape 10"/>
          <p:cNvSpPr/>
          <p:nvPr/>
        </p:nvSpPr>
        <p:spPr>
          <a:xfrm>
            <a:off x="502920" y="1499616"/>
            <a:ext cx="512064" cy="512064"/>
          </a:xfrm>
          <a:prstGeom prst="ellipse">
            <a:avLst/>
          </a:prstGeom>
          <a:solidFill>
            <a:srgbClr val="4F8EF7"/>
          </a:solidFill>
          <a:ln w="12700">
            <a:solidFill>
              <a:srgbClr val="333333"/>
            </a:solidFill>
            <a:prstDash val="solid"/>
          </a:ln>
        </p:spPr>
      </p:sp>
      <p:sp>
        <p:nvSpPr>
          <p:cNvPr id="13" name="Text 11"/>
          <p:cNvSpPr/>
          <p:nvPr/>
        </p:nvSpPr>
        <p:spPr>
          <a:xfrm>
            <a:off x="502920" y="1499616"/>
            <a:ext cx="512064" cy="51206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4" name="Text 12"/>
          <p:cNvSpPr/>
          <p:nvPr/>
        </p:nvSpPr>
        <p:spPr>
          <a:xfrm>
            <a:off x="1115568" y="1581912"/>
            <a:ext cx="4480560" cy="347472"/>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Create Your Account</a:t>
            </a:r>
            <a:endParaRPr lang="en-US" sz="1500" dirty="0"/>
          </a:p>
        </p:txBody>
      </p:sp>
      <p:sp>
        <p:nvSpPr>
          <p:cNvPr id="15" name="Text 13"/>
          <p:cNvSpPr/>
          <p:nvPr/>
        </p:nvSpPr>
        <p:spPr>
          <a:xfrm>
            <a:off x="594360" y="2057400"/>
            <a:ext cx="5074920" cy="4023360"/>
          </a:xfrm>
          <a:prstGeom prst="rect">
            <a:avLst/>
          </a:prstGeom>
          <a:noFill/>
          <a:ln/>
        </p:spPr>
        <p:txBody>
          <a:bodyPr wrap="square" rtlCol="0" anchor="ctr"/>
          <a:lstStyle/>
          <a:p>
            <a:pPr marL="342900" indent="-342900">
              <a:lnSpc>
                <a:spcPct val="115000"/>
              </a:lnSpc>
              <a:spcBef>
                <a:spcPts val="400"/>
              </a:spcBef>
              <a:spcAft>
                <a:spcPts val="200"/>
              </a:spcAft>
              <a:buSzPct val="100000"/>
              <a:buChar char="●"/>
            </a:pPr>
            <a:r>
              <a:rPr lang="en-US" sz="1150" dirty="0">
                <a:solidFill>
                  <a:srgbClr val="CFD8DC"/>
                </a:solidFill>
                <a:latin typeface="Calibri" pitchFamily="34" charset="0"/>
                <a:ea typeface="Calibri" pitchFamily="34" charset="-122"/>
                <a:cs typeface="Calibri" pitchFamily="34" charset="-120"/>
              </a:rPr>
              <a:t>Visit the application in your web browser</a:t>
            </a:r>
            <a:endParaRPr lang="en-US" sz="1150" dirty="0"/>
          </a:p>
          <a:p>
            <a:pPr marL="342900" indent="-342900">
              <a:lnSpc>
                <a:spcPct val="115000"/>
              </a:lnSpc>
              <a:spcBef>
                <a:spcPts val="400"/>
              </a:spcBef>
              <a:spcAft>
                <a:spcPts val="200"/>
              </a:spcAft>
              <a:buSzPct val="100000"/>
              <a:buChar char="●"/>
            </a:pPr>
            <a:r>
              <a:rPr lang="en-US" sz="1150" dirty="0">
                <a:solidFill>
                  <a:srgbClr val="CFD8DC"/>
                </a:solidFill>
                <a:latin typeface="Calibri" pitchFamily="34" charset="0"/>
                <a:ea typeface="Calibri" pitchFamily="34" charset="-122"/>
                <a:cs typeface="Calibri" pitchFamily="34" charset="-120"/>
              </a:rPr>
              <a:t>Click Register — enter your full name, email, and a password (6+ characters)</a:t>
            </a:r>
            <a:endParaRPr lang="en-US" sz="1150" dirty="0"/>
          </a:p>
          <a:p>
            <a:pPr marL="342900" indent="-342900">
              <a:lnSpc>
                <a:spcPct val="115000"/>
              </a:lnSpc>
              <a:spcBef>
                <a:spcPts val="400"/>
              </a:spcBef>
              <a:spcAft>
                <a:spcPts val="200"/>
              </a:spcAft>
              <a:buSzPct val="100000"/>
              <a:buChar char="●"/>
            </a:pPr>
            <a:r>
              <a:rPr lang="en-US" sz="1150" dirty="0">
                <a:solidFill>
                  <a:srgbClr val="CFD8DC"/>
                </a:solidFill>
                <a:latin typeface="Calibri" pitchFamily="34" charset="0"/>
                <a:ea typeface="Calibri" pitchFamily="34" charset="-122"/>
                <a:cs typeface="Calibri" pitchFamily="34" charset="-120"/>
              </a:rPr>
              <a:t>Your password is encrypted — never stored as plain text</a:t>
            </a:r>
            <a:endParaRPr lang="en-US" sz="1150" dirty="0"/>
          </a:p>
          <a:p>
            <a:pPr marL="342900" indent="-342900">
              <a:lnSpc>
                <a:spcPct val="115000"/>
              </a:lnSpc>
              <a:spcBef>
                <a:spcPts val="400"/>
              </a:spcBef>
              <a:spcAft>
                <a:spcPts val="200"/>
              </a:spcAft>
              <a:buSzPct val="100000"/>
              <a:buChar char="●"/>
            </a:pPr>
            <a:r>
              <a:rPr lang="en-US" sz="1150" dirty="0">
                <a:solidFill>
                  <a:srgbClr val="CFD8DC"/>
                </a:solidFill>
                <a:latin typeface="Calibri" pitchFamily="34" charset="0"/>
                <a:ea typeface="Calibri" pitchFamily="34" charset="-122"/>
                <a:cs typeface="Calibri" pitchFamily="34" charset="-120"/>
              </a:rPr>
              <a:t>After registering, log in with your email and password</a:t>
            </a:r>
            <a:endParaRPr lang="en-US" sz="1150" dirty="0"/>
          </a:p>
          <a:p>
            <a:pPr marL="342900" indent="-342900">
              <a:lnSpc>
                <a:spcPct val="115000"/>
              </a:lnSpc>
              <a:spcBef>
                <a:spcPts val="400"/>
              </a:spcBef>
              <a:spcAft>
                <a:spcPts val="200"/>
              </a:spcAft>
              <a:buSzPct val="100000"/>
              <a:buChar char="●"/>
            </a:pPr>
            <a:r>
              <a:rPr lang="en-US" sz="1150" dirty="0">
                <a:solidFill>
                  <a:srgbClr val="CFD8DC"/>
                </a:solidFill>
                <a:latin typeface="Calibri" pitchFamily="34" charset="0"/>
                <a:ea typeface="Calibri" pitchFamily="34" charset="-122"/>
                <a:cs typeface="Calibri" pitchFamily="34" charset="-120"/>
              </a:rPr>
              <a:t>The system issues a secure session key lasting 7 days — no repeated logins</a:t>
            </a:r>
            <a:endParaRPr lang="en-US" sz="1150" dirty="0"/>
          </a:p>
          <a:p>
            <a:pPr marL="342900" indent="-342900">
              <a:lnSpc>
                <a:spcPct val="115000"/>
              </a:lnSpc>
              <a:spcBef>
                <a:spcPts val="400"/>
              </a:spcBef>
              <a:spcAft>
                <a:spcPts val="200"/>
              </a:spcAft>
              <a:buSzPct val="100000"/>
              <a:buChar char="●"/>
            </a:pPr>
            <a:r>
              <a:rPr lang="en-US" sz="1150" dirty="0">
                <a:solidFill>
                  <a:srgbClr val="CFD8DC"/>
                </a:solidFill>
                <a:latin typeface="Calibri" pitchFamily="34" charset="0"/>
                <a:ea typeface="Calibri" pitchFamily="34" charset="-122"/>
                <a:cs typeface="Calibri" pitchFamily="34" charset="-120"/>
              </a:rPr>
              <a:t>Each account is completely private and isolated from other users</a:t>
            </a:r>
            <a:endParaRPr lang="en-US" sz="1150" dirty="0"/>
          </a:p>
        </p:txBody>
      </p:sp>
      <p:sp>
        <p:nvSpPr>
          <p:cNvPr id="16" name="Shape 14"/>
          <p:cNvSpPr/>
          <p:nvPr/>
        </p:nvSpPr>
        <p:spPr>
          <a:xfrm>
            <a:off x="6080760" y="1389888"/>
            <a:ext cx="5760720" cy="4937760"/>
          </a:xfrm>
          <a:prstGeom prst="roundRect">
            <a:avLst>
              <a:gd name="adj" fmla="val 2222"/>
            </a:avLst>
          </a:prstGeom>
          <a:solidFill>
            <a:srgbClr val="162233"/>
          </a:solidFill>
          <a:ln w="15240">
            <a:solidFill>
              <a:srgbClr val="253A52"/>
            </a:solidFill>
            <a:prstDash val="solid"/>
          </a:ln>
        </p:spPr>
      </p:sp>
      <p:sp>
        <p:nvSpPr>
          <p:cNvPr id="17" name="Shape 15"/>
          <p:cNvSpPr/>
          <p:nvPr/>
        </p:nvSpPr>
        <p:spPr>
          <a:xfrm>
            <a:off x="6080760" y="1389888"/>
            <a:ext cx="5760720" cy="91440"/>
          </a:xfrm>
          <a:prstGeom prst="rect">
            <a:avLst/>
          </a:prstGeom>
          <a:solidFill>
            <a:srgbClr val="00C9A7"/>
          </a:solidFill>
          <a:ln w="12700">
            <a:solidFill>
              <a:srgbClr val="333333"/>
            </a:solidFill>
            <a:prstDash val="solid"/>
          </a:ln>
        </p:spPr>
      </p:sp>
      <p:sp>
        <p:nvSpPr>
          <p:cNvPr id="18" name="Shape 16"/>
          <p:cNvSpPr/>
          <p:nvPr/>
        </p:nvSpPr>
        <p:spPr>
          <a:xfrm>
            <a:off x="6217920" y="1499616"/>
            <a:ext cx="512064" cy="512064"/>
          </a:xfrm>
          <a:prstGeom prst="ellipse">
            <a:avLst/>
          </a:prstGeom>
          <a:solidFill>
            <a:srgbClr val="00C9A7"/>
          </a:solidFill>
          <a:ln w="12700">
            <a:solidFill>
              <a:srgbClr val="333333"/>
            </a:solidFill>
            <a:prstDash val="solid"/>
          </a:ln>
        </p:spPr>
      </p:sp>
      <p:sp>
        <p:nvSpPr>
          <p:cNvPr id="19" name="Text 17"/>
          <p:cNvSpPr/>
          <p:nvPr/>
        </p:nvSpPr>
        <p:spPr>
          <a:xfrm>
            <a:off x="6217920" y="1499616"/>
            <a:ext cx="512064" cy="51206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20" name="Text 18"/>
          <p:cNvSpPr/>
          <p:nvPr/>
        </p:nvSpPr>
        <p:spPr>
          <a:xfrm>
            <a:off x="6839712" y="1581912"/>
            <a:ext cx="4846320" cy="347472"/>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Upload Your Documents</a:t>
            </a:r>
            <a:endParaRPr lang="en-US" sz="1500" dirty="0"/>
          </a:p>
        </p:txBody>
      </p:sp>
      <p:sp>
        <p:nvSpPr>
          <p:cNvPr id="21" name="Text 19"/>
          <p:cNvSpPr/>
          <p:nvPr/>
        </p:nvSpPr>
        <p:spPr>
          <a:xfrm>
            <a:off x="6291072" y="2075688"/>
            <a:ext cx="5303520" cy="274320"/>
          </a:xfrm>
          <a:prstGeom prst="rect">
            <a:avLst/>
          </a:prstGeom>
          <a:noFill/>
          <a:ln/>
        </p:spPr>
        <p:txBody>
          <a:bodyPr wrap="square" rtlCol="0" anchor="ctr"/>
          <a:lstStyle/>
          <a:p>
            <a:pPr indent="0" marL="0">
              <a:buNone/>
            </a:pPr>
            <a:r>
              <a:rPr lang="en-US" sz="1100" b="1" dirty="0">
                <a:solidFill>
                  <a:srgbClr val="00C9A7"/>
                </a:solidFill>
                <a:latin typeface="Calibri" pitchFamily="34" charset="0"/>
                <a:ea typeface="Calibri" pitchFamily="34" charset="-122"/>
                <a:cs typeface="Calibri" pitchFamily="34" charset="-120"/>
              </a:rPr>
              <a:t>What happens behind the scenes:</a:t>
            </a:r>
            <a:endParaRPr lang="en-US" sz="1100" dirty="0"/>
          </a:p>
        </p:txBody>
      </p:sp>
      <p:sp>
        <p:nvSpPr>
          <p:cNvPr id="22" name="Shape 20"/>
          <p:cNvSpPr/>
          <p:nvPr/>
        </p:nvSpPr>
        <p:spPr>
          <a:xfrm>
            <a:off x="6190488" y="2377440"/>
            <a:ext cx="329184" cy="329184"/>
          </a:xfrm>
          <a:prstGeom prst="ellipse">
            <a:avLst/>
          </a:prstGeom>
          <a:solidFill>
            <a:srgbClr val="00C9A7"/>
          </a:solidFill>
          <a:ln w="12700">
            <a:solidFill>
              <a:srgbClr val="333333"/>
            </a:solidFill>
            <a:prstDash val="solid"/>
          </a:ln>
        </p:spPr>
      </p:sp>
      <p:sp>
        <p:nvSpPr>
          <p:cNvPr id="23" name="Text 21"/>
          <p:cNvSpPr/>
          <p:nvPr/>
        </p:nvSpPr>
        <p:spPr>
          <a:xfrm>
            <a:off x="6190488" y="23774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Text 22"/>
          <p:cNvSpPr/>
          <p:nvPr/>
        </p:nvSpPr>
        <p:spPr>
          <a:xfrm>
            <a:off x="6629400" y="2414016"/>
            <a:ext cx="5074920" cy="47548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Document is securely received by the server</a:t>
            </a:r>
            <a:endParaRPr lang="en-US" sz="1100" dirty="0"/>
          </a:p>
        </p:txBody>
      </p:sp>
      <p:sp>
        <p:nvSpPr>
          <p:cNvPr id="25" name="Shape 23"/>
          <p:cNvSpPr/>
          <p:nvPr/>
        </p:nvSpPr>
        <p:spPr>
          <a:xfrm>
            <a:off x="6190488" y="2971800"/>
            <a:ext cx="329184" cy="329184"/>
          </a:xfrm>
          <a:prstGeom prst="ellipse">
            <a:avLst/>
          </a:prstGeom>
          <a:solidFill>
            <a:srgbClr val="00C9A7"/>
          </a:solidFill>
          <a:ln w="12700">
            <a:solidFill>
              <a:srgbClr val="333333"/>
            </a:solidFill>
            <a:prstDash val="solid"/>
          </a:ln>
        </p:spPr>
      </p:sp>
      <p:sp>
        <p:nvSpPr>
          <p:cNvPr id="26" name="Text 24"/>
          <p:cNvSpPr/>
          <p:nvPr/>
        </p:nvSpPr>
        <p:spPr>
          <a:xfrm>
            <a:off x="6190488" y="297180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7" name="Text 25"/>
          <p:cNvSpPr/>
          <p:nvPr/>
        </p:nvSpPr>
        <p:spPr>
          <a:xfrm>
            <a:off x="6629400" y="3008376"/>
            <a:ext cx="5074920" cy="47548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Text is extracted from PDF pages, spreadsheet cells, or images</a:t>
            </a:r>
            <a:endParaRPr lang="en-US" sz="1100" dirty="0"/>
          </a:p>
        </p:txBody>
      </p:sp>
      <p:sp>
        <p:nvSpPr>
          <p:cNvPr id="28" name="Shape 26"/>
          <p:cNvSpPr/>
          <p:nvPr/>
        </p:nvSpPr>
        <p:spPr>
          <a:xfrm>
            <a:off x="6190488" y="3566160"/>
            <a:ext cx="329184" cy="329184"/>
          </a:xfrm>
          <a:prstGeom prst="ellipse">
            <a:avLst/>
          </a:prstGeom>
          <a:solidFill>
            <a:srgbClr val="00C9A7"/>
          </a:solidFill>
          <a:ln w="12700">
            <a:solidFill>
              <a:srgbClr val="333333"/>
            </a:solidFill>
            <a:prstDash val="solid"/>
          </a:ln>
        </p:spPr>
      </p:sp>
      <p:sp>
        <p:nvSpPr>
          <p:cNvPr id="29" name="Text 27"/>
          <p:cNvSpPr/>
          <p:nvPr/>
        </p:nvSpPr>
        <p:spPr>
          <a:xfrm>
            <a:off x="6190488" y="356616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0" name="Text 28"/>
          <p:cNvSpPr/>
          <p:nvPr/>
        </p:nvSpPr>
        <p:spPr>
          <a:xfrm>
            <a:off x="6629400" y="3602736"/>
            <a:ext cx="5074920" cy="47548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Content is split into small chunks (like cutting a book into paragraphs)</a:t>
            </a:r>
            <a:endParaRPr lang="en-US" sz="1100" dirty="0"/>
          </a:p>
        </p:txBody>
      </p:sp>
      <p:sp>
        <p:nvSpPr>
          <p:cNvPr id="31" name="Shape 29"/>
          <p:cNvSpPr/>
          <p:nvPr/>
        </p:nvSpPr>
        <p:spPr>
          <a:xfrm>
            <a:off x="6190488" y="4160520"/>
            <a:ext cx="329184" cy="329184"/>
          </a:xfrm>
          <a:prstGeom prst="ellipse">
            <a:avLst/>
          </a:prstGeom>
          <a:solidFill>
            <a:srgbClr val="00C9A7"/>
          </a:solidFill>
          <a:ln w="12700">
            <a:solidFill>
              <a:srgbClr val="333333"/>
            </a:solidFill>
            <a:prstDash val="solid"/>
          </a:ln>
        </p:spPr>
      </p:sp>
      <p:sp>
        <p:nvSpPr>
          <p:cNvPr id="32" name="Text 30"/>
          <p:cNvSpPr/>
          <p:nvPr/>
        </p:nvSpPr>
        <p:spPr>
          <a:xfrm>
            <a:off x="6190488" y="416052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3" name="Text 31"/>
          <p:cNvSpPr/>
          <p:nvPr/>
        </p:nvSpPr>
        <p:spPr>
          <a:xfrm>
            <a:off x="6629400" y="4197096"/>
            <a:ext cx="5074920" cy="47548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Each chunk is converted into a unique AI fingerprint ("embedding")</a:t>
            </a:r>
            <a:endParaRPr lang="en-US" sz="1100" dirty="0"/>
          </a:p>
        </p:txBody>
      </p:sp>
      <p:sp>
        <p:nvSpPr>
          <p:cNvPr id="34" name="Shape 32"/>
          <p:cNvSpPr/>
          <p:nvPr/>
        </p:nvSpPr>
        <p:spPr>
          <a:xfrm>
            <a:off x="6190488" y="4754880"/>
            <a:ext cx="329184" cy="329184"/>
          </a:xfrm>
          <a:prstGeom prst="ellipse">
            <a:avLst/>
          </a:prstGeom>
          <a:solidFill>
            <a:srgbClr val="00C9A7"/>
          </a:solidFill>
          <a:ln w="12700">
            <a:solidFill>
              <a:srgbClr val="333333"/>
            </a:solidFill>
            <a:prstDash val="solid"/>
          </a:ln>
        </p:spPr>
      </p:sp>
      <p:sp>
        <p:nvSpPr>
          <p:cNvPr id="35" name="Text 33"/>
          <p:cNvSpPr/>
          <p:nvPr/>
        </p:nvSpPr>
        <p:spPr>
          <a:xfrm>
            <a:off x="6190488" y="475488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6" name="Text 34"/>
          <p:cNvSpPr/>
          <p:nvPr/>
        </p:nvSpPr>
        <p:spPr>
          <a:xfrm>
            <a:off x="6629400" y="4791456"/>
            <a:ext cx="5074920" cy="47548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Fingerprints are stored in your private document index</a:t>
            </a:r>
            <a:endParaRPr lang="en-US" sz="1100" dirty="0"/>
          </a:p>
        </p:txBody>
      </p:sp>
      <p:sp>
        <p:nvSpPr>
          <p:cNvPr id="37" name="Shape 35"/>
          <p:cNvSpPr/>
          <p:nvPr/>
        </p:nvSpPr>
        <p:spPr>
          <a:xfrm>
            <a:off x="6190488" y="5349240"/>
            <a:ext cx="329184" cy="329184"/>
          </a:xfrm>
          <a:prstGeom prst="ellipse">
            <a:avLst/>
          </a:prstGeom>
          <a:solidFill>
            <a:srgbClr val="00C9A7"/>
          </a:solidFill>
          <a:ln w="12700">
            <a:solidFill>
              <a:srgbClr val="333333"/>
            </a:solidFill>
            <a:prstDash val="solid"/>
          </a:ln>
        </p:spPr>
      </p:sp>
      <p:sp>
        <p:nvSpPr>
          <p:cNvPr id="38" name="Text 36"/>
          <p:cNvSpPr/>
          <p:nvPr/>
        </p:nvSpPr>
        <p:spPr>
          <a:xfrm>
            <a:off x="6190488" y="5349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9" name="Text 37"/>
          <p:cNvSpPr/>
          <p:nvPr/>
        </p:nvSpPr>
        <p:spPr>
          <a:xfrm>
            <a:off x="6629400" y="5385816"/>
            <a:ext cx="5074920" cy="47548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AI auto-generates a short summary of the document</a:t>
            </a:r>
            <a:endParaRPr lang="en-US" sz="1100" dirty="0"/>
          </a:p>
        </p:txBody>
      </p:sp>
      <p:sp>
        <p:nvSpPr>
          <p:cNvPr id="40" name="Text 38"/>
          <p:cNvSpPr/>
          <p:nvPr/>
        </p:nvSpPr>
        <p:spPr>
          <a:xfrm>
            <a:off x="6108192" y="5779008"/>
            <a:ext cx="5687568" cy="438912"/>
          </a:xfrm>
          <a:prstGeom prst="rect">
            <a:avLst/>
          </a:prstGeom>
          <a:noFill/>
          <a:ln/>
        </p:spPr>
        <p:txBody>
          <a:bodyPr wrap="square" rtlCol="0" anchor="t"/>
          <a:lstStyle/>
          <a:p>
            <a:pPr algn="l" indent="0" marL="0">
              <a:buNone/>
            </a:pPr>
            <a:r>
              <a:rPr lang="en-US" sz="950" dirty="0">
                <a:solidFill>
                  <a:srgbClr val="B0BEC5"/>
                </a:solidFill>
                <a:latin typeface="Calibri" pitchFamily="34" charset="0"/>
                <a:ea typeface="Calibri" pitchFamily="34" charset="-122"/>
                <a:cs typeface="Calibri" pitchFamily="34" charset="-120"/>
              </a:rPr>
              <a:t>Accepts: PDF · TXT · XLSX · XLS · PNG · JPG · JPEG · GIF · WEBP</a:t>
            </a:r>
            <a:endParaRPr lang="en-US" sz="950" dirty="0"/>
          </a:p>
          <a:p>
            <a:pPr algn="l" indent="0" marL="0">
              <a:buNone/>
            </a:pPr>
            <a:r>
              <a:rPr lang="en-US" sz="950" dirty="0">
                <a:solidFill>
                  <a:srgbClr val="B0BEC5"/>
                </a:solidFill>
                <a:latin typeface="Calibri" pitchFamily="34" charset="0"/>
                <a:ea typeface="Calibri" pitchFamily="34" charset="-122"/>
                <a:cs typeface="Calibri" pitchFamily="34" charset="-120"/>
              </a:rPr>
              <a:t>Limit: 50 MB per file · Up to 5 documents per account</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HOW IT WORKS</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Step 3 — Ask a Question  &amp;  Step 4 — The Answer</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9 / 20</a:t>
            </a:r>
            <a:endParaRPr lang="en-US" sz="750" dirty="0"/>
          </a:p>
        </p:txBody>
      </p:sp>
      <p:sp>
        <p:nvSpPr>
          <p:cNvPr id="10" name="Shape 8"/>
          <p:cNvSpPr/>
          <p:nvPr/>
        </p:nvSpPr>
        <p:spPr>
          <a:xfrm>
            <a:off x="365760" y="1389888"/>
            <a:ext cx="5440680" cy="4937760"/>
          </a:xfrm>
          <a:prstGeom prst="roundRect">
            <a:avLst>
              <a:gd name="adj" fmla="val 2222"/>
            </a:avLst>
          </a:prstGeom>
          <a:solidFill>
            <a:srgbClr val="162233"/>
          </a:solidFill>
          <a:ln w="15240">
            <a:solidFill>
              <a:srgbClr val="253A52"/>
            </a:solidFill>
            <a:prstDash val="solid"/>
          </a:ln>
        </p:spPr>
      </p:sp>
      <p:sp>
        <p:nvSpPr>
          <p:cNvPr id="11" name="Shape 9"/>
          <p:cNvSpPr/>
          <p:nvPr/>
        </p:nvSpPr>
        <p:spPr>
          <a:xfrm>
            <a:off x="365760" y="1389888"/>
            <a:ext cx="5440680" cy="91440"/>
          </a:xfrm>
          <a:prstGeom prst="rect">
            <a:avLst/>
          </a:prstGeom>
          <a:solidFill>
            <a:srgbClr val="6C63FF"/>
          </a:solidFill>
          <a:ln w="12700">
            <a:solidFill>
              <a:srgbClr val="333333"/>
            </a:solidFill>
            <a:prstDash val="solid"/>
          </a:ln>
        </p:spPr>
      </p:sp>
      <p:sp>
        <p:nvSpPr>
          <p:cNvPr id="12" name="Shape 10"/>
          <p:cNvSpPr/>
          <p:nvPr/>
        </p:nvSpPr>
        <p:spPr>
          <a:xfrm>
            <a:off x="502920" y="1499616"/>
            <a:ext cx="512064" cy="512064"/>
          </a:xfrm>
          <a:prstGeom prst="ellipse">
            <a:avLst/>
          </a:prstGeom>
          <a:solidFill>
            <a:srgbClr val="6C63FF"/>
          </a:solidFill>
          <a:ln w="12700">
            <a:solidFill>
              <a:srgbClr val="333333"/>
            </a:solidFill>
            <a:prstDash val="solid"/>
          </a:ln>
        </p:spPr>
      </p:sp>
      <p:sp>
        <p:nvSpPr>
          <p:cNvPr id="13" name="Text 11"/>
          <p:cNvSpPr/>
          <p:nvPr/>
        </p:nvSpPr>
        <p:spPr>
          <a:xfrm>
            <a:off x="502920" y="1499616"/>
            <a:ext cx="512064" cy="51206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14" name="Text 12"/>
          <p:cNvSpPr/>
          <p:nvPr/>
        </p:nvSpPr>
        <p:spPr>
          <a:xfrm>
            <a:off x="1115568" y="1581912"/>
            <a:ext cx="4480560" cy="347472"/>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Ask Your Question</a:t>
            </a:r>
            <a:endParaRPr lang="en-US" sz="1500" dirty="0"/>
          </a:p>
        </p:txBody>
      </p:sp>
      <p:sp>
        <p:nvSpPr>
          <p:cNvPr id="15" name="Text 13"/>
          <p:cNvSpPr/>
          <p:nvPr/>
        </p:nvSpPr>
        <p:spPr>
          <a:xfrm>
            <a:off x="566928" y="2075688"/>
            <a:ext cx="5074920" cy="274320"/>
          </a:xfrm>
          <a:prstGeom prst="rect">
            <a:avLst/>
          </a:prstGeom>
          <a:noFill/>
          <a:ln/>
        </p:spPr>
        <p:txBody>
          <a:bodyPr wrap="square" rtlCol="0" anchor="ctr"/>
          <a:lstStyle/>
          <a:p>
            <a:pPr indent="0" marL="0">
              <a:buNone/>
            </a:pPr>
            <a:r>
              <a:rPr lang="en-US" sz="1100" b="1" dirty="0">
                <a:solidFill>
                  <a:srgbClr val="6C63FF"/>
                </a:solidFill>
                <a:latin typeface="Calibri" pitchFamily="34" charset="0"/>
                <a:ea typeface="Calibri" pitchFamily="34" charset="-122"/>
                <a:cs typeface="Calibri" pitchFamily="34" charset="-120"/>
              </a:rPr>
              <a:t>What happens when you press Send:</a:t>
            </a:r>
            <a:endParaRPr lang="en-US" sz="1100" dirty="0"/>
          </a:p>
        </p:txBody>
      </p:sp>
      <p:sp>
        <p:nvSpPr>
          <p:cNvPr id="16" name="Shape 14"/>
          <p:cNvSpPr/>
          <p:nvPr/>
        </p:nvSpPr>
        <p:spPr>
          <a:xfrm>
            <a:off x="429768" y="2359152"/>
            <a:ext cx="329184" cy="329184"/>
          </a:xfrm>
          <a:prstGeom prst="ellipse">
            <a:avLst/>
          </a:prstGeom>
          <a:solidFill>
            <a:srgbClr val="6C63FF"/>
          </a:solidFill>
          <a:ln w="12700">
            <a:solidFill>
              <a:srgbClr val="333333"/>
            </a:solidFill>
            <a:prstDash val="solid"/>
          </a:ln>
        </p:spPr>
      </p:sp>
      <p:sp>
        <p:nvSpPr>
          <p:cNvPr id="17" name="Text 15"/>
          <p:cNvSpPr/>
          <p:nvPr/>
        </p:nvSpPr>
        <p:spPr>
          <a:xfrm>
            <a:off x="429768" y="2359152"/>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6"/>
          <p:cNvSpPr/>
          <p:nvPr/>
        </p:nvSpPr>
        <p:spPr>
          <a:xfrm>
            <a:off x="868680" y="2395728"/>
            <a:ext cx="4800600" cy="47548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Your question is sent securely to the server</a:t>
            </a:r>
            <a:endParaRPr lang="en-US" sz="1100" dirty="0"/>
          </a:p>
        </p:txBody>
      </p:sp>
      <p:sp>
        <p:nvSpPr>
          <p:cNvPr id="19" name="Shape 17"/>
          <p:cNvSpPr/>
          <p:nvPr/>
        </p:nvSpPr>
        <p:spPr>
          <a:xfrm>
            <a:off x="429768" y="2953512"/>
            <a:ext cx="329184" cy="329184"/>
          </a:xfrm>
          <a:prstGeom prst="ellipse">
            <a:avLst/>
          </a:prstGeom>
          <a:solidFill>
            <a:srgbClr val="6C63FF"/>
          </a:solidFill>
          <a:ln w="12700">
            <a:solidFill>
              <a:srgbClr val="333333"/>
            </a:solidFill>
            <a:prstDash val="solid"/>
          </a:ln>
        </p:spPr>
      </p:sp>
      <p:sp>
        <p:nvSpPr>
          <p:cNvPr id="20" name="Text 18"/>
          <p:cNvSpPr/>
          <p:nvPr/>
        </p:nvSpPr>
        <p:spPr>
          <a:xfrm>
            <a:off x="429768" y="2953512"/>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Text 19"/>
          <p:cNvSpPr/>
          <p:nvPr/>
        </p:nvSpPr>
        <p:spPr>
          <a:xfrm>
            <a:off x="868680" y="2990088"/>
            <a:ext cx="4800600" cy="47548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The system generates 2–3 alternative phrasings to improve accuracy</a:t>
            </a:r>
            <a:endParaRPr lang="en-US" sz="1100" dirty="0"/>
          </a:p>
        </p:txBody>
      </p:sp>
      <p:sp>
        <p:nvSpPr>
          <p:cNvPr id="22" name="Shape 20"/>
          <p:cNvSpPr/>
          <p:nvPr/>
        </p:nvSpPr>
        <p:spPr>
          <a:xfrm>
            <a:off x="429768" y="3547872"/>
            <a:ext cx="329184" cy="329184"/>
          </a:xfrm>
          <a:prstGeom prst="ellipse">
            <a:avLst/>
          </a:prstGeom>
          <a:solidFill>
            <a:srgbClr val="6C63FF"/>
          </a:solidFill>
          <a:ln w="12700">
            <a:solidFill>
              <a:srgbClr val="333333"/>
            </a:solidFill>
            <a:prstDash val="solid"/>
          </a:ln>
        </p:spPr>
      </p:sp>
      <p:sp>
        <p:nvSpPr>
          <p:cNvPr id="23" name="Text 21"/>
          <p:cNvSpPr/>
          <p:nvPr/>
        </p:nvSpPr>
        <p:spPr>
          <a:xfrm>
            <a:off x="429768" y="3547872"/>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4" name="Text 22"/>
          <p:cNvSpPr/>
          <p:nvPr/>
        </p:nvSpPr>
        <p:spPr>
          <a:xfrm>
            <a:off x="868680" y="3584448"/>
            <a:ext cx="4800600" cy="47548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It searches your document index for the most relevant sections</a:t>
            </a:r>
            <a:endParaRPr lang="en-US" sz="1100" dirty="0"/>
          </a:p>
        </p:txBody>
      </p:sp>
      <p:sp>
        <p:nvSpPr>
          <p:cNvPr id="25" name="Shape 23"/>
          <p:cNvSpPr/>
          <p:nvPr/>
        </p:nvSpPr>
        <p:spPr>
          <a:xfrm>
            <a:off x="429768" y="4142232"/>
            <a:ext cx="329184" cy="329184"/>
          </a:xfrm>
          <a:prstGeom prst="ellipse">
            <a:avLst/>
          </a:prstGeom>
          <a:solidFill>
            <a:srgbClr val="6C63FF"/>
          </a:solidFill>
          <a:ln w="12700">
            <a:solidFill>
              <a:srgbClr val="333333"/>
            </a:solidFill>
            <a:prstDash val="solid"/>
          </a:ln>
        </p:spPr>
      </p:sp>
      <p:sp>
        <p:nvSpPr>
          <p:cNvPr id="26" name="Text 24"/>
          <p:cNvSpPr/>
          <p:nvPr/>
        </p:nvSpPr>
        <p:spPr>
          <a:xfrm>
            <a:off x="429768" y="4142232"/>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7" name="Text 25"/>
          <p:cNvSpPr/>
          <p:nvPr/>
        </p:nvSpPr>
        <p:spPr>
          <a:xfrm>
            <a:off x="868680" y="4178808"/>
            <a:ext cx="4800600" cy="47548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Top matching sections are retrieved (default: 4 sections)</a:t>
            </a:r>
            <a:endParaRPr lang="en-US" sz="1100" dirty="0"/>
          </a:p>
        </p:txBody>
      </p:sp>
      <p:sp>
        <p:nvSpPr>
          <p:cNvPr id="28" name="Shape 26"/>
          <p:cNvSpPr/>
          <p:nvPr/>
        </p:nvSpPr>
        <p:spPr>
          <a:xfrm>
            <a:off x="429768" y="4736592"/>
            <a:ext cx="329184" cy="329184"/>
          </a:xfrm>
          <a:prstGeom prst="ellipse">
            <a:avLst/>
          </a:prstGeom>
          <a:solidFill>
            <a:srgbClr val="6C63FF"/>
          </a:solidFill>
          <a:ln w="12700">
            <a:solidFill>
              <a:srgbClr val="333333"/>
            </a:solidFill>
            <a:prstDash val="solid"/>
          </a:ln>
        </p:spPr>
      </p:sp>
      <p:sp>
        <p:nvSpPr>
          <p:cNvPr id="29" name="Text 27"/>
          <p:cNvSpPr/>
          <p:nvPr/>
        </p:nvSpPr>
        <p:spPr>
          <a:xfrm>
            <a:off x="429768" y="4736592"/>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8"/>
          <p:cNvSpPr/>
          <p:nvPr/>
        </p:nvSpPr>
        <p:spPr>
          <a:xfrm>
            <a:off x="868680" y="4773168"/>
            <a:ext cx="4800600" cy="47548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Your question + context + conversation history are sent to the AI</a:t>
            </a:r>
            <a:endParaRPr lang="en-US" sz="1100" dirty="0"/>
          </a:p>
        </p:txBody>
      </p:sp>
      <p:sp>
        <p:nvSpPr>
          <p:cNvPr id="31" name="Shape 29"/>
          <p:cNvSpPr/>
          <p:nvPr/>
        </p:nvSpPr>
        <p:spPr>
          <a:xfrm>
            <a:off x="429768" y="5330952"/>
            <a:ext cx="329184" cy="329184"/>
          </a:xfrm>
          <a:prstGeom prst="ellipse">
            <a:avLst/>
          </a:prstGeom>
          <a:solidFill>
            <a:srgbClr val="6C63FF"/>
          </a:solidFill>
          <a:ln w="12700">
            <a:solidFill>
              <a:srgbClr val="333333"/>
            </a:solidFill>
            <a:prstDash val="solid"/>
          </a:ln>
        </p:spPr>
      </p:sp>
      <p:sp>
        <p:nvSpPr>
          <p:cNvPr id="32" name="Text 30"/>
          <p:cNvSpPr/>
          <p:nvPr/>
        </p:nvSpPr>
        <p:spPr>
          <a:xfrm>
            <a:off x="429768" y="5330952"/>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1"/>
          <p:cNvSpPr/>
          <p:nvPr/>
        </p:nvSpPr>
        <p:spPr>
          <a:xfrm>
            <a:off x="868680" y="5367528"/>
            <a:ext cx="4800600" cy="47548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The AI begins generating its answer</a:t>
            </a:r>
            <a:endParaRPr lang="en-US" sz="1100" dirty="0"/>
          </a:p>
        </p:txBody>
      </p:sp>
      <p:sp>
        <p:nvSpPr>
          <p:cNvPr id="34" name="Text 32"/>
          <p:cNvSpPr/>
          <p:nvPr/>
        </p:nvSpPr>
        <p:spPr>
          <a:xfrm>
            <a:off x="566928" y="5806440"/>
            <a:ext cx="5074920" cy="320040"/>
          </a:xfrm>
          <a:prstGeom prst="rect">
            <a:avLst/>
          </a:prstGeom>
          <a:noFill/>
          <a:ln/>
        </p:spPr>
        <p:txBody>
          <a:bodyPr wrap="square" rtlCol="0" anchor="t"/>
          <a:lstStyle/>
          <a:p>
            <a:pPr algn="l" indent="0" marL="0">
              <a:buNone/>
            </a:pPr>
            <a:r>
              <a:rPr lang="en-US" sz="950" i="1" dirty="0">
                <a:solidFill>
                  <a:srgbClr val="B0BEC5"/>
                </a:solidFill>
                <a:latin typeface="Calibri" pitchFamily="34" charset="0"/>
                <a:ea typeface="Calibri" pitchFamily="34" charset="-122"/>
                <a:cs typeface="Calibri" pitchFamily="34" charset="-120"/>
              </a:rPr>
              <a:t>You can also restrict questions to a specific document using the file filter.</a:t>
            </a:r>
            <a:endParaRPr lang="en-US" sz="950" dirty="0"/>
          </a:p>
        </p:txBody>
      </p:sp>
      <p:sp>
        <p:nvSpPr>
          <p:cNvPr id="35" name="Shape 33"/>
          <p:cNvSpPr/>
          <p:nvPr/>
        </p:nvSpPr>
        <p:spPr>
          <a:xfrm>
            <a:off x="6080760" y="1389888"/>
            <a:ext cx="5760720" cy="4937760"/>
          </a:xfrm>
          <a:prstGeom prst="roundRect">
            <a:avLst>
              <a:gd name="adj" fmla="val 2222"/>
            </a:avLst>
          </a:prstGeom>
          <a:solidFill>
            <a:srgbClr val="162233"/>
          </a:solidFill>
          <a:ln w="15240">
            <a:solidFill>
              <a:srgbClr val="253A52"/>
            </a:solidFill>
            <a:prstDash val="solid"/>
          </a:ln>
        </p:spPr>
      </p:sp>
      <p:sp>
        <p:nvSpPr>
          <p:cNvPr id="36" name="Shape 34"/>
          <p:cNvSpPr/>
          <p:nvPr/>
        </p:nvSpPr>
        <p:spPr>
          <a:xfrm>
            <a:off x="6080760" y="1389888"/>
            <a:ext cx="5760720" cy="91440"/>
          </a:xfrm>
          <a:prstGeom prst="rect">
            <a:avLst/>
          </a:prstGeom>
          <a:solidFill>
            <a:srgbClr val="FF6B35"/>
          </a:solidFill>
          <a:ln w="12700">
            <a:solidFill>
              <a:srgbClr val="333333"/>
            </a:solidFill>
            <a:prstDash val="solid"/>
          </a:ln>
        </p:spPr>
      </p:sp>
      <p:sp>
        <p:nvSpPr>
          <p:cNvPr id="37" name="Shape 35"/>
          <p:cNvSpPr/>
          <p:nvPr/>
        </p:nvSpPr>
        <p:spPr>
          <a:xfrm>
            <a:off x="6217920" y="1499616"/>
            <a:ext cx="512064" cy="512064"/>
          </a:xfrm>
          <a:prstGeom prst="ellipse">
            <a:avLst/>
          </a:prstGeom>
          <a:solidFill>
            <a:srgbClr val="FF6B35"/>
          </a:solidFill>
          <a:ln w="12700">
            <a:solidFill>
              <a:srgbClr val="333333"/>
            </a:solidFill>
            <a:prstDash val="solid"/>
          </a:ln>
        </p:spPr>
      </p:sp>
      <p:sp>
        <p:nvSpPr>
          <p:cNvPr id="38" name="Text 36"/>
          <p:cNvSpPr/>
          <p:nvPr/>
        </p:nvSpPr>
        <p:spPr>
          <a:xfrm>
            <a:off x="6217920" y="1499616"/>
            <a:ext cx="512064" cy="51206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04</a:t>
            </a:r>
            <a:endParaRPr lang="en-US" sz="1100" dirty="0"/>
          </a:p>
        </p:txBody>
      </p:sp>
      <p:sp>
        <p:nvSpPr>
          <p:cNvPr id="39" name="Text 37"/>
          <p:cNvSpPr/>
          <p:nvPr/>
        </p:nvSpPr>
        <p:spPr>
          <a:xfrm>
            <a:off x="6839712" y="1581912"/>
            <a:ext cx="4846320" cy="347472"/>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You Receive</a:t>
            </a:r>
            <a:endParaRPr lang="en-US" sz="1500" dirty="0"/>
          </a:p>
        </p:txBody>
      </p:sp>
      <p:sp>
        <p:nvSpPr>
          <p:cNvPr id="40" name="Shape 38"/>
          <p:cNvSpPr/>
          <p:nvPr/>
        </p:nvSpPr>
        <p:spPr>
          <a:xfrm>
            <a:off x="6236208" y="2084832"/>
            <a:ext cx="5440680" cy="868680"/>
          </a:xfrm>
          <a:prstGeom prst="roundRect">
            <a:avLst>
              <a:gd name="adj" fmla="val 12632"/>
            </a:avLst>
          </a:prstGeom>
          <a:solidFill>
            <a:srgbClr val="0F1C2E"/>
          </a:solidFill>
          <a:ln w="15240">
            <a:solidFill>
              <a:srgbClr val="253A52"/>
            </a:solidFill>
            <a:prstDash val="solid"/>
          </a:ln>
        </p:spPr>
      </p:sp>
      <p:sp>
        <p:nvSpPr>
          <p:cNvPr id="41" name="Shape 39"/>
          <p:cNvSpPr/>
          <p:nvPr/>
        </p:nvSpPr>
        <p:spPr>
          <a:xfrm>
            <a:off x="6272784" y="2263140"/>
            <a:ext cx="512064" cy="512064"/>
          </a:xfrm>
          <a:prstGeom prst="ellipse">
            <a:avLst/>
          </a:prstGeom>
          <a:solidFill>
            <a:srgbClr val="FF6B35"/>
          </a:solidFill>
          <a:ln w="12700">
            <a:solidFill>
              <a:srgbClr val="333333"/>
            </a:solidFill>
            <a:prstDash val="solid"/>
          </a:ln>
        </p:spPr>
      </p:sp>
      <p:sp>
        <p:nvSpPr>
          <p:cNvPr id="42" name="Text 40"/>
          <p:cNvSpPr/>
          <p:nvPr/>
        </p:nvSpPr>
        <p:spPr>
          <a:xfrm>
            <a:off x="6272784" y="2263140"/>
            <a:ext cx="512064" cy="512064"/>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43" name="Text 41"/>
          <p:cNvSpPr/>
          <p:nvPr/>
        </p:nvSpPr>
        <p:spPr>
          <a:xfrm>
            <a:off x="6903720" y="2157984"/>
            <a:ext cx="4572000"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Live Answer</a:t>
            </a:r>
            <a:endParaRPr lang="en-US" sz="1200" dirty="0"/>
          </a:p>
        </p:txBody>
      </p:sp>
      <p:sp>
        <p:nvSpPr>
          <p:cNvPr id="44" name="Text 42"/>
          <p:cNvSpPr/>
          <p:nvPr/>
        </p:nvSpPr>
        <p:spPr>
          <a:xfrm>
            <a:off x="6903720" y="2468880"/>
            <a:ext cx="4572000" cy="384048"/>
          </a:xfrm>
          <a:prstGeom prst="rect">
            <a:avLst/>
          </a:prstGeom>
          <a:noFill/>
          <a:ln/>
        </p:spPr>
        <p:txBody>
          <a:bodyPr wrap="square" rtlCol="0" anchor="t"/>
          <a:lstStyle/>
          <a:p>
            <a:pPr algn="l" indent="0" marL="0">
              <a:buNone/>
            </a:pPr>
            <a:r>
              <a:rPr lang="en-US" sz="1050" dirty="0">
                <a:solidFill>
                  <a:srgbClr val="CFD8DC"/>
                </a:solidFill>
                <a:latin typeface="Calibri" pitchFamily="34" charset="0"/>
                <a:ea typeface="Calibri" pitchFamily="34" charset="-122"/>
                <a:cs typeface="Calibri" pitchFamily="34" charset="-120"/>
              </a:rPr>
              <a:t>Words stream in real time as the AI formulates its response</a:t>
            </a:r>
            <a:endParaRPr lang="en-US" sz="1050" dirty="0"/>
          </a:p>
        </p:txBody>
      </p:sp>
      <p:sp>
        <p:nvSpPr>
          <p:cNvPr id="45" name="Shape 43"/>
          <p:cNvSpPr/>
          <p:nvPr/>
        </p:nvSpPr>
        <p:spPr>
          <a:xfrm>
            <a:off x="6236208" y="3108960"/>
            <a:ext cx="5440680" cy="868680"/>
          </a:xfrm>
          <a:prstGeom prst="roundRect">
            <a:avLst>
              <a:gd name="adj" fmla="val 12632"/>
            </a:avLst>
          </a:prstGeom>
          <a:solidFill>
            <a:srgbClr val="0F1C2E"/>
          </a:solidFill>
          <a:ln w="15240">
            <a:solidFill>
              <a:srgbClr val="253A52"/>
            </a:solidFill>
            <a:prstDash val="solid"/>
          </a:ln>
        </p:spPr>
      </p:sp>
      <p:sp>
        <p:nvSpPr>
          <p:cNvPr id="46" name="Shape 44"/>
          <p:cNvSpPr/>
          <p:nvPr/>
        </p:nvSpPr>
        <p:spPr>
          <a:xfrm>
            <a:off x="6272784" y="3287268"/>
            <a:ext cx="512064" cy="512064"/>
          </a:xfrm>
          <a:prstGeom prst="ellipse">
            <a:avLst/>
          </a:prstGeom>
          <a:solidFill>
            <a:srgbClr val="4F8EF7"/>
          </a:solidFill>
          <a:ln w="12700">
            <a:solidFill>
              <a:srgbClr val="333333"/>
            </a:solidFill>
            <a:prstDash val="solid"/>
          </a:ln>
        </p:spPr>
      </p:sp>
      <p:sp>
        <p:nvSpPr>
          <p:cNvPr id="47" name="Text 45"/>
          <p:cNvSpPr/>
          <p:nvPr/>
        </p:nvSpPr>
        <p:spPr>
          <a:xfrm>
            <a:off x="6272784" y="3287268"/>
            <a:ext cx="512064" cy="512064"/>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48" name="Text 46"/>
          <p:cNvSpPr/>
          <p:nvPr/>
        </p:nvSpPr>
        <p:spPr>
          <a:xfrm>
            <a:off x="6903720" y="3182112"/>
            <a:ext cx="4572000"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Source References</a:t>
            </a:r>
            <a:endParaRPr lang="en-US" sz="1200" dirty="0"/>
          </a:p>
        </p:txBody>
      </p:sp>
      <p:sp>
        <p:nvSpPr>
          <p:cNvPr id="49" name="Text 47"/>
          <p:cNvSpPr/>
          <p:nvPr/>
        </p:nvSpPr>
        <p:spPr>
          <a:xfrm>
            <a:off x="6903720" y="3493008"/>
            <a:ext cx="4572000" cy="384048"/>
          </a:xfrm>
          <a:prstGeom prst="rect">
            <a:avLst/>
          </a:prstGeom>
          <a:noFill/>
          <a:ln/>
        </p:spPr>
        <p:txBody>
          <a:bodyPr wrap="square" rtlCol="0" anchor="t"/>
          <a:lstStyle/>
          <a:p>
            <a:pPr algn="l" indent="0" marL="0">
              <a:buNone/>
            </a:pPr>
            <a:r>
              <a:rPr lang="en-US" sz="1050" dirty="0">
                <a:solidFill>
                  <a:srgbClr val="CFD8DC"/>
                </a:solidFill>
                <a:latin typeface="Calibri" pitchFamily="34" charset="0"/>
                <a:ea typeface="Calibri" pitchFamily="34" charset="-122"/>
                <a:cs typeface="Calibri" pitchFamily="34" charset="-120"/>
              </a:rPr>
              <a:t>Document name, page number, relevance score, and text preview</a:t>
            </a:r>
            <a:endParaRPr lang="en-US" sz="1050" dirty="0"/>
          </a:p>
        </p:txBody>
      </p:sp>
      <p:sp>
        <p:nvSpPr>
          <p:cNvPr id="50" name="Shape 48"/>
          <p:cNvSpPr/>
          <p:nvPr/>
        </p:nvSpPr>
        <p:spPr>
          <a:xfrm>
            <a:off x="6236208" y="4133088"/>
            <a:ext cx="5440680" cy="868680"/>
          </a:xfrm>
          <a:prstGeom prst="roundRect">
            <a:avLst>
              <a:gd name="adj" fmla="val 12632"/>
            </a:avLst>
          </a:prstGeom>
          <a:solidFill>
            <a:srgbClr val="0F1C2E"/>
          </a:solidFill>
          <a:ln w="15240">
            <a:solidFill>
              <a:srgbClr val="253A52"/>
            </a:solidFill>
            <a:prstDash val="solid"/>
          </a:ln>
        </p:spPr>
      </p:sp>
      <p:sp>
        <p:nvSpPr>
          <p:cNvPr id="51" name="Shape 49"/>
          <p:cNvSpPr/>
          <p:nvPr/>
        </p:nvSpPr>
        <p:spPr>
          <a:xfrm>
            <a:off x="6272784" y="4311396"/>
            <a:ext cx="512064" cy="512064"/>
          </a:xfrm>
          <a:prstGeom prst="ellipse">
            <a:avLst/>
          </a:prstGeom>
          <a:solidFill>
            <a:srgbClr val="00C9A7"/>
          </a:solidFill>
          <a:ln w="12700">
            <a:solidFill>
              <a:srgbClr val="333333"/>
            </a:solidFill>
            <a:prstDash val="solid"/>
          </a:ln>
        </p:spPr>
      </p:sp>
      <p:sp>
        <p:nvSpPr>
          <p:cNvPr id="52" name="Text 50"/>
          <p:cNvSpPr/>
          <p:nvPr/>
        </p:nvSpPr>
        <p:spPr>
          <a:xfrm>
            <a:off x="6272784" y="4311396"/>
            <a:ext cx="512064" cy="512064"/>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53" name="Text 51"/>
          <p:cNvSpPr/>
          <p:nvPr/>
        </p:nvSpPr>
        <p:spPr>
          <a:xfrm>
            <a:off x="6903720" y="4206240"/>
            <a:ext cx="4572000"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Follow-up Suggestions</a:t>
            </a:r>
            <a:endParaRPr lang="en-US" sz="1200" dirty="0"/>
          </a:p>
        </p:txBody>
      </p:sp>
      <p:sp>
        <p:nvSpPr>
          <p:cNvPr id="54" name="Text 52"/>
          <p:cNvSpPr/>
          <p:nvPr/>
        </p:nvSpPr>
        <p:spPr>
          <a:xfrm>
            <a:off x="6903720" y="4517136"/>
            <a:ext cx="4572000" cy="384048"/>
          </a:xfrm>
          <a:prstGeom prst="rect">
            <a:avLst/>
          </a:prstGeom>
          <a:noFill/>
          <a:ln/>
        </p:spPr>
        <p:txBody>
          <a:bodyPr wrap="square" rtlCol="0" anchor="t"/>
          <a:lstStyle/>
          <a:p>
            <a:pPr algn="l" indent="0" marL="0">
              <a:buNone/>
            </a:pPr>
            <a:r>
              <a:rPr lang="en-US" sz="1050" dirty="0">
                <a:solidFill>
                  <a:srgbClr val="CFD8DC"/>
                </a:solidFill>
                <a:latin typeface="Calibri" pitchFamily="34" charset="0"/>
                <a:ea typeface="Calibri" pitchFamily="34" charset="-122"/>
                <a:cs typeface="Calibri" pitchFamily="34" charset="-120"/>
              </a:rPr>
              <a:t>Three related questions to explore next</a:t>
            </a:r>
            <a:endParaRPr lang="en-US" sz="1050" dirty="0"/>
          </a:p>
        </p:txBody>
      </p:sp>
      <p:sp>
        <p:nvSpPr>
          <p:cNvPr id="55" name="Shape 53"/>
          <p:cNvSpPr/>
          <p:nvPr/>
        </p:nvSpPr>
        <p:spPr>
          <a:xfrm>
            <a:off x="6236208" y="5157216"/>
            <a:ext cx="5440680" cy="868680"/>
          </a:xfrm>
          <a:prstGeom prst="roundRect">
            <a:avLst>
              <a:gd name="adj" fmla="val 12632"/>
            </a:avLst>
          </a:prstGeom>
          <a:solidFill>
            <a:srgbClr val="0F1C2E"/>
          </a:solidFill>
          <a:ln w="15240">
            <a:solidFill>
              <a:srgbClr val="253A52"/>
            </a:solidFill>
            <a:prstDash val="solid"/>
          </a:ln>
        </p:spPr>
      </p:sp>
      <p:sp>
        <p:nvSpPr>
          <p:cNvPr id="56" name="Shape 54"/>
          <p:cNvSpPr/>
          <p:nvPr/>
        </p:nvSpPr>
        <p:spPr>
          <a:xfrm>
            <a:off x="6272784" y="5335524"/>
            <a:ext cx="512064" cy="512064"/>
          </a:xfrm>
          <a:prstGeom prst="ellipse">
            <a:avLst/>
          </a:prstGeom>
          <a:solidFill>
            <a:srgbClr val="6C63FF"/>
          </a:solidFill>
          <a:ln w="12700">
            <a:solidFill>
              <a:srgbClr val="333333"/>
            </a:solidFill>
            <a:prstDash val="solid"/>
          </a:ln>
        </p:spPr>
      </p:sp>
      <p:sp>
        <p:nvSpPr>
          <p:cNvPr id="57" name="Text 55"/>
          <p:cNvSpPr/>
          <p:nvPr/>
        </p:nvSpPr>
        <p:spPr>
          <a:xfrm>
            <a:off x="6272784" y="5335524"/>
            <a:ext cx="512064" cy="512064"/>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58" name="Text 56"/>
          <p:cNvSpPr/>
          <p:nvPr/>
        </p:nvSpPr>
        <p:spPr>
          <a:xfrm>
            <a:off x="6903720" y="5230368"/>
            <a:ext cx="4572000" cy="292608"/>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Processing Trace</a:t>
            </a:r>
            <a:endParaRPr lang="en-US" sz="1200" dirty="0"/>
          </a:p>
        </p:txBody>
      </p:sp>
      <p:sp>
        <p:nvSpPr>
          <p:cNvPr id="59" name="Text 57"/>
          <p:cNvSpPr/>
          <p:nvPr/>
        </p:nvSpPr>
        <p:spPr>
          <a:xfrm>
            <a:off x="6903720" y="5541264"/>
            <a:ext cx="4572000" cy="384048"/>
          </a:xfrm>
          <a:prstGeom prst="rect">
            <a:avLst/>
          </a:prstGeom>
          <a:noFill/>
          <a:ln/>
        </p:spPr>
        <p:txBody>
          <a:bodyPr wrap="square" rtlCol="0" anchor="t"/>
          <a:lstStyle/>
          <a:p>
            <a:pPr algn="l" indent="0" marL="0">
              <a:buNone/>
            </a:pPr>
            <a:r>
              <a:rPr lang="en-US" sz="1050" dirty="0">
                <a:solidFill>
                  <a:srgbClr val="CFD8DC"/>
                </a:solidFill>
                <a:latin typeface="Calibri" pitchFamily="34" charset="0"/>
                <a:ea typeface="Calibri" pitchFamily="34" charset="-122"/>
                <a:cs typeface="Calibri" pitchFamily="34" charset="-120"/>
              </a:rPr>
              <a:t>A transparent log of every step taken to generate the answer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FILE SUPPORT</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Supported File Types</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10 / 20</a:t>
            </a:r>
            <a:endParaRPr lang="en-US" sz="750" dirty="0"/>
          </a:p>
        </p:txBody>
      </p:sp>
      <p:sp>
        <p:nvSpPr>
          <p:cNvPr id="10" name="Shape 8"/>
          <p:cNvSpPr/>
          <p:nvPr/>
        </p:nvSpPr>
        <p:spPr>
          <a:xfrm>
            <a:off x="365760" y="1389888"/>
            <a:ext cx="11430000" cy="1097280"/>
          </a:xfrm>
          <a:prstGeom prst="roundRect">
            <a:avLst>
              <a:gd name="adj" fmla="val 10000"/>
            </a:avLst>
          </a:prstGeom>
          <a:solidFill>
            <a:srgbClr val="162233"/>
          </a:solidFill>
          <a:ln w="15240">
            <a:solidFill>
              <a:srgbClr val="253A52"/>
            </a:solidFill>
            <a:prstDash val="solid"/>
          </a:ln>
        </p:spPr>
      </p:sp>
      <p:sp>
        <p:nvSpPr>
          <p:cNvPr id="11" name="Shape 9"/>
          <p:cNvSpPr/>
          <p:nvPr/>
        </p:nvSpPr>
        <p:spPr>
          <a:xfrm>
            <a:off x="365760" y="1389888"/>
            <a:ext cx="91440" cy="1097280"/>
          </a:xfrm>
          <a:prstGeom prst="rect">
            <a:avLst/>
          </a:prstGeom>
          <a:solidFill>
            <a:srgbClr val="4F8EF7"/>
          </a:solidFill>
          <a:ln w="12700">
            <a:solidFill>
              <a:srgbClr val="333333"/>
            </a:solidFill>
            <a:prstDash val="solid"/>
          </a:ln>
        </p:spPr>
      </p:sp>
      <p:sp>
        <p:nvSpPr>
          <p:cNvPr id="12" name="Shape 10"/>
          <p:cNvSpPr/>
          <p:nvPr/>
        </p:nvSpPr>
        <p:spPr>
          <a:xfrm>
            <a:off x="521208" y="1618488"/>
            <a:ext cx="640080" cy="640080"/>
          </a:xfrm>
          <a:prstGeom prst="ellipse">
            <a:avLst/>
          </a:prstGeom>
          <a:solidFill>
            <a:srgbClr val="4F8EF7"/>
          </a:solidFill>
          <a:ln w="12700">
            <a:solidFill>
              <a:srgbClr val="333333"/>
            </a:solidFill>
            <a:prstDash val="solid"/>
          </a:ln>
        </p:spPr>
      </p:sp>
      <p:sp>
        <p:nvSpPr>
          <p:cNvPr id="13" name="Text 11"/>
          <p:cNvSpPr/>
          <p:nvPr/>
        </p:nvSpPr>
        <p:spPr>
          <a:xfrm>
            <a:off x="521208" y="1618488"/>
            <a:ext cx="640080" cy="64008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14" name="Shape 12"/>
          <p:cNvSpPr/>
          <p:nvPr/>
        </p:nvSpPr>
        <p:spPr>
          <a:xfrm>
            <a:off x="1298448" y="1499616"/>
            <a:ext cx="1828800" cy="320040"/>
          </a:xfrm>
          <a:prstGeom prst="roundRect">
            <a:avLst>
              <a:gd name="adj" fmla="val 17143"/>
            </a:avLst>
          </a:prstGeom>
          <a:solidFill>
            <a:srgbClr val="4F8EF7">
              <a:alpha val="85000"/>
            </a:srgbClr>
          </a:solidFill>
          <a:ln w="12700">
            <a:solidFill>
              <a:srgbClr val="4F8EF7"/>
            </a:solidFill>
            <a:prstDash val="solid"/>
          </a:ln>
        </p:spPr>
      </p:sp>
      <p:sp>
        <p:nvSpPr>
          <p:cNvPr id="15" name="Text 13"/>
          <p:cNvSpPr/>
          <p:nvPr/>
        </p:nvSpPr>
        <p:spPr>
          <a:xfrm>
            <a:off x="1298448" y="1499616"/>
            <a:ext cx="1828800" cy="32004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.pdf</a:t>
            </a:r>
            <a:endParaRPr lang="en-US" sz="950" dirty="0"/>
          </a:p>
        </p:txBody>
      </p:sp>
      <p:sp>
        <p:nvSpPr>
          <p:cNvPr id="16" name="Text 14"/>
          <p:cNvSpPr/>
          <p:nvPr/>
        </p:nvSpPr>
        <p:spPr>
          <a:xfrm>
            <a:off x="3291840" y="1481328"/>
            <a:ext cx="83210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PDF Documents</a:t>
            </a:r>
            <a:endParaRPr lang="en-US" sz="1300" dirty="0"/>
          </a:p>
        </p:txBody>
      </p:sp>
      <p:sp>
        <p:nvSpPr>
          <p:cNvPr id="17" name="Text 15"/>
          <p:cNvSpPr/>
          <p:nvPr/>
        </p:nvSpPr>
        <p:spPr>
          <a:xfrm>
            <a:off x="3291840" y="1847088"/>
            <a:ext cx="8321040" cy="548640"/>
          </a:xfrm>
          <a:prstGeom prst="rect">
            <a:avLst/>
          </a:prstGeom>
          <a:noFill/>
          <a:ln/>
        </p:spPr>
        <p:txBody>
          <a:bodyPr wrap="square" rtlCol="0" anchor="t"/>
          <a:lstStyle/>
          <a:p>
            <a:pPr algn="l" indent="0" marL="0">
              <a:buNone/>
            </a:pPr>
            <a:r>
              <a:rPr lang="en-US" sz="1150" dirty="0">
                <a:solidFill>
                  <a:srgbClr val="CFD8DC"/>
                </a:solidFill>
                <a:latin typeface="Calibri" pitchFamily="34" charset="0"/>
                <a:ea typeface="Calibri" pitchFamily="34" charset="-122"/>
                <a:cs typeface="Calibri" pitchFamily="34" charset="-120"/>
              </a:rPr>
              <a:t>Full text extracted from all pages. Page numbers are preserved and referenced in every answer.</a:t>
            </a:r>
            <a:endParaRPr lang="en-US" sz="1150" dirty="0"/>
          </a:p>
        </p:txBody>
      </p:sp>
      <p:sp>
        <p:nvSpPr>
          <p:cNvPr id="18" name="Shape 16"/>
          <p:cNvSpPr/>
          <p:nvPr/>
        </p:nvSpPr>
        <p:spPr>
          <a:xfrm>
            <a:off x="365760" y="2624328"/>
            <a:ext cx="11430000" cy="1097280"/>
          </a:xfrm>
          <a:prstGeom prst="roundRect">
            <a:avLst>
              <a:gd name="adj" fmla="val 10000"/>
            </a:avLst>
          </a:prstGeom>
          <a:solidFill>
            <a:srgbClr val="162233"/>
          </a:solidFill>
          <a:ln w="15240">
            <a:solidFill>
              <a:srgbClr val="253A52"/>
            </a:solidFill>
            <a:prstDash val="solid"/>
          </a:ln>
        </p:spPr>
      </p:sp>
      <p:sp>
        <p:nvSpPr>
          <p:cNvPr id="19" name="Shape 17"/>
          <p:cNvSpPr/>
          <p:nvPr/>
        </p:nvSpPr>
        <p:spPr>
          <a:xfrm>
            <a:off x="365760" y="2624328"/>
            <a:ext cx="91440" cy="1097280"/>
          </a:xfrm>
          <a:prstGeom prst="rect">
            <a:avLst/>
          </a:prstGeom>
          <a:solidFill>
            <a:srgbClr val="00C9A7"/>
          </a:solidFill>
          <a:ln w="12700">
            <a:solidFill>
              <a:srgbClr val="333333"/>
            </a:solidFill>
            <a:prstDash val="solid"/>
          </a:ln>
        </p:spPr>
      </p:sp>
      <p:sp>
        <p:nvSpPr>
          <p:cNvPr id="20" name="Shape 18"/>
          <p:cNvSpPr/>
          <p:nvPr/>
        </p:nvSpPr>
        <p:spPr>
          <a:xfrm>
            <a:off x="521208" y="2852928"/>
            <a:ext cx="640080" cy="640080"/>
          </a:xfrm>
          <a:prstGeom prst="ellipse">
            <a:avLst/>
          </a:prstGeom>
          <a:solidFill>
            <a:srgbClr val="00C9A7"/>
          </a:solidFill>
          <a:ln w="12700">
            <a:solidFill>
              <a:srgbClr val="333333"/>
            </a:solidFill>
            <a:prstDash val="solid"/>
          </a:ln>
        </p:spPr>
      </p:sp>
      <p:sp>
        <p:nvSpPr>
          <p:cNvPr id="21" name="Text 19"/>
          <p:cNvSpPr/>
          <p:nvPr/>
        </p:nvSpPr>
        <p:spPr>
          <a:xfrm>
            <a:off x="521208" y="2852928"/>
            <a:ext cx="640080" cy="64008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22" name="Shape 20"/>
          <p:cNvSpPr/>
          <p:nvPr/>
        </p:nvSpPr>
        <p:spPr>
          <a:xfrm>
            <a:off x="1298448" y="2734056"/>
            <a:ext cx="1828800" cy="320040"/>
          </a:xfrm>
          <a:prstGeom prst="roundRect">
            <a:avLst>
              <a:gd name="adj" fmla="val 17143"/>
            </a:avLst>
          </a:prstGeom>
          <a:solidFill>
            <a:srgbClr val="00C9A7">
              <a:alpha val="85000"/>
            </a:srgbClr>
          </a:solidFill>
          <a:ln w="12700">
            <a:solidFill>
              <a:srgbClr val="00C9A7"/>
            </a:solidFill>
            <a:prstDash val="solid"/>
          </a:ln>
        </p:spPr>
      </p:sp>
      <p:sp>
        <p:nvSpPr>
          <p:cNvPr id="23" name="Text 21"/>
          <p:cNvSpPr/>
          <p:nvPr/>
        </p:nvSpPr>
        <p:spPr>
          <a:xfrm>
            <a:off x="1298448" y="2734056"/>
            <a:ext cx="1828800" cy="32004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.txt</a:t>
            </a:r>
            <a:endParaRPr lang="en-US" sz="950" dirty="0"/>
          </a:p>
        </p:txBody>
      </p:sp>
      <p:sp>
        <p:nvSpPr>
          <p:cNvPr id="24" name="Text 22"/>
          <p:cNvSpPr/>
          <p:nvPr/>
        </p:nvSpPr>
        <p:spPr>
          <a:xfrm>
            <a:off x="3291840" y="2715768"/>
            <a:ext cx="83210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Text Files</a:t>
            </a:r>
            <a:endParaRPr lang="en-US" sz="1300" dirty="0"/>
          </a:p>
        </p:txBody>
      </p:sp>
      <p:sp>
        <p:nvSpPr>
          <p:cNvPr id="25" name="Text 23"/>
          <p:cNvSpPr/>
          <p:nvPr/>
        </p:nvSpPr>
        <p:spPr>
          <a:xfrm>
            <a:off x="3291840" y="3081528"/>
            <a:ext cx="8321040" cy="548640"/>
          </a:xfrm>
          <a:prstGeom prst="rect">
            <a:avLst/>
          </a:prstGeom>
          <a:noFill/>
          <a:ln/>
        </p:spPr>
        <p:txBody>
          <a:bodyPr wrap="square" rtlCol="0" anchor="t"/>
          <a:lstStyle/>
          <a:p>
            <a:pPr algn="l" indent="0" marL="0">
              <a:buNone/>
            </a:pPr>
            <a:r>
              <a:rPr lang="en-US" sz="1150" dirty="0">
                <a:solidFill>
                  <a:srgbClr val="CFD8DC"/>
                </a:solidFill>
                <a:latin typeface="Calibri" pitchFamily="34" charset="0"/>
                <a:ea typeface="Calibri" pitchFamily="34" charset="-122"/>
                <a:cs typeface="Calibri" pitchFamily="34" charset="-120"/>
              </a:rPr>
              <a:t>Plain text documents read as-is. Great for notes, logs, transcripts, and structured text.</a:t>
            </a:r>
            <a:endParaRPr lang="en-US" sz="1150" dirty="0"/>
          </a:p>
        </p:txBody>
      </p:sp>
      <p:sp>
        <p:nvSpPr>
          <p:cNvPr id="26" name="Shape 24"/>
          <p:cNvSpPr/>
          <p:nvPr/>
        </p:nvSpPr>
        <p:spPr>
          <a:xfrm>
            <a:off x="365760" y="3858768"/>
            <a:ext cx="11430000" cy="1097280"/>
          </a:xfrm>
          <a:prstGeom prst="roundRect">
            <a:avLst>
              <a:gd name="adj" fmla="val 10000"/>
            </a:avLst>
          </a:prstGeom>
          <a:solidFill>
            <a:srgbClr val="162233"/>
          </a:solidFill>
          <a:ln w="15240">
            <a:solidFill>
              <a:srgbClr val="253A52"/>
            </a:solidFill>
            <a:prstDash val="solid"/>
          </a:ln>
        </p:spPr>
      </p:sp>
      <p:sp>
        <p:nvSpPr>
          <p:cNvPr id="27" name="Shape 25"/>
          <p:cNvSpPr/>
          <p:nvPr/>
        </p:nvSpPr>
        <p:spPr>
          <a:xfrm>
            <a:off x="365760" y="3858768"/>
            <a:ext cx="91440" cy="1097280"/>
          </a:xfrm>
          <a:prstGeom prst="rect">
            <a:avLst/>
          </a:prstGeom>
          <a:solidFill>
            <a:srgbClr val="6C63FF"/>
          </a:solidFill>
          <a:ln w="12700">
            <a:solidFill>
              <a:srgbClr val="333333"/>
            </a:solidFill>
            <a:prstDash val="solid"/>
          </a:ln>
        </p:spPr>
      </p:sp>
      <p:sp>
        <p:nvSpPr>
          <p:cNvPr id="28" name="Shape 26"/>
          <p:cNvSpPr/>
          <p:nvPr/>
        </p:nvSpPr>
        <p:spPr>
          <a:xfrm>
            <a:off x="521208" y="4087368"/>
            <a:ext cx="640080" cy="640080"/>
          </a:xfrm>
          <a:prstGeom prst="ellipse">
            <a:avLst/>
          </a:prstGeom>
          <a:solidFill>
            <a:srgbClr val="6C63FF"/>
          </a:solidFill>
          <a:ln w="12700">
            <a:solidFill>
              <a:srgbClr val="333333"/>
            </a:solidFill>
            <a:prstDash val="solid"/>
          </a:ln>
        </p:spPr>
      </p:sp>
      <p:sp>
        <p:nvSpPr>
          <p:cNvPr id="29" name="Text 27"/>
          <p:cNvSpPr/>
          <p:nvPr/>
        </p:nvSpPr>
        <p:spPr>
          <a:xfrm>
            <a:off x="521208" y="4087368"/>
            <a:ext cx="640080" cy="64008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30" name="Shape 28"/>
          <p:cNvSpPr/>
          <p:nvPr/>
        </p:nvSpPr>
        <p:spPr>
          <a:xfrm>
            <a:off x="1298448" y="3968496"/>
            <a:ext cx="1828800" cy="320040"/>
          </a:xfrm>
          <a:prstGeom prst="roundRect">
            <a:avLst>
              <a:gd name="adj" fmla="val 17143"/>
            </a:avLst>
          </a:prstGeom>
          <a:solidFill>
            <a:srgbClr val="6C63FF">
              <a:alpha val="85000"/>
            </a:srgbClr>
          </a:solidFill>
          <a:ln w="12700">
            <a:solidFill>
              <a:srgbClr val="6C63FF"/>
            </a:solidFill>
            <a:prstDash val="solid"/>
          </a:ln>
        </p:spPr>
      </p:sp>
      <p:sp>
        <p:nvSpPr>
          <p:cNvPr id="31" name="Text 29"/>
          <p:cNvSpPr/>
          <p:nvPr/>
        </p:nvSpPr>
        <p:spPr>
          <a:xfrm>
            <a:off x="1298448" y="3968496"/>
            <a:ext cx="1828800" cy="32004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.xlsx / .xls</a:t>
            </a:r>
            <a:endParaRPr lang="en-US" sz="950" dirty="0"/>
          </a:p>
        </p:txBody>
      </p:sp>
      <p:sp>
        <p:nvSpPr>
          <p:cNvPr id="32" name="Text 30"/>
          <p:cNvSpPr/>
          <p:nvPr/>
        </p:nvSpPr>
        <p:spPr>
          <a:xfrm>
            <a:off x="3291840" y="3950208"/>
            <a:ext cx="83210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Excel Spreadsheets</a:t>
            </a:r>
            <a:endParaRPr lang="en-US" sz="1300" dirty="0"/>
          </a:p>
        </p:txBody>
      </p:sp>
      <p:sp>
        <p:nvSpPr>
          <p:cNvPr id="33" name="Text 31"/>
          <p:cNvSpPr/>
          <p:nvPr/>
        </p:nvSpPr>
        <p:spPr>
          <a:xfrm>
            <a:off x="3291840" y="4315968"/>
            <a:ext cx="8321040" cy="548640"/>
          </a:xfrm>
          <a:prstGeom prst="rect">
            <a:avLst/>
          </a:prstGeom>
          <a:noFill/>
          <a:ln/>
        </p:spPr>
        <p:txBody>
          <a:bodyPr wrap="square" rtlCol="0" anchor="t"/>
          <a:lstStyle/>
          <a:p>
            <a:pPr algn="l" indent="0" marL="0">
              <a:buNone/>
            </a:pPr>
            <a:r>
              <a:rPr lang="en-US" sz="1150" dirty="0">
                <a:solidFill>
                  <a:srgbClr val="CFD8DC"/>
                </a:solidFill>
                <a:latin typeface="Calibri" pitchFamily="34" charset="0"/>
                <a:ea typeface="Calibri" pitchFamily="34" charset="-122"/>
                <a:cs typeface="Calibri" pitchFamily="34" charset="-120"/>
              </a:rPr>
              <a:t>All sheets are converted to a readable table format. The AI understands rows, columns, and values.</a:t>
            </a:r>
            <a:endParaRPr lang="en-US" sz="1150" dirty="0"/>
          </a:p>
        </p:txBody>
      </p:sp>
      <p:sp>
        <p:nvSpPr>
          <p:cNvPr id="34" name="Shape 32"/>
          <p:cNvSpPr/>
          <p:nvPr/>
        </p:nvSpPr>
        <p:spPr>
          <a:xfrm>
            <a:off x="365760" y="5093208"/>
            <a:ext cx="11430000" cy="1097280"/>
          </a:xfrm>
          <a:prstGeom prst="roundRect">
            <a:avLst>
              <a:gd name="adj" fmla="val 10000"/>
            </a:avLst>
          </a:prstGeom>
          <a:solidFill>
            <a:srgbClr val="162233"/>
          </a:solidFill>
          <a:ln w="15240">
            <a:solidFill>
              <a:srgbClr val="253A52"/>
            </a:solidFill>
            <a:prstDash val="solid"/>
          </a:ln>
        </p:spPr>
      </p:sp>
      <p:sp>
        <p:nvSpPr>
          <p:cNvPr id="35" name="Shape 33"/>
          <p:cNvSpPr/>
          <p:nvPr/>
        </p:nvSpPr>
        <p:spPr>
          <a:xfrm>
            <a:off x="365760" y="5093208"/>
            <a:ext cx="91440" cy="1097280"/>
          </a:xfrm>
          <a:prstGeom prst="rect">
            <a:avLst/>
          </a:prstGeom>
          <a:solidFill>
            <a:srgbClr val="FF6B35"/>
          </a:solidFill>
          <a:ln w="12700">
            <a:solidFill>
              <a:srgbClr val="333333"/>
            </a:solidFill>
            <a:prstDash val="solid"/>
          </a:ln>
        </p:spPr>
      </p:sp>
      <p:sp>
        <p:nvSpPr>
          <p:cNvPr id="36" name="Shape 34"/>
          <p:cNvSpPr/>
          <p:nvPr/>
        </p:nvSpPr>
        <p:spPr>
          <a:xfrm>
            <a:off x="521208" y="5321808"/>
            <a:ext cx="640080" cy="640080"/>
          </a:xfrm>
          <a:prstGeom prst="ellipse">
            <a:avLst/>
          </a:prstGeom>
          <a:solidFill>
            <a:srgbClr val="FF6B35"/>
          </a:solidFill>
          <a:ln w="12700">
            <a:solidFill>
              <a:srgbClr val="333333"/>
            </a:solidFill>
            <a:prstDash val="solid"/>
          </a:ln>
        </p:spPr>
      </p:sp>
      <p:sp>
        <p:nvSpPr>
          <p:cNvPr id="37" name="Text 35"/>
          <p:cNvSpPr/>
          <p:nvPr/>
        </p:nvSpPr>
        <p:spPr>
          <a:xfrm>
            <a:off x="521208" y="5321808"/>
            <a:ext cx="640080" cy="64008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38" name="Shape 36"/>
          <p:cNvSpPr/>
          <p:nvPr/>
        </p:nvSpPr>
        <p:spPr>
          <a:xfrm>
            <a:off x="1298448" y="5202936"/>
            <a:ext cx="1828800" cy="320040"/>
          </a:xfrm>
          <a:prstGeom prst="roundRect">
            <a:avLst>
              <a:gd name="adj" fmla="val 17143"/>
            </a:avLst>
          </a:prstGeom>
          <a:solidFill>
            <a:srgbClr val="FF6B35">
              <a:alpha val="85000"/>
            </a:srgbClr>
          </a:solidFill>
          <a:ln w="12700">
            <a:solidFill>
              <a:srgbClr val="FF6B35"/>
            </a:solidFill>
            <a:prstDash val="solid"/>
          </a:ln>
        </p:spPr>
      </p:sp>
      <p:sp>
        <p:nvSpPr>
          <p:cNvPr id="39" name="Text 37"/>
          <p:cNvSpPr/>
          <p:nvPr/>
        </p:nvSpPr>
        <p:spPr>
          <a:xfrm>
            <a:off x="1298448" y="5202936"/>
            <a:ext cx="1828800" cy="320040"/>
          </a:xfrm>
          <a:prstGeom prst="rect">
            <a:avLst/>
          </a:prstGeom>
          <a:noFill/>
          <a:ln/>
        </p:spPr>
        <p:txBody>
          <a:bodyPr wrap="square"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.png / .jpg / .jpeg / .gif / .webp</a:t>
            </a:r>
            <a:endParaRPr lang="en-US" sz="950" dirty="0"/>
          </a:p>
        </p:txBody>
      </p:sp>
      <p:sp>
        <p:nvSpPr>
          <p:cNvPr id="40" name="Text 38"/>
          <p:cNvSpPr/>
          <p:nvPr/>
        </p:nvSpPr>
        <p:spPr>
          <a:xfrm>
            <a:off x="3291840" y="5184648"/>
            <a:ext cx="832104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Images</a:t>
            </a:r>
            <a:endParaRPr lang="en-US" sz="1300" dirty="0"/>
          </a:p>
        </p:txBody>
      </p:sp>
      <p:sp>
        <p:nvSpPr>
          <p:cNvPr id="41" name="Text 39"/>
          <p:cNvSpPr/>
          <p:nvPr/>
        </p:nvSpPr>
        <p:spPr>
          <a:xfrm>
            <a:off x="3291840" y="5550408"/>
            <a:ext cx="8321040" cy="548640"/>
          </a:xfrm>
          <a:prstGeom prst="rect">
            <a:avLst/>
          </a:prstGeom>
          <a:noFill/>
          <a:ln/>
        </p:spPr>
        <p:txBody>
          <a:bodyPr wrap="square" rtlCol="0" anchor="t"/>
          <a:lstStyle/>
          <a:p>
            <a:pPr algn="l" indent="0" marL="0">
              <a:buNone/>
            </a:pPr>
            <a:r>
              <a:rPr lang="en-US" sz="1150" dirty="0">
                <a:solidFill>
                  <a:srgbClr val="CFD8DC"/>
                </a:solidFill>
                <a:latin typeface="Calibri" pitchFamily="34" charset="0"/>
                <a:ea typeface="Calibri" pitchFamily="34" charset="-122"/>
                <a:cs typeface="Calibri" pitchFamily="34" charset="-120"/>
              </a:rPr>
              <a:t>AI vision model analyzes the image and creates a detailed description. Ask about charts, screenshots, diagrams, or any visual content.</a:t>
            </a:r>
            <a:endParaRPr lang="en-US" sz="1150" dirty="0"/>
          </a:p>
        </p:txBody>
      </p:sp>
      <p:sp>
        <p:nvSpPr>
          <p:cNvPr id="42" name="Shape 40"/>
          <p:cNvSpPr/>
          <p:nvPr/>
        </p:nvSpPr>
        <p:spPr>
          <a:xfrm>
            <a:off x="365760" y="6382512"/>
            <a:ext cx="11430000" cy="411480"/>
          </a:xfrm>
          <a:prstGeom prst="roundRect">
            <a:avLst>
              <a:gd name="adj" fmla="val 26667"/>
            </a:avLst>
          </a:prstGeom>
          <a:solidFill>
            <a:srgbClr val="0F1C2E"/>
          </a:solidFill>
          <a:ln w="15240">
            <a:solidFill>
              <a:srgbClr val="253A52"/>
            </a:solidFill>
            <a:prstDash val="solid"/>
          </a:ln>
        </p:spPr>
      </p:sp>
      <p:sp>
        <p:nvSpPr>
          <p:cNvPr id="43" name="Text 41"/>
          <p:cNvSpPr/>
          <p:nvPr/>
        </p:nvSpPr>
        <p:spPr>
          <a:xfrm>
            <a:off x="640080" y="6382512"/>
            <a:ext cx="5029200" cy="411480"/>
          </a:xfrm>
          <a:prstGeom prst="rect">
            <a:avLst/>
          </a:prstGeom>
          <a:noFill/>
          <a:ln/>
        </p:spPr>
        <p:txBody>
          <a:bodyPr wrap="square" rtlCol="0" anchor="ctr"/>
          <a:lstStyle/>
          <a:p>
            <a:pPr indent="0" marL="0">
              <a:buNone/>
            </a:pPr>
            <a:r>
              <a:rPr lang="en-US" sz="1100" b="1" dirty="0">
                <a:solidFill>
                  <a:srgbClr val="4F8EF7"/>
                </a:solidFill>
                <a:latin typeface="Calibri" pitchFamily="34" charset="0"/>
                <a:ea typeface="Calibri" pitchFamily="34" charset="-122"/>
                <a:cs typeface="Calibri" pitchFamily="34" charset="-120"/>
              </a:rPr>
              <a:t>File Size Limit: 50 MB per file</a:t>
            </a:r>
            <a:endParaRPr lang="en-US" sz="1100" dirty="0"/>
          </a:p>
        </p:txBody>
      </p:sp>
      <p:sp>
        <p:nvSpPr>
          <p:cNvPr id="44" name="Shape 42"/>
          <p:cNvSpPr/>
          <p:nvPr/>
        </p:nvSpPr>
        <p:spPr>
          <a:xfrm>
            <a:off x="5852160" y="6473952"/>
            <a:ext cx="36576" cy="228600"/>
          </a:xfrm>
          <a:prstGeom prst="rect">
            <a:avLst/>
          </a:prstGeom>
          <a:solidFill>
            <a:srgbClr val="546E7A"/>
          </a:solidFill>
          <a:ln w="12700">
            <a:solidFill>
              <a:srgbClr val="333333"/>
            </a:solidFill>
            <a:prstDash val="solid"/>
          </a:ln>
        </p:spPr>
      </p:sp>
      <p:sp>
        <p:nvSpPr>
          <p:cNvPr id="45" name="Text 43"/>
          <p:cNvSpPr/>
          <p:nvPr/>
        </p:nvSpPr>
        <p:spPr>
          <a:xfrm>
            <a:off x="6035040" y="6382512"/>
            <a:ext cx="5577840" cy="411480"/>
          </a:xfrm>
          <a:prstGeom prst="rect">
            <a:avLst/>
          </a:prstGeom>
          <a:noFill/>
          <a:ln/>
        </p:spPr>
        <p:txBody>
          <a:bodyPr wrap="square" rtlCol="0" anchor="ctr"/>
          <a:lstStyle/>
          <a:p>
            <a:pPr indent="0" marL="0">
              <a:buNone/>
            </a:pPr>
            <a:r>
              <a:rPr lang="en-US" sz="1100" b="1" dirty="0">
                <a:solidFill>
                  <a:srgbClr val="00C9A7"/>
                </a:solidFill>
                <a:latin typeface="Calibri" pitchFamily="34" charset="0"/>
                <a:ea typeface="Calibri" pitchFamily="34" charset="-122"/>
                <a:cs typeface="Calibri" pitchFamily="34" charset="-120"/>
              </a:rPr>
              <a:t>Document Limit: Up to 5 files per user account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AI MODELS</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Available AI Models</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11 / 20</a:t>
            </a:r>
            <a:endParaRPr lang="en-US" sz="750" dirty="0"/>
          </a:p>
        </p:txBody>
      </p:sp>
      <p:sp>
        <p:nvSpPr>
          <p:cNvPr id="10" name="Shape 8"/>
          <p:cNvSpPr/>
          <p:nvPr/>
        </p:nvSpPr>
        <p:spPr>
          <a:xfrm>
            <a:off x="365760" y="1389888"/>
            <a:ext cx="5577840" cy="2103120"/>
          </a:xfrm>
          <a:prstGeom prst="roundRect">
            <a:avLst>
              <a:gd name="adj" fmla="val 5217"/>
            </a:avLst>
          </a:prstGeom>
          <a:solidFill>
            <a:srgbClr val="162233"/>
          </a:solidFill>
          <a:ln w="15240">
            <a:solidFill>
              <a:srgbClr val="253A52"/>
            </a:solidFill>
            <a:prstDash val="solid"/>
          </a:ln>
        </p:spPr>
      </p:sp>
      <p:sp>
        <p:nvSpPr>
          <p:cNvPr id="11" name="Shape 9"/>
          <p:cNvSpPr/>
          <p:nvPr/>
        </p:nvSpPr>
        <p:spPr>
          <a:xfrm>
            <a:off x="365760" y="1389888"/>
            <a:ext cx="5577840" cy="82296"/>
          </a:xfrm>
          <a:prstGeom prst="rect">
            <a:avLst/>
          </a:prstGeom>
          <a:solidFill>
            <a:srgbClr val="4F8EF7"/>
          </a:solidFill>
          <a:ln w="12700">
            <a:solidFill>
              <a:srgbClr val="333333"/>
            </a:solidFill>
            <a:prstDash val="solid"/>
          </a:ln>
        </p:spPr>
      </p:sp>
      <p:sp>
        <p:nvSpPr>
          <p:cNvPr id="12" name="Shape 10"/>
          <p:cNvSpPr/>
          <p:nvPr/>
        </p:nvSpPr>
        <p:spPr>
          <a:xfrm>
            <a:off x="548640" y="1554480"/>
            <a:ext cx="1645920" cy="274320"/>
          </a:xfrm>
          <a:prstGeom prst="roundRect">
            <a:avLst>
              <a:gd name="adj" fmla="val 20000"/>
            </a:avLst>
          </a:prstGeom>
          <a:solidFill>
            <a:srgbClr val="4F8EF7">
              <a:alpha val="80000"/>
            </a:srgbClr>
          </a:solidFill>
          <a:ln w="12700">
            <a:solidFill>
              <a:srgbClr val="4F8EF7"/>
            </a:solidFill>
            <a:prstDash val="solid"/>
          </a:ln>
        </p:spPr>
      </p:sp>
      <p:sp>
        <p:nvSpPr>
          <p:cNvPr id="13" name="Text 11"/>
          <p:cNvSpPr/>
          <p:nvPr/>
        </p:nvSpPr>
        <p:spPr>
          <a:xfrm>
            <a:off x="548640" y="1554480"/>
            <a:ext cx="164592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Most Capable</a:t>
            </a:r>
            <a:endParaRPr lang="en-US" sz="850" dirty="0"/>
          </a:p>
        </p:txBody>
      </p:sp>
      <p:sp>
        <p:nvSpPr>
          <p:cNvPr id="14" name="Text 12"/>
          <p:cNvSpPr/>
          <p:nvPr/>
        </p:nvSpPr>
        <p:spPr>
          <a:xfrm>
            <a:off x="2331720" y="1517904"/>
            <a:ext cx="3383280" cy="365760"/>
          </a:xfrm>
          <a:prstGeom prst="rect">
            <a:avLst/>
          </a:prstGeom>
          <a:noFill/>
          <a:ln/>
        </p:spPr>
        <p:txBody>
          <a:bodyPr wrap="square" rtlCol="0" anchor="ctr"/>
          <a:lstStyle/>
          <a:p>
            <a:pPr algn="r" indent="0" marL="0">
              <a:buNone/>
            </a:pPr>
            <a:r>
              <a:rPr lang="en-US" sz="1600" b="1" dirty="0">
                <a:solidFill>
                  <a:srgbClr val="FFFFFF"/>
                </a:solidFill>
                <a:latin typeface="Calibri" pitchFamily="34" charset="0"/>
                <a:ea typeface="Calibri" pitchFamily="34" charset="-122"/>
                <a:cs typeface="Calibri" pitchFamily="34" charset="-120"/>
              </a:rPr>
              <a:t>GPT-4o</a:t>
            </a:r>
            <a:endParaRPr lang="en-US" sz="1600" dirty="0"/>
          </a:p>
        </p:txBody>
      </p:sp>
      <p:sp>
        <p:nvSpPr>
          <p:cNvPr id="15" name="Text 13"/>
          <p:cNvSpPr/>
          <p:nvPr/>
        </p:nvSpPr>
        <p:spPr>
          <a:xfrm>
            <a:off x="2331720" y="1865376"/>
            <a:ext cx="3383280" cy="228600"/>
          </a:xfrm>
          <a:prstGeom prst="rect">
            <a:avLst/>
          </a:prstGeom>
          <a:noFill/>
          <a:ln/>
        </p:spPr>
        <p:txBody>
          <a:bodyPr wrap="square" rtlCol="0" anchor="ctr"/>
          <a:lstStyle/>
          <a:p>
            <a:pPr algn="r" indent="0" marL="0">
              <a:buNone/>
            </a:pPr>
            <a:r>
              <a:rPr lang="en-US" sz="900" dirty="0">
                <a:solidFill>
                  <a:srgbClr val="B0BEC5"/>
                </a:solidFill>
                <a:latin typeface="Calibri" pitchFamily="34" charset="0"/>
                <a:ea typeface="Calibri" pitchFamily="34" charset="-122"/>
                <a:cs typeface="Calibri" pitchFamily="34" charset="-120"/>
              </a:rPr>
              <a:t>by OpenAI</a:t>
            </a:r>
            <a:endParaRPr lang="en-US" sz="900" dirty="0"/>
          </a:p>
        </p:txBody>
      </p:sp>
      <p:sp>
        <p:nvSpPr>
          <p:cNvPr id="16" name="Shape 14"/>
          <p:cNvSpPr/>
          <p:nvPr/>
        </p:nvSpPr>
        <p:spPr>
          <a:xfrm>
            <a:off x="548640" y="2194560"/>
            <a:ext cx="5212080" cy="27432"/>
          </a:xfrm>
          <a:prstGeom prst="rect">
            <a:avLst/>
          </a:prstGeom>
          <a:solidFill>
            <a:srgbClr val="253A52"/>
          </a:solidFill>
          <a:ln w="12700">
            <a:solidFill>
              <a:srgbClr val="333333"/>
            </a:solidFill>
            <a:prstDash val="solid"/>
          </a:ln>
        </p:spPr>
      </p:sp>
      <p:sp>
        <p:nvSpPr>
          <p:cNvPr id="17" name="Text 15"/>
          <p:cNvSpPr/>
          <p:nvPr/>
        </p:nvSpPr>
        <p:spPr>
          <a:xfrm>
            <a:off x="548640" y="2286000"/>
            <a:ext cx="5212080" cy="74980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The most powerful model — excellent at reasoning, synthesis, and handling long, complex documents. Best for critical analysis.</a:t>
            </a:r>
            <a:endParaRPr lang="en-US" sz="1100" dirty="0"/>
          </a:p>
        </p:txBody>
      </p:sp>
      <p:sp>
        <p:nvSpPr>
          <p:cNvPr id="18" name="Text 16"/>
          <p:cNvSpPr/>
          <p:nvPr/>
        </p:nvSpPr>
        <p:spPr>
          <a:xfrm>
            <a:off x="548640" y="3127248"/>
            <a:ext cx="5212080" cy="256032"/>
          </a:xfrm>
          <a:prstGeom prst="rect">
            <a:avLst/>
          </a:prstGeom>
          <a:noFill/>
          <a:ln/>
        </p:spPr>
        <p:txBody>
          <a:bodyPr wrap="square" rtlCol="0" anchor="ctr"/>
          <a:lstStyle/>
          <a:p>
            <a:pPr indent="0" marL="0">
              <a:buNone/>
            </a:pPr>
            <a:r>
              <a:rPr lang="en-US" sz="1000" b="1" dirty="0">
                <a:solidFill>
                  <a:srgbClr val="4F8EF7"/>
                </a:solidFill>
                <a:latin typeface="Calibri" pitchFamily="34" charset="0"/>
                <a:ea typeface="Calibri" pitchFamily="34" charset="-122"/>
                <a:cs typeface="Calibri" pitchFamily="34" charset="-120"/>
              </a:rPr>
              <a:t>Best for: In-depth analysis, complex reasoning</a:t>
            </a:r>
            <a:endParaRPr lang="en-US" sz="1000" dirty="0"/>
          </a:p>
        </p:txBody>
      </p:sp>
      <p:sp>
        <p:nvSpPr>
          <p:cNvPr id="19" name="Shape 17"/>
          <p:cNvSpPr/>
          <p:nvPr/>
        </p:nvSpPr>
        <p:spPr>
          <a:xfrm>
            <a:off x="6263640" y="1389888"/>
            <a:ext cx="5577840" cy="2103120"/>
          </a:xfrm>
          <a:prstGeom prst="roundRect">
            <a:avLst>
              <a:gd name="adj" fmla="val 5217"/>
            </a:avLst>
          </a:prstGeom>
          <a:solidFill>
            <a:srgbClr val="162233"/>
          </a:solidFill>
          <a:ln w="15240">
            <a:solidFill>
              <a:srgbClr val="253A52"/>
            </a:solidFill>
            <a:prstDash val="solid"/>
          </a:ln>
        </p:spPr>
      </p:sp>
      <p:sp>
        <p:nvSpPr>
          <p:cNvPr id="20" name="Shape 18"/>
          <p:cNvSpPr/>
          <p:nvPr/>
        </p:nvSpPr>
        <p:spPr>
          <a:xfrm>
            <a:off x="6263640" y="1389888"/>
            <a:ext cx="5577840" cy="82296"/>
          </a:xfrm>
          <a:prstGeom prst="rect">
            <a:avLst/>
          </a:prstGeom>
          <a:solidFill>
            <a:srgbClr val="5BC0EB"/>
          </a:solidFill>
          <a:ln w="12700">
            <a:solidFill>
              <a:srgbClr val="333333"/>
            </a:solidFill>
            <a:prstDash val="solid"/>
          </a:ln>
        </p:spPr>
      </p:sp>
      <p:sp>
        <p:nvSpPr>
          <p:cNvPr id="21" name="Shape 19"/>
          <p:cNvSpPr/>
          <p:nvPr/>
        </p:nvSpPr>
        <p:spPr>
          <a:xfrm>
            <a:off x="6446520" y="1554480"/>
            <a:ext cx="1645920" cy="274320"/>
          </a:xfrm>
          <a:prstGeom prst="roundRect">
            <a:avLst>
              <a:gd name="adj" fmla="val 20000"/>
            </a:avLst>
          </a:prstGeom>
          <a:solidFill>
            <a:srgbClr val="5BC0EB">
              <a:alpha val="80000"/>
            </a:srgbClr>
          </a:solidFill>
          <a:ln w="12700">
            <a:solidFill>
              <a:srgbClr val="5BC0EB"/>
            </a:solidFill>
            <a:prstDash val="solid"/>
          </a:ln>
        </p:spPr>
      </p:sp>
      <p:sp>
        <p:nvSpPr>
          <p:cNvPr id="22" name="Text 20"/>
          <p:cNvSpPr/>
          <p:nvPr/>
        </p:nvSpPr>
        <p:spPr>
          <a:xfrm>
            <a:off x="6446520" y="1554480"/>
            <a:ext cx="164592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Fastest</a:t>
            </a:r>
            <a:endParaRPr lang="en-US" sz="850" dirty="0"/>
          </a:p>
        </p:txBody>
      </p:sp>
      <p:sp>
        <p:nvSpPr>
          <p:cNvPr id="23" name="Text 21"/>
          <p:cNvSpPr/>
          <p:nvPr/>
        </p:nvSpPr>
        <p:spPr>
          <a:xfrm>
            <a:off x="8229600" y="1517904"/>
            <a:ext cx="3383280" cy="365760"/>
          </a:xfrm>
          <a:prstGeom prst="rect">
            <a:avLst/>
          </a:prstGeom>
          <a:noFill/>
          <a:ln/>
        </p:spPr>
        <p:txBody>
          <a:bodyPr wrap="square" rtlCol="0" anchor="ctr"/>
          <a:lstStyle/>
          <a:p>
            <a:pPr algn="r" indent="0" marL="0">
              <a:buNone/>
            </a:pPr>
            <a:r>
              <a:rPr lang="en-US" sz="1600" b="1" dirty="0">
                <a:solidFill>
                  <a:srgbClr val="FFFFFF"/>
                </a:solidFill>
                <a:latin typeface="Calibri" pitchFamily="34" charset="0"/>
                <a:ea typeface="Calibri" pitchFamily="34" charset="-122"/>
                <a:cs typeface="Calibri" pitchFamily="34" charset="-120"/>
              </a:rPr>
              <a:t>GPT-4o Mini</a:t>
            </a:r>
            <a:endParaRPr lang="en-US" sz="1600" dirty="0"/>
          </a:p>
        </p:txBody>
      </p:sp>
      <p:sp>
        <p:nvSpPr>
          <p:cNvPr id="24" name="Text 22"/>
          <p:cNvSpPr/>
          <p:nvPr/>
        </p:nvSpPr>
        <p:spPr>
          <a:xfrm>
            <a:off x="8229600" y="1865376"/>
            <a:ext cx="3383280" cy="228600"/>
          </a:xfrm>
          <a:prstGeom prst="rect">
            <a:avLst/>
          </a:prstGeom>
          <a:noFill/>
          <a:ln/>
        </p:spPr>
        <p:txBody>
          <a:bodyPr wrap="square" rtlCol="0" anchor="ctr"/>
          <a:lstStyle/>
          <a:p>
            <a:pPr algn="r" indent="0" marL="0">
              <a:buNone/>
            </a:pPr>
            <a:r>
              <a:rPr lang="en-US" sz="900" dirty="0">
                <a:solidFill>
                  <a:srgbClr val="B0BEC5"/>
                </a:solidFill>
                <a:latin typeface="Calibri" pitchFamily="34" charset="0"/>
                <a:ea typeface="Calibri" pitchFamily="34" charset="-122"/>
                <a:cs typeface="Calibri" pitchFamily="34" charset="-120"/>
              </a:rPr>
              <a:t>by OpenAI</a:t>
            </a:r>
            <a:endParaRPr lang="en-US" sz="900" dirty="0"/>
          </a:p>
        </p:txBody>
      </p:sp>
      <p:sp>
        <p:nvSpPr>
          <p:cNvPr id="25" name="Shape 23"/>
          <p:cNvSpPr/>
          <p:nvPr/>
        </p:nvSpPr>
        <p:spPr>
          <a:xfrm>
            <a:off x="6446520" y="2194560"/>
            <a:ext cx="5212080" cy="27432"/>
          </a:xfrm>
          <a:prstGeom prst="rect">
            <a:avLst/>
          </a:prstGeom>
          <a:solidFill>
            <a:srgbClr val="253A52"/>
          </a:solidFill>
          <a:ln w="12700">
            <a:solidFill>
              <a:srgbClr val="333333"/>
            </a:solidFill>
            <a:prstDash val="solid"/>
          </a:ln>
        </p:spPr>
      </p:sp>
      <p:sp>
        <p:nvSpPr>
          <p:cNvPr id="26" name="Text 24"/>
          <p:cNvSpPr/>
          <p:nvPr/>
        </p:nvSpPr>
        <p:spPr>
          <a:xfrm>
            <a:off x="6446520" y="2286000"/>
            <a:ext cx="5212080" cy="74980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A faster, more cost-effective version of GPT-4o. Great for high-volume use or when speed is more important than depth.</a:t>
            </a:r>
            <a:endParaRPr lang="en-US" sz="1100" dirty="0"/>
          </a:p>
        </p:txBody>
      </p:sp>
      <p:sp>
        <p:nvSpPr>
          <p:cNvPr id="27" name="Text 25"/>
          <p:cNvSpPr/>
          <p:nvPr/>
        </p:nvSpPr>
        <p:spPr>
          <a:xfrm>
            <a:off x="6446520" y="3127248"/>
            <a:ext cx="5212080" cy="256032"/>
          </a:xfrm>
          <a:prstGeom prst="rect">
            <a:avLst/>
          </a:prstGeom>
          <a:noFill/>
          <a:ln/>
        </p:spPr>
        <p:txBody>
          <a:bodyPr wrap="square" rtlCol="0" anchor="ctr"/>
          <a:lstStyle/>
          <a:p>
            <a:pPr indent="0" marL="0">
              <a:buNone/>
            </a:pPr>
            <a:r>
              <a:rPr lang="en-US" sz="1000" b="1" dirty="0">
                <a:solidFill>
                  <a:srgbClr val="5BC0EB"/>
                </a:solidFill>
                <a:latin typeface="Calibri" pitchFamily="34" charset="0"/>
                <a:ea typeface="Calibri" pitchFamily="34" charset="-122"/>
                <a:cs typeface="Calibri" pitchFamily="34" charset="-120"/>
              </a:rPr>
              <a:t>Best for: Quick lookups, high-frequency queries</a:t>
            </a:r>
            <a:endParaRPr lang="en-US" sz="1000" dirty="0"/>
          </a:p>
        </p:txBody>
      </p:sp>
      <p:sp>
        <p:nvSpPr>
          <p:cNvPr id="28" name="Shape 26"/>
          <p:cNvSpPr/>
          <p:nvPr/>
        </p:nvSpPr>
        <p:spPr>
          <a:xfrm>
            <a:off x="365760" y="3721608"/>
            <a:ext cx="5577840" cy="2103120"/>
          </a:xfrm>
          <a:prstGeom prst="roundRect">
            <a:avLst>
              <a:gd name="adj" fmla="val 5217"/>
            </a:avLst>
          </a:prstGeom>
          <a:solidFill>
            <a:srgbClr val="162233"/>
          </a:solidFill>
          <a:ln w="15240">
            <a:solidFill>
              <a:srgbClr val="253A52"/>
            </a:solidFill>
            <a:prstDash val="solid"/>
          </a:ln>
        </p:spPr>
      </p:sp>
      <p:sp>
        <p:nvSpPr>
          <p:cNvPr id="29" name="Shape 27"/>
          <p:cNvSpPr/>
          <p:nvPr/>
        </p:nvSpPr>
        <p:spPr>
          <a:xfrm>
            <a:off x="365760" y="3721608"/>
            <a:ext cx="5577840" cy="82296"/>
          </a:xfrm>
          <a:prstGeom prst="rect">
            <a:avLst/>
          </a:prstGeom>
          <a:solidFill>
            <a:srgbClr val="FF6B35"/>
          </a:solidFill>
          <a:ln w="12700">
            <a:solidFill>
              <a:srgbClr val="333333"/>
            </a:solidFill>
            <a:prstDash val="solid"/>
          </a:ln>
        </p:spPr>
      </p:sp>
      <p:sp>
        <p:nvSpPr>
          <p:cNvPr id="30" name="Shape 28"/>
          <p:cNvSpPr/>
          <p:nvPr/>
        </p:nvSpPr>
        <p:spPr>
          <a:xfrm>
            <a:off x="548640" y="3886200"/>
            <a:ext cx="1645920" cy="274320"/>
          </a:xfrm>
          <a:prstGeom prst="roundRect">
            <a:avLst>
              <a:gd name="adj" fmla="val 20000"/>
            </a:avLst>
          </a:prstGeom>
          <a:solidFill>
            <a:srgbClr val="FF6B35">
              <a:alpha val="80000"/>
            </a:srgbClr>
          </a:solidFill>
          <a:ln w="12700">
            <a:solidFill>
              <a:srgbClr val="FF6B35"/>
            </a:solidFill>
            <a:prstDash val="solid"/>
          </a:ln>
        </p:spPr>
      </p:sp>
      <p:sp>
        <p:nvSpPr>
          <p:cNvPr id="31" name="Text 29"/>
          <p:cNvSpPr/>
          <p:nvPr/>
        </p:nvSpPr>
        <p:spPr>
          <a:xfrm>
            <a:off x="548640" y="3886200"/>
            <a:ext cx="164592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Best for Long Docs</a:t>
            </a:r>
            <a:endParaRPr lang="en-US" sz="850" dirty="0"/>
          </a:p>
        </p:txBody>
      </p:sp>
      <p:sp>
        <p:nvSpPr>
          <p:cNvPr id="32" name="Text 30"/>
          <p:cNvSpPr/>
          <p:nvPr/>
        </p:nvSpPr>
        <p:spPr>
          <a:xfrm>
            <a:off x="2331720" y="3849624"/>
            <a:ext cx="3383280" cy="365760"/>
          </a:xfrm>
          <a:prstGeom prst="rect">
            <a:avLst/>
          </a:prstGeom>
          <a:noFill/>
          <a:ln/>
        </p:spPr>
        <p:txBody>
          <a:bodyPr wrap="square" rtlCol="0" anchor="ctr"/>
          <a:lstStyle/>
          <a:p>
            <a:pPr algn="r" indent="0" marL="0">
              <a:buNone/>
            </a:pPr>
            <a:r>
              <a:rPr lang="en-US" sz="1600" b="1" dirty="0">
                <a:solidFill>
                  <a:srgbClr val="FFFFFF"/>
                </a:solidFill>
                <a:latin typeface="Calibri" pitchFamily="34" charset="0"/>
                <a:ea typeface="Calibri" pitchFamily="34" charset="-122"/>
                <a:cs typeface="Calibri" pitchFamily="34" charset="-120"/>
              </a:rPr>
              <a:t>Claude 3.5 Sonnet</a:t>
            </a:r>
            <a:endParaRPr lang="en-US" sz="1600" dirty="0"/>
          </a:p>
        </p:txBody>
      </p:sp>
      <p:sp>
        <p:nvSpPr>
          <p:cNvPr id="33" name="Text 31"/>
          <p:cNvSpPr/>
          <p:nvPr/>
        </p:nvSpPr>
        <p:spPr>
          <a:xfrm>
            <a:off x="2331720" y="4197096"/>
            <a:ext cx="3383280" cy="228600"/>
          </a:xfrm>
          <a:prstGeom prst="rect">
            <a:avLst/>
          </a:prstGeom>
          <a:noFill/>
          <a:ln/>
        </p:spPr>
        <p:txBody>
          <a:bodyPr wrap="square" rtlCol="0" anchor="ctr"/>
          <a:lstStyle/>
          <a:p>
            <a:pPr algn="r" indent="0" marL="0">
              <a:buNone/>
            </a:pPr>
            <a:r>
              <a:rPr lang="en-US" sz="900" dirty="0">
                <a:solidFill>
                  <a:srgbClr val="B0BEC5"/>
                </a:solidFill>
                <a:latin typeface="Calibri" pitchFamily="34" charset="0"/>
                <a:ea typeface="Calibri" pitchFamily="34" charset="-122"/>
                <a:cs typeface="Calibri" pitchFamily="34" charset="-120"/>
              </a:rPr>
              <a:t>by Anthropic</a:t>
            </a:r>
            <a:endParaRPr lang="en-US" sz="900" dirty="0"/>
          </a:p>
        </p:txBody>
      </p:sp>
      <p:sp>
        <p:nvSpPr>
          <p:cNvPr id="34" name="Shape 32"/>
          <p:cNvSpPr/>
          <p:nvPr/>
        </p:nvSpPr>
        <p:spPr>
          <a:xfrm>
            <a:off x="548640" y="4526280"/>
            <a:ext cx="5212080" cy="27432"/>
          </a:xfrm>
          <a:prstGeom prst="rect">
            <a:avLst/>
          </a:prstGeom>
          <a:solidFill>
            <a:srgbClr val="253A52"/>
          </a:solidFill>
          <a:ln w="12700">
            <a:solidFill>
              <a:srgbClr val="333333"/>
            </a:solidFill>
            <a:prstDash val="solid"/>
          </a:ln>
        </p:spPr>
      </p:sp>
      <p:sp>
        <p:nvSpPr>
          <p:cNvPr id="35" name="Text 33"/>
          <p:cNvSpPr/>
          <p:nvPr/>
        </p:nvSpPr>
        <p:spPr>
          <a:xfrm>
            <a:off x="548640" y="4617720"/>
            <a:ext cx="5212080" cy="74980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Developed by Anthropic — exceptional at reading and reasoning over long documents. Particularly strong for legal and technical content.</a:t>
            </a:r>
            <a:endParaRPr lang="en-US" sz="1100" dirty="0"/>
          </a:p>
        </p:txBody>
      </p:sp>
      <p:sp>
        <p:nvSpPr>
          <p:cNvPr id="36" name="Text 34"/>
          <p:cNvSpPr/>
          <p:nvPr/>
        </p:nvSpPr>
        <p:spPr>
          <a:xfrm>
            <a:off x="548640" y="5458968"/>
            <a:ext cx="5212080" cy="256032"/>
          </a:xfrm>
          <a:prstGeom prst="rect">
            <a:avLst/>
          </a:prstGeom>
          <a:noFill/>
          <a:ln/>
        </p:spPr>
        <p:txBody>
          <a:bodyPr wrap="square" rtlCol="0" anchor="ctr"/>
          <a:lstStyle/>
          <a:p>
            <a:pPr indent="0" marL="0">
              <a:buNone/>
            </a:pPr>
            <a:r>
              <a:rPr lang="en-US" sz="1000" b="1" dirty="0">
                <a:solidFill>
                  <a:srgbClr val="FF6B35"/>
                </a:solidFill>
                <a:latin typeface="Calibri" pitchFamily="34" charset="0"/>
                <a:ea typeface="Calibri" pitchFamily="34" charset="-122"/>
                <a:cs typeface="Calibri" pitchFamily="34" charset="-120"/>
              </a:rPr>
              <a:t>Best for: Long documents, legal &amp; technical text</a:t>
            </a:r>
            <a:endParaRPr lang="en-US" sz="1000" dirty="0"/>
          </a:p>
        </p:txBody>
      </p:sp>
      <p:sp>
        <p:nvSpPr>
          <p:cNvPr id="37" name="Shape 35"/>
          <p:cNvSpPr/>
          <p:nvPr/>
        </p:nvSpPr>
        <p:spPr>
          <a:xfrm>
            <a:off x="6263640" y="3721608"/>
            <a:ext cx="5577840" cy="2103120"/>
          </a:xfrm>
          <a:prstGeom prst="roundRect">
            <a:avLst>
              <a:gd name="adj" fmla="val 5217"/>
            </a:avLst>
          </a:prstGeom>
          <a:solidFill>
            <a:srgbClr val="162233"/>
          </a:solidFill>
          <a:ln w="15240">
            <a:solidFill>
              <a:srgbClr val="253A52"/>
            </a:solidFill>
            <a:prstDash val="solid"/>
          </a:ln>
        </p:spPr>
      </p:sp>
      <p:sp>
        <p:nvSpPr>
          <p:cNvPr id="38" name="Shape 36"/>
          <p:cNvSpPr/>
          <p:nvPr/>
        </p:nvSpPr>
        <p:spPr>
          <a:xfrm>
            <a:off x="6263640" y="3721608"/>
            <a:ext cx="5577840" cy="82296"/>
          </a:xfrm>
          <a:prstGeom prst="rect">
            <a:avLst/>
          </a:prstGeom>
          <a:solidFill>
            <a:srgbClr val="00C9A7"/>
          </a:solidFill>
          <a:ln w="12700">
            <a:solidFill>
              <a:srgbClr val="333333"/>
            </a:solidFill>
            <a:prstDash val="solid"/>
          </a:ln>
        </p:spPr>
      </p:sp>
      <p:sp>
        <p:nvSpPr>
          <p:cNvPr id="39" name="Shape 37"/>
          <p:cNvSpPr/>
          <p:nvPr/>
        </p:nvSpPr>
        <p:spPr>
          <a:xfrm>
            <a:off x="6446520" y="3886200"/>
            <a:ext cx="1645920" cy="274320"/>
          </a:xfrm>
          <a:prstGeom prst="roundRect">
            <a:avLst>
              <a:gd name="adj" fmla="val 20000"/>
            </a:avLst>
          </a:prstGeom>
          <a:solidFill>
            <a:srgbClr val="00C9A7">
              <a:alpha val="80000"/>
            </a:srgbClr>
          </a:solidFill>
          <a:ln w="12700">
            <a:solidFill>
              <a:srgbClr val="00C9A7"/>
            </a:solidFill>
            <a:prstDash val="solid"/>
          </a:ln>
        </p:spPr>
      </p:sp>
      <p:sp>
        <p:nvSpPr>
          <p:cNvPr id="40" name="Text 38"/>
          <p:cNvSpPr/>
          <p:nvPr/>
        </p:nvSpPr>
        <p:spPr>
          <a:xfrm>
            <a:off x="6446520" y="3886200"/>
            <a:ext cx="1645920" cy="27432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Structured Data</a:t>
            </a:r>
            <a:endParaRPr lang="en-US" sz="850" dirty="0"/>
          </a:p>
        </p:txBody>
      </p:sp>
      <p:sp>
        <p:nvSpPr>
          <p:cNvPr id="41" name="Text 39"/>
          <p:cNvSpPr/>
          <p:nvPr/>
        </p:nvSpPr>
        <p:spPr>
          <a:xfrm>
            <a:off x="8229600" y="3849624"/>
            <a:ext cx="3383280" cy="365760"/>
          </a:xfrm>
          <a:prstGeom prst="rect">
            <a:avLst/>
          </a:prstGeom>
          <a:noFill/>
          <a:ln/>
        </p:spPr>
        <p:txBody>
          <a:bodyPr wrap="square" rtlCol="0" anchor="ctr"/>
          <a:lstStyle/>
          <a:p>
            <a:pPr algn="r" indent="0" marL="0">
              <a:buNone/>
            </a:pPr>
            <a:r>
              <a:rPr lang="en-US" sz="1600" b="1" dirty="0">
                <a:solidFill>
                  <a:srgbClr val="FFFFFF"/>
                </a:solidFill>
                <a:latin typeface="Calibri" pitchFamily="34" charset="0"/>
                <a:ea typeface="Calibri" pitchFamily="34" charset="-122"/>
                <a:cs typeface="Calibri" pitchFamily="34" charset="-120"/>
              </a:rPr>
              <a:t>Gemini 2.5 Flash</a:t>
            </a:r>
            <a:endParaRPr lang="en-US" sz="1600" dirty="0"/>
          </a:p>
        </p:txBody>
      </p:sp>
      <p:sp>
        <p:nvSpPr>
          <p:cNvPr id="42" name="Text 40"/>
          <p:cNvSpPr/>
          <p:nvPr/>
        </p:nvSpPr>
        <p:spPr>
          <a:xfrm>
            <a:off x="8229600" y="4197096"/>
            <a:ext cx="3383280" cy="228600"/>
          </a:xfrm>
          <a:prstGeom prst="rect">
            <a:avLst/>
          </a:prstGeom>
          <a:noFill/>
          <a:ln/>
        </p:spPr>
        <p:txBody>
          <a:bodyPr wrap="square" rtlCol="0" anchor="ctr"/>
          <a:lstStyle/>
          <a:p>
            <a:pPr algn="r" indent="0" marL="0">
              <a:buNone/>
            </a:pPr>
            <a:r>
              <a:rPr lang="en-US" sz="900" dirty="0">
                <a:solidFill>
                  <a:srgbClr val="B0BEC5"/>
                </a:solidFill>
                <a:latin typeface="Calibri" pitchFamily="34" charset="0"/>
                <a:ea typeface="Calibri" pitchFamily="34" charset="-122"/>
                <a:cs typeface="Calibri" pitchFamily="34" charset="-120"/>
              </a:rPr>
              <a:t>by Google</a:t>
            </a:r>
            <a:endParaRPr lang="en-US" sz="900" dirty="0"/>
          </a:p>
        </p:txBody>
      </p:sp>
      <p:sp>
        <p:nvSpPr>
          <p:cNvPr id="43" name="Shape 41"/>
          <p:cNvSpPr/>
          <p:nvPr/>
        </p:nvSpPr>
        <p:spPr>
          <a:xfrm>
            <a:off x="6446520" y="4526280"/>
            <a:ext cx="5212080" cy="27432"/>
          </a:xfrm>
          <a:prstGeom prst="rect">
            <a:avLst/>
          </a:prstGeom>
          <a:solidFill>
            <a:srgbClr val="253A52"/>
          </a:solidFill>
          <a:ln w="12700">
            <a:solidFill>
              <a:srgbClr val="333333"/>
            </a:solidFill>
            <a:prstDash val="solid"/>
          </a:ln>
        </p:spPr>
      </p:sp>
      <p:sp>
        <p:nvSpPr>
          <p:cNvPr id="44" name="Text 42"/>
          <p:cNvSpPr/>
          <p:nvPr/>
        </p:nvSpPr>
        <p:spPr>
          <a:xfrm>
            <a:off x="6446520" y="4617720"/>
            <a:ext cx="5212080" cy="749808"/>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Google's fast AI model — excels at understanding structured data like spreadsheets and tabular information.</a:t>
            </a:r>
            <a:endParaRPr lang="en-US" sz="1100" dirty="0"/>
          </a:p>
        </p:txBody>
      </p:sp>
      <p:sp>
        <p:nvSpPr>
          <p:cNvPr id="45" name="Text 43"/>
          <p:cNvSpPr/>
          <p:nvPr/>
        </p:nvSpPr>
        <p:spPr>
          <a:xfrm>
            <a:off x="6446520" y="5458968"/>
            <a:ext cx="5212080" cy="256032"/>
          </a:xfrm>
          <a:prstGeom prst="rect">
            <a:avLst/>
          </a:prstGeom>
          <a:noFill/>
          <a:ln/>
        </p:spPr>
        <p:txBody>
          <a:bodyPr wrap="square" rtlCol="0" anchor="ctr"/>
          <a:lstStyle/>
          <a:p>
            <a:pPr indent="0" marL="0">
              <a:buNone/>
            </a:pPr>
            <a:r>
              <a:rPr lang="en-US" sz="1000" b="1" dirty="0">
                <a:solidFill>
                  <a:srgbClr val="00C9A7"/>
                </a:solidFill>
                <a:latin typeface="Calibri" pitchFamily="34" charset="0"/>
                <a:ea typeface="Calibri" pitchFamily="34" charset="-122"/>
                <a:cs typeface="Calibri" pitchFamily="34" charset="-120"/>
              </a:rPr>
              <a:t>Best for: Spreadsheets, financial data, tables</a:t>
            </a:r>
            <a:endParaRPr lang="en-US" sz="1000" dirty="0"/>
          </a:p>
        </p:txBody>
      </p:sp>
      <p:sp>
        <p:nvSpPr>
          <p:cNvPr id="46" name="Text 44"/>
          <p:cNvSpPr/>
          <p:nvPr/>
        </p:nvSpPr>
        <p:spPr>
          <a:xfrm>
            <a:off x="365760" y="6309360"/>
            <a:ext cx="11430000" cy="365760"/>
          </a:xfrm>
          <a:prstGeom prst="rect">
            <a:avLst/>
          </a:prstGeom>
          <a:noFill/>
          <a:ln/>
        </p:spPr>
        <p:txBody>
          <a:bodyPr wrap="square" rtlCol="0" anchor="t"/>
          <a:lstStyle/>
          <a:p>
            <a:pPr algn="l" indent="0" marL="0">
              <a:buNone/>
            </a:pPr>
            <a:r>
              <a:rPr lang="en-US" sz="1050" i="1" dirty="0">
                <a:solidFill>
                  <a:srgbClr val="B0BEC5"/>
                </a:solidFill>
                <a:latin typeface="Calibri" pitchFamily="34" charset="0"/>
                <a:ea typeface="Calibri" pitchFamily="34" charset="-122"/>
                <a:cs typeface="Calibri" pitchFamily="34" charset="-120"/>
              </a:rPr>
              <a:t>All models are accessed via OpenRouter — a unified service that connects to multiple AI providers. You can switch models at any time from the Settings panel.</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INTERFACE</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Application Interface — Screen Layout</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12 / 20</a:t>
            </a:r>
            <a:endParaRPr lang="en-US" sz="750" dirty="0"/>
          </a:p>
        </p:txBody>
      </p:sp>
      <p:sp>
        <p:nvSpPr>
          <p:cNvPr id="10" name="Shape 8"/>
          <p:cNvSpPr/>
          <p:nvPr/>
        </p:nvSpPr>
        <p:spPr>
          <a:xfrm>
            <a:off x="365760" y="1389888"/>
            <a:ext cx="11430000" cy="5074920"/>
          </a:xfrm>
          <a:prstGeom prst="roundRect">
            <a:avLst>
              <a:gd name="adj" fmla="val 2162"/>
            </a:avLst>
          </a:prstGeom>
          <a:solidFill>
            <a:srgbClr val="0A1525"/>
          </a:solidFill>
          <a:ln w="15240">
            <a:solidFill>
              <a:srgbClr val="253A52"/>
            </a:solidFill>
            <a:prstDash val="solid"/>
          </a:ln>
        </p:spPr>
      </p:sp>
      <p:sp>
        <p:nvSpPr>
          <p:cNvPr id="11" name="Shape 9"/>
          <p:cNvSpPr/>
          <p:nvPr/>
        </p:nvSpPr>
        <p:spPr>
          <a:xfrm>
            <a:off x="365760" y="1389888"/>
            <a:ext cx="11430000" cy="411480"/>
          </a:xfrm>
          <a:prstGeom prst="rect">
            <a:avLst/>
          </a:prstGeom>
          <a:solidFill>
            <a:srgbClr val="0D1B2A"/>
          </a:solidFill>
          <a:ln w="12700">
            <a:solidFill>
              <a:srgbClr val="333333"/>
            </a:solidFill>
            <a:prstDash val="solid"/>
          </a:ln>
        </p:spPr>
      </p:sp>
      <p:sp>
        <p:nvSpPr>
          <p:cNvPr id="12" name="Text 10"/>
          <p:cNvSpPr/>
          <p:nvPr/>
        </p:nvSpPr>
        <p:spPr>
          <a:xfrm>
            <a:off x="548640" y="1426464"/>
            <a:ext cx="2743200" cy="347472"/>
          </a:xfrm>
          <a:prstGeom prst="rect">
            <a:avLst/>
          </a:prstGeom>
          <a:noFill/>
          <a:ln/>
        </p:spPr>
        <p:txBody>
          <a:bodyPr wrap="square" rtlCol="0" anchor="ctr"/>
          <a:lstStyle/>
          <a:p>
            <a:pPr indent="0" marL="0">
              <a:buNone/>
            </a:pPr>
            <a:r>
              <a:rPr lang="en-US" sz="1100" b="1" dirty="0">
                <a:solidFill>
                  <a:srgbClr val="4F8EF7"/>
                </a:solidFill>
                <a:latin typeface="Calibri" pitchFamily="34" charset="0"/>
                <a:ea typeface="Calibri" pitchFamily="34" charset="-122"/>
                <a:cs typeface="Calibri" pitchFamily="34" charset="-120"/>
              </a:rPr>
              <a:t>DocuChat AI</a:t>
            </a:r>
            <a:endParaRPr lang="en-US" sz="1100" dirty="0"/>
          </a:p>
        </p:txBody>
      </p:sp>
      <p:sp>
        <p:nvSpPr>
          <p:cNvPr id="13" name="Text 11"/>
          <p:cNvSpPr/>
          <p:nvPr/>
        </p:nvSpPr>
        <p:spPr>
          <a:xfrm>
            <a:off x="8686800" y="1426464"/>
            <a:ext cx="2926080" cy="347472"/>
          </a:xfrm>
          <a:prstGeom prst="rect">
            <a:avLst/>
          </a:prstGeom>
          <a:noFill/>
          <a:ln/>
        </p:spPr>
        <p:txBody>
          <a:bodyPr wrap="square" rtlCol="0" anchor="ctr"/>
          <a:lstStyle/>
          <a:p>
            <a:pPr algn="r" indent="0" marL="0">
              <a:buNone/>
            </a:pPr>
            <a:r>
              <a:rPr lang="en-US" sz="900" dirty="0">
                <a:solidFill>
                  <a:srgbClr val="B0BEC5"/>
                </a:solidFill>
                <a:latin typeface="Calibri" pitchFamily="34" charset="0"/>
                <a:ea typeface="Calibri" pitchFamily="34" charset="-122"/>
                <a:cs typeface="Calibri" pitchFamily="34" charset="-120"/>
              </a:rPr>
              <a:t>Welcome, User      Sign Out</a:t>
            </a:r>
            <a:endParaRPr lang="en-US" sz="900" dirty="0"/>
          </a:p>
        </p:txBody>
      </p:sp>
      <p:sp>
        <p:nvSpPr>
          <p:cNvPr id="14" name="Shape 12"/>
          <p:cNvSpPr/>
          <p:nvPr/>
        </p:nvSpPr>
        <p:spPr>
          <a:xfrm>
            <a:off x="365760" y="1801368"/>
            <a:ext cx="2560320" cy="4663440"/>
          </a:xfrm>
          <a:prstGeom prst="rect">
            <a:avLst/>
          </a:prstGeom>
          <a:solidFill>
            <a:srgbClr val="1B2A3B"/>
          </a:solidFill>
          <a:ln w="12700">
            <a:solidFill>
              <a:srgbClr val="333333"/>
            </a:solidFill>
            <a:prstDash val="solid"/>
          </a:ln>
        </p:spPr>
      </p:sp>
      <p:sp>
        <p:nvSpPr>
          <p:cNvPr id="15" name="Text 13"/>
          <p:cNvSpPr/>
          <p:nvPr/>
        </p:nvSpPr>
        <p:spPr>
          <a:xfrm>
            <a:off x="502920" y="1874520"/>
            <a:ext cx="2286000" cy="228600"/>
          </a:xfrm>
          <a:prstGeom prst="rect">
            <a:avLst/>
          </a:prstGeom>
          <a:noFill/>
          <a:ln/>
        </p:spPr>
        <p:txBody>
          <a:bodyPr wrap="square" rtlCol="0" anchor="ctr"/>
          <a:lstStyle/>
          <a:p>
            <a:pPr indent="0" marL="0">
              <a:buNone/>
            </a:pPr>
            <a:r>
              <a:rPr lang="en-US" sz="750" b="1" dirty="0">
                <a:solidFill>
                  <a:srgbClr val="4F8EF7"/>
                </a:solidFill>
                <a:latin typeface="Calibri" pitchFamily="34" charset="0"/>
                <a:ea typeface="Calibri" pitchFamily="34" charset="-122"/>
                <a:cs typeface="Calibri" pitchFamily="34" charset="-120"/>
              </a:rPr>
              <a:t>MY DOCUMENTS</a:t>
            </a:r>
            <a:endParaRPr lang="en-US" sz="750" dirty="0"/>
          </a:p>
        </p:txBody>
      </p:sp>
      <p:sp>
        <p:nvSpPr>
          <p:cNvPr id="16" name="Shape 14"/>
          <p:cNvSpPr/>
          <p:nvPr/>
        </p:nvSpPr>
        <p:spPr>
          <a:xfrm>
            <a:off x="475488" y="2176272"/>
            <a:ext cx="2286000" cy="347472"/>
          </a:xfrm>
          <a:prstGeom prst="roundRect">
            <a:avLst>
              <a:gd name="adj" fmla="val 13158"/>
            </a:avLst>
          </a:prstGeom>
          <a:solidFill>
            <a:srgbClr val="162233"/>
          </a:solidFill>
          <a:ln w="10160">
            <a:solidFill>
              <a:srgbClr val="253A52"/>
            </a:solidFill>
            <a:prstDash val="solid"/>
          </a:ln>
        </p:spPr>
      </p:sp>
      <p:sp>
        <p:nvSpPr>
          <p:cNvPr id="17" name="Text 15"/>
          <p:cNvSpPr/>
          <p:nvPr/>
        </p:nvSpPr>
        <p:spPr>
          <a:xfrm>
            <a:off x="548640" y="2176272"/>
            <a:ext cx="2139696" cy="347472"/>
          </a:xfrm>
          <a:prstGeom prst="rect">
            <a:avLst/>
          </a:prstGeom>
          <a:noFill/>
          <a:ln/>
        </p:spPr>
        <p:txBody>
          <a:bodyPr wrap="square" rtlCol="0" anchor="ctr"/>
          <a:lstStyle/>
          <a:p>
            <a:pPr indent="0" marL="0">
              <a:buNone/>
            </a:pPr>
            <a:r>
              <a:rPr lang="en-US" sz="800" dirty="0">
                <a:solidFill>
                  <a:srgbClr val="CFD8DC"/>
                </a:solidFill>
                <a:latin typeface="Calibri" pitchFamily="34" charset="0"/>
                <a:ea typeface="Calibri" pitchFamily="34" charset="-122"/>
                <a:cs typeface="Calibri" pitchFamily="34" charset="-120"/>
              </a:rPr>
              <a:t>📄 report_q3.pdf</a:t>
            </a:r>
            <a:endParaRPr lang="en-US" sz="800" dirty="0"/>
          </a:p>
        </p:txBody>
      </p:sp>
      <p:sp>
        <p:nvSpPr>
          <p:cNvPr id="18" name="Shape 16"/>
          <p:cNvSpPr/>
          <p:nvPr/>
        </p:nvSpPr>
        <p:spPr>
          <a:xfrm>
            <a:off x="475488" y="2615184"/>
            <a:ext cx="2286000" cy="347472"/>
          </a:xfrm>
          <a:prstGeom prst="roundRect">
            <a:avLst>
              <a:gd name="adj" fmla="val 13158"/>
            </a:avLst>
          </a:prstGeom>
          <a:solidFill>
            <a:srgbClr val="162233"/>
          </a:solidFill>
          <a:ln w="10160">
            <a:solidFill>
              <a:srgbClr val="253A52"/>
            </a:solidFill>
            <a:prstDash val="solid"/>
          </a:ln>
        </p:spPr>
      </p:sp>
      <p:sp>
        <p:nvSpPr>
          <p:cNvPr id="19" name="Text 17"/>
          <p:cNvSpPr/>
          <p:nvPr/>
        </p:nvSpPr>
        <p:spPr>
          <a:xfrm>
            <a:off x="548640" y="2615184"/>
            <a:ext cx="2139696" cy="347472"/>
          </a:xfrm>
          <a:prstGeom prst="rect">
            <a:avLst/>
          </a:prstGeom>
          <a:noFill/>
          <a:ln/>
        </p:spPr>
        <p:txBody>
          <a:bodyPr wrap="square" rtlCol="0" anchor="ctr"/>
          <a:lstStyle/>
          <a:p>
            <a:pPr indent="0" marL="0">
              <a:buNone/>
            </a:pPr>
            <a:r>
              <a:rPr lang="en-US" sz="800" dirty="0">
                <a:solidFill>
                  <a:srgbClr val="CFD8DC"/>
                </a:solidFill>
                <a:latin typeface="Calibri" pitchFamily="34" charset="0"/>
                <a:ea typeface="Calibri" pitchFamily="34" charset="-122"/>
                <a:cs typeface="Calibri" pitchFamily="34" charset="-120"/>
              </a:rPr>
              <a:t>📄 contract.pdf</a:t>
            </a:r>
            <a:endParaRPr lang="en-US" sz="800" dirty="0"/>
          </a:p>
        </p:txBody>
      </p:sp>
      <p:sp>
        <p:nvSpPr>
          <p:cNvPr id="20" name="Shape 18"/>
          <p:cNvSpPr/>
          <p:nvPr/>
        </p:nvSpPr>
        <p:spPr>
          <a:xfrm>
            <a:off x="475488" y="3054096"/>
            <a:ext cx="2286000" cy="347472"/>
          </a:xfrm>
          <a:prstGeom prst="roundRect">
            <a:avLst>
              <a:gd name="adj" fmla="val 13158"/>
            </a:avLst>
          </a:prstGeom>
          <a:solidFill>
            <a:srgbClr val="162233"/>
          </a:solidFill>
          <a:ln w="10160">
            <a:solidFill>
              <a:srgbClr val="253A52"/>
            </a:solidFill>
            <a:prstDash val="solid"/>
          </a:ln>
        </p:spPr>
      </p:sp>
      <p:sp>
        <p:nvSpPr>
          <p:cNvPr id="21" name="Text 19"/>
          <p:cNvSpPr/>
          <p:nvPr/>
        </p:nvSpPr>
        <p:spPr>
          <a:xfrm>
            <a:off x="548640" y="3054096"/>
            <a:ext cx="2139696" cy="347472"/>
          </a:xfrm>
          <a:prstGeom prst="rect">
            <a:avLst/>
          </a:prstGeom>
          <a:noFill/>
          <a:ln/>
        </p:spPr>
        <p:txBody>
          <a:bodyPr wrap="square" rtlCol="0" anchor="ctr"/>
          <a:lstStyle/>
          <a:p>
            <a:pPr indent="0" marL="0">
              <a:buNone/>
            </a:pPr>
            <a:r>
              <a:rPr lang="en-US" sz="800" dirty="0">
                <a:solidFill>
                  <a:srgbClr val="CFD8DC"/>
                </a:solidFill>
                <a:latin typeface="Calibri" pitchFamily="34" charset="0"/>
                <a:ea typeface="Calibri" pitchFamily="34" charset="-122"/>
                <a:cs typeface="Calibri" pitchFamily="34" charset="-120"/>
              </a:rPr>
              <a:t>📄 data.xlsx</a:t>
            </a:r>
            <a:endParaRPr lang="en-US" sz="800" dirty="0"/>
          </a:p>
        </p:txBody>
      </p:sp>
      <p:sp>
        <p:nvSpPr>
          <p:cNvPr id="22" name="Text 20"/>
          <p:cNvSpPr/>
          <p:nvPr/>
        </p:nvSpPr>
        <p:spPr>
          <a:xfrm>
            <a:off x="502920" y="3611880"/>
            <a:ext cx="2286000" cy="228600"/>
          </a:xfrm>
          <a:prstGeom prst="rect">
            <a:avLst/>
          </a:prstGeom>
          <a:noFill/>
          <a:ln/>
        </p:spPr>
        <p:txBody>
          <a:bodyPr wrap="square" rtlCol="0" anchor="ctr"/>
          <a:lstStyle/>
          <a:p>
            <a:pPr indent="0" marL="0">
              <a:buNone/>
            </a:pPr>
            <a:r>
              <a:rPr lang="en-US" sz="750" b="1" dirty="0">
                <a:solidFill>
                  <a:srgbClr val="4F8EF7"/>
                </a:solidFill>
                <a:latin typeface="Calibri" pitchFamily="34" charset="0"/>
                <a:ea typeface="Calibri" pitchFamily="34" charset="-122"/>
                <a:cs typeface="Calibri" pitchFamily="34" charset="-120"/>
              </a:rPr>
              <a:t>SETTINGS</a:t>
            </a:r>
            <a:endParaRPr lang="en-US" sz="750" dirty="0"/>
          </a:p>
        </p:txBody>
      </p:sp>
      <p:sp>
        <p:nvSpPr>
          <p:cNvPr id="23" name="Text 21"/>
          <p:cNvSpPr/>
          <p:nvPr/>
        </p:nvSpPr>
        <p:spPr>
          <a:xfrm>
            <a:off x="548640" y="3913632"/>
            <a:ext cx="2286000" cy="292608"/>
          </a:xfrm>
          <a:prstGeom prst="rect">
            <a:avLst/>
          </a:prstGeom>
          <a:noFill/>
          <a:ln/>
        </p:spPr>
        <p:txBody>
          <a:bodyPr wrap="square" rtlCol="0" anchor="ctr"/>
          <a:lstStyle/>
          <a:p>
            <a:pPr indent="0" marL="0">
              <a:buNone/>
            </a:pPr>
            <a:r>
              <a:rPr lang="en-US" sz="850" dirty="0">
                <a:solidFill>
                  <a:srgbClr val="CFD8DC"/>
                </a:solidFill>
                <a:latin typeface="Calibri" pitchFamily="34" charset="0"/>
                <a:ea typeface="Calibri" pitchFamily="34" charset="-122"/>
                <a:cs typeface="Calibri" pitchFamily="34" charset="-120"/>
              </a:rPr>
              <a:t>AI Model: GPT-4o</a:t>
            </a:r>
            <a:endParaRPr lang="en-US" sz="850" dirty="0"/>
          </a:p>
        </p:txBody>
      </p:sp>
      <p:sp>
        <p:nvSpPr>
          <p:cNvPr id="24" name="Text 22"/>
          <p:cNvSpPr/>
          <p:nvPr/>
        </p:nvSpPr>
        <p:spPr>
          <a:xfrm>
            <a:off x="548640" y="4279392"/>
            <a:ext cx="2286000" cy="292608"/>
          </a:xfrm>
          <a:prstGeom prst="rect">
            <a:avLst/>
          </a:prstGeom>
          <a:noFill/>
          <a:ln/>
        </p:spPr>
        <p:txBody>
          <a:bodyPr wrap="square" rtlCol="0" anchor="ctr"/>
          <a:lstStyle/>
          <a:p>
            <a:pPr indent="0" marL="0">
              <a:buNone/>
            </a:pPr>
            <a:r>
              <a:rPr lang="en-US" sz="850" dirty="0">
                <a:solidFill>
                  <a:srgbClr val="CFD8DC"/>
                </a:solidFill>
                <a:latin typeface="Calibri" pitchFamily="34" charset="0"/>
                <a:ea typeface="Calibri" pitchFamily="34" charset="-122"/>
                <a:cs typeface="Calibri" pitchFamily="34" charset="-120"/>
              </a:rPr>
              <a:t>Chain Type: Stuff</a:t>
            </a:r>
            <a:endParaRPr lang="en-US" sz="850" dirty="0"/>
          </a:p>
        </p:txBody>
      </p:sp>
      <p:sp>
        <p:nvSpPr>
          <p:cNvPr id="25" name="Text 23"/>
          <p:cNvSpPr/>
          <p:nvPr/>
        </p:nvSpPr>
        <p:spPr>
          <a:xfrm>
            <a:off x="548640" y="4645152"/>
            <a:ext cx="2286000" cy="292608"/>
          </a:xfrm>
          <a:prstGeom prst="rect">
            <a:avLst/>
          </a:prstGeom>
          <a:noFill/>
          <a:ln/>
        </p:spPr>
        <p:txBody>
          <a:bodyPr wrap="square" rtlCol="0" anchor="ctr"/>
          <a:lstStyle/>
          <a:p>
            <a:pPr indent="0" marL="0">
              <a:buNone/>
            </a:pPr>
            <a:r>
              <a:rPr lang="en-US" sz="850" dirty="0">
                <a:solidFill>
                  <a:srgbClr val="CFD8DC"/>
                </a:solidFill>
                <a:latin typeface="Calibri" pitchFamily="34" charset="0"/>
                <a:ea typeface="Calibri" pitchFamily="34" charset="-122"/>
                <a:cs typeface="Calibri" pitchFamily="34" charset="-120"/>
              </a:rPr>
              <a:t>Retrieval (k): 4</a:t>
            </a:r>
            <a:endParaRPr lang="en-US" sz="850" dirty="0"/>
          </a:p>
        </p:txBody>
      </p:sp>
      <p:sp>
        <p:nvSpPr>
          <p:cNvPr id="26" name="Shape 24"/>
          <p:cNvSpPr/>
          <p:nvPr/>
        </p:nvSpPr>
        <p:spPr>
          <a:xfrm>
            <a:off x="475488" y="5138928"/>
            <a:ext cx="2286000" cy="292608"/>
          </a:xfrm>
          <a:prstGeom prst="roundRect">
            <a:avLst>
              <a:gd name="adj" fmla="val 21875"/>
            </a:avLst>
          </a:prstGeom>
          <a:solidFill>
            <a:srgbClr val="4F8EF7"/>
          </a:solidFill>
          <a:ln w="10160">
            <a:solidFill>
              <a:srgbClr val="253A52"/>
            </a:solidFill>
            <a:prstDash val="solid"/>
          </a:ln>
        </p:spPr>
      </p:sp>
      <p:sp>
        <p:nvSpPr>
          <p:cNvPr id="27" name="Text 25"/>
          <p:cNvSpPr/>
          <p:nvPr/>
        </p:nvSpPr>
        <p:spPr>
          <a:xfrm>
            <a:off x="475488" y="5138928"/>
            <a:ext cx="2286000" cy="292608"/>
          </a:xfrm>
          <a:prstGeom prst="rect">
            <a:avLst/>
          </a:prstGeom>
          <a:no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 Upload Files</a:t>
            </a:r>
            <a:endParaRPr lang="en-US" sz="800" dirty="0"/>
          </a:p>
        </p:txBody>
      </p:sp>
      <p:sp>
        <p:nvSpPr>
          <p:cNvPr id="28" name="Shape 26"/>
          <p:cNvSpPr/>
          <p:nvPr/>
        </p:nvSpPr>
        <p:spPr>
          <a:xfrm>
            <a:off x="475488" y="5522976"/>
            <a:ext cx="2286000" cy="292608"/>
          </a:xfrm>
          <a:prstGeom prst="roundRect">
            <a:avLst>
              <a:gd name="adj" fmla="val 21875"/>
            </a:avLst>
          </a:prstGeom>
          <a:solidFill>
            <a:srgbClr val="162233"/>
          </a:solidFill>
          <a:ln w="10160">
            <a:solidFill>
              <a:srgbClr val="253A52"/>
            </a:solidFill>
            <a:prstDash val="solid"/>
          </a:ln>
        </p:spPr>
      </p:sp>
      <p:sp>
        <p:nvSpPr>
          <p:cNvPr id="29" name="Text 27"/>
          <p:cNvSpPr/>
          <p:nvPr/>
        </p:nvSpPr>
        <p:spPr>
          <a:xfrm>
            <a:off x="475488" y="5522976"/>
            <a:ext cx="2286000" cy="292608"/>
          </a:xfrm>
          <a:prstGeom prst="rect">
            <a:avLst/>
          </a:prstGeom>
          <a:noFill/>
          <a:ln/>
        </p:spPr>
        <p:txBody>
          <a:bodyPr wrap="square" rtlCol="0" anchor="ctr"/>
          <a:lstStyle/>
          <a:p>
            <a:pPr algn="ctr" indent="0" marL="0">
              <a:buNone/>
            </a:pPr>
            <a:r>
              <a:rPr lang="en-US" sz="800" dirty="0">
                <a:solidFill>
                  <a:srgbClr val="CFD8DC"/>
                </a:solidFill>
                <a:latin typeface="Calibri" pitchFamily="34" charset="0"/>
                <a:ea typeface="Calibri" pitchFamily="34" charset="-122"/>
                <a:cs typeface="Calibri" pitchFamily="34" charset="-120"/>
              </a:rPr>
              <a:t>🗑 Clear Chat</a:t>
            </a:r>
            <a:endParaRPr lang="en-US" sz="800" dirty="0"/>
          </a:p>
        </p:txBody>
      </p:sp>
      <p:sp>
        <p:nvSpPr>
          <p:cNvPr id="30" name="Shape 28"/>
          <p:cNvSpPr/>
          <p:nvPr/>
        </p:nvSpPr>
        <p:spPr>
          <a:xfrm>
            <a:off x="475488" y="5907024"/>
            <a:ext cx="2286000" cy="292608"/>
          </a:xfrm>
          <a:prstGeom prst="roundRect">
            <a:avLst>
              <a:gd name="adj" fmla="val 21875"/>
            </a:avLst>
          </a:prstGeom>
          <a:solidFill>
            <a:srgbClr val="162233"/>
          </a:solidFill>
          <a:ln w="10160">
            <a:solidFill>
              <a:srgbClr val="253A52"/>
            </a:solidFill>
            <a:prstDash val="solid"/>
          </a:ln>
        </p:spPr>
      </p:sp>
      <p:sp>
        <p:nvSpPr>
          <p:cNvPr id="31" name="Text 29"/>
          <p:cNvSpPr/>
          <p:nvPr/>
        </p:nvSpPr>
        <p:spPr>
          <a:xfrm>
            <a:off x="475488" y="5907024"/>
            <a:ext cx="2286000" cy="292608"/>
          </a:xfrm>
          <a:prstGeom prst="rect">
            <a:avLst/>
          </a:prstGeom>
          <a:noFill/>
          <a:ln/>
        </p:spPr>
        <p:txBody>
          <a:bodyPr wrap="square" rtlCol="0" anchor="ctr"/>
          <a:lstStyle/>
          <a:p>
            <a:pPr algn="ctr" indent="0" marL="0">
              <a:buNone/>
            </a:pPr>
            <a:r>
              <a:rPr lang="en-US" sz="800" dirty="0">
                <a:solidFill>
                  <a:srgbClr val="CFD8DC"/>
                </a:solidFill>
                <a:latin typeface="Calibri" pitchFamily="34" charset="0"/>
                <a:ea typeface="Calibri" pitchFamily="34" charset="-122"/>
                <a:cs typeface="Calibri" pitchFamily="34" charset="-120"/>
              </a:rPr>
              <a:t>📤 Export Chat</a:t>
            </a:r>
            <a:endParaRPr lang="en-US" sz="800" dirty="0"/>
          </a:p>
        </p:txBody>
      </p:sp>
      <p:sp>
        <p:nvSpPr>
          <p:cNvPr id="32" name="Shape 30"/>
          <p:cNvSpPr/>
          <p:nvPr/>
        </p:nvSpPr>
        <p:spPr>
          <a:xfrm>
            <a:off x="2926080" y="1801368"/>
            <a:ext cx="8869680" cy="4663440"/>
          </a:xfrm>
          <a:prstGeom prst="rect">
            <a:avLst/>
          </a:prstGeom>
          <a:solidFill>
            <a:srgbClr val="0A1520"/>
          </a:solidFill>
          <a:ln w="12700">
            <a:solidFill>
              <a:srgbClr val="333333"/>
            </a:solidFill>
            <a:prstDash val="solid"/>
          </a:ln>
        </p:spPr>
      </p:sp>
      <p:sp>
        <p:nvSpPr>
          <p:cNvPr id="33" name="Shape 31"/>
          <p:cNvSpPr/>
          <p:nvPr/>
        </p:nvSpPr>
        <p:spPr>
          <a:xfrm>
            <a:off x="6858000" y="1920240"/>
            <a:ext cx="4754880" cy="457200"/>
          </a:xfrm>
          <a:prstGeom prst="roundRect">
            <a:avLst>
              <a:gd name="adj" fmla="val 20000"/>
            </a:avLst>
          </a:prstGeom>
          <a:solidFill>
            <a:srgbClr val="1E3A5F"/>
          </a:solidFill>
          <a:ln w="12700">
            <a:solidFill>
              <a:srgbClr val="333333"/>
            </a:solidFill>
            <a:prstDash val="solid"/>
          </a:ln>
        </p:spPr>
      </p:sp>
      <p:sp>
        <p:nvSpPr>
          <p:cNvPr id="34" name="Text 32"/>
          <p:cNvSpPr/>
          <p:nvPr/>
        </p:nvSpPr>
        <p:spPr>
          <a:xfrm>
            <a:off x="6995160" y="1920240"/>
            <a:ext cx="4572000" cy="457200"/>
          </a:xfrm>
          <a:prstGeom prst="rect">
            <a:avLst/>
          </a:prstGeom>
          <a:noFill/>
          <a:ln/>
        </p:spPr>
        <p:txBody>
          <a:bodyPr wrap="square" rtlCol="0" anchor="ctr"/>
          <a:lstStyle/>
          <a:p>
            <a:pPr indent="0" marL="0">
              <a:buNone/>
            </a:pPr>
            <a:r>
              <a:rPr lang="en-US" sz="850" dirty="0">
                <a:solidFill>
                  <a:srgbClr val="FFFFFF"/>
                </a:solidFill>
                <a:latin typeface="Calibri" pitchFamily="34" charset="0"/>
                <a:ea typeface="Calibri" pitchFamily="34" charset="-122"/>
                <a:cs typeface="Calibri" pitchFamily="34" charset="-120"/>
              </a:rPr>
              <a:t>What is the revenue growth for Q3?</a:t>
            </a:r>
            <a:endParaRPr lang="en-US" sz="850" dirty="0"/>
          </a:p>
        </p:txBody>
      </p:sp>
      <p:sp>
        <p:nvSpPr>
          <p:cNvPr id="35" name="Shape 33"/>
          <p:cNvSpPr/>
          <p:nvPr/>
        </p:nvSpPr>
        <p:spPr>
          <a:xfrm>
            <a:off x="3017520" y="2514600"/>
            <a:ext cx="7315200" cy="822960"/>
          </a:xfrm>
          <a:prstGeom prst="roundRect">
            <a:avLst>
              <a:gd name="adj" fmla="val 11111"/>
            </a:avLst>
          </a:prstGeom>
          <a:solidFill>
            <a:srgbClr val="162233"/>
          </a:solidFill>
          <a:ln w="12700">
            <a:solidFill>
              <a:srgbClr val="333333"/>
            </a:solidFill>
            <a:prstDash val="solid"/>
          </a:ln>
        </p:spPr>
      </p:sp>
      <p:sp>
        <p:nvSpPr>
          <p:cNvPr id="36" name="Text 34"/>
          <p:cNvSpPr/>
          <p:nvPr/>
        </p:nvSpPr>
        <p:spPr>
          <a:xfrm>
            <a:off x="3154680" y="2542032"/>
            <a:ext cx="7040880" cy="768096"/>
          </a:xfrm>
          <a:prstGeom prst="rect">
            <a:avLst/>
          </a:prstGeom>
          <a:noFill/>
          <a:ln/>
        </p:spPr>
        <p:txBody>
          <a:bodyPr wrap="square" rtlCol="0" anchor="ctr"/>
          <a:lstStyle/>
          <a:p>
            <a:pPr indent="0" marL="0">
              <a:buNone/>
            </a:pPr>
            <a:r>
              <a:rPr lang="en-US" sz="850" dirty="0">
                <a:solidFill>
                  <a:srgbClr val="CFD8DC"/>
                </a:solidFill>
                <a:latin typeface="Calibri" pitchFamily="34" charset="0"/>
                <a:ea typeface="Calibri" pitchFamily="34" charset="-122"/>
                <a:cs typeface="Calibri" pitchFamily="34" charset="-120"/>
              </a:rPr>
              <a:t>Based on the Q3 report, revenue grew by 18.4% compared to the previous quarter, reaching $4.2M...</a:t>
            </a:r>
            <a:endParaRPr lang="en-US" sz="850" dirty="0"/>
          </a:p>
        </p:txBody>
      </p:sp>
      <p:sp>
        <p:nvSpPr>
          <p:cNvPr id="37" name="Shape 35"/>
          <p:cNvSpPr/>
          <p:nvPr/>
        </p:nvSpPr>
        <p:spPr>
          <a:xfrm>
            <a:off x="3017520" y="3401568"/>
            <a:ext cx="7296912" cy="256032"/>
          </a:xfrm>
          <a:prstGeom prst="rect">
            <a:avLst/>
          </a:prstGeom>
          <a:solidFill>
            <a:srgbClr val="0D2035"/>
          </a:solidFill>
          <a:ln w="12700">
            <a:solidFill>
              <a:srgbClr val="333333"/>
            </a:solidFill>
            <a:prstDash val="solid"/>
          </a:ln>
        </p:spPr>
      </p:sp>
      <p:sp>
        <p:nvSpPr>
          <p:cNvPr id="38" name="Text 36"/>
          <p:cNvSpPr/>
          <p:nvPr/>
        </p:nvSpPr>
        <p:spPr>
          <a:xfrm>
            <a:off x="3108960" y="3401568"/>
            <a:ext cx="7114032" cy="256032"/>
          </a:xfrm>
          <a:prstGeom prst="rect">
            <a:avLst/>
          </a:prstGeom>
          <a:noFill/>
          <a:ln/>
        </p:spPr>
        <p:txBody>
          <a:bodyPr wrap="square" rtlCol="0" anchor="ctr"/>
          <a:lstStyle/>
          <a:p>
            <a:pPr indent="0" marL="0">
              <a:buNone/>
            </a:pPr>
            <a:r>
              <a:rPr lang="en-US" sz="750" dirty="0">
                <a:solidFill>
                  <a:srgbClr val="4F8EF7"/>
                </a:solidFill>
                <a:latin typeface="Calibri" pitchFamily="34" charset="0"/>
                <a:ea typeface="Calibri" pitchFamily="34" charset="-122"/>
                <a:cs typeface="Calibri" pitchFamily="34" charset="-120"/>
              </a:rPr>
              <a:t>📎 Source: report_q3.pdf  Page 4  |  Relevance: 0.94</a:t>
            </a:r>
            <a:endParaRPr lang="en-US" sz="750" dirty="0"/>
          </a:p>
        </p:txBody>
      </p:sp>
      <p:sp>
        <p:nvSpPr>
          <p:cNvPr id="39" name="Shape 37"/>
          <p:cNvSpPr/>
          <p:nvPr/>
        </p:nvSpPr>
        <p:spPr>
          <a:xfrm>
            <a:off x="3017520" y="3749040"/>
            <a:ext cx="3520440" cy="256032"/>
          </a:xfrm>
          <a:prstGeom prst="roundRect">
            <a:avLst>
              <a:gd name="adj" fmla="val 21429"/>
            </a:avLst>
          </a:prstGeom>
          <a:solidFill>
            <a:srgbClr val="0D2035"/>
          </a:solidFill>
          <a:ln w="10160">
            <a:solidFill>
              <a:srgbClr val="4F8EF7"/>
            </a:solidFill>
            <a:prstDash val="solid"/>
          </a:ln>
        </p:spPr>
      </p:sp>
      <p:sp>
        <p:nvSpPr>
          <p:cNvPr id="40" name="Text 38"/>
          <p:cNvSpPr/>
          <p:nvPr/>
        </p:nvSpPr>
        <p:spPr>
          <a:xfrm>
            <a:off x="3090672" y="3749040"/>
            <a:ext cx="3383280" cy="256032"/>
          </a:xfrm>
          <a:prstGeom prst="rect">
            <a:avLst/>
          </a:prstGeom>
          <a:noFill/>
          <a:ln/>
        </p:spPr>
        <p:txBody>
          <a:bodyPr wrap="square" rtlCol="0" anchor="ctr"/>
          <a:lstStyle/>
          <a:p>
            <a:pPr indent="0" marL="0">
              <a:buNone/>
            </a:pPr>
            <a:r>
              <a:rPr lang="en-US" sz="750" dirty="0">
                <a:solidFill>
                  <a:srgbClr val="4F8EF7"/>
                </a:solidFill>
                <a:latin typeface="Calibri" pitchFamily="34" charset="0"/>
                <a:ea typeface="Calibri" pitchFamily="34" charset="-122"/>
                <a:cs typeface="Calibri" pitchFamily="34" charset="-120"/>
              </a:rPr>
              <a:t>💡 Tell me more about Q4 projections</a:t>
            </a:r>
            <a:endParaRPr lang="en-US" sz="750" dirty="0"/>
          </a:p>
        </p:txBody>
      </p:sp>
      <p:sp>
        <p:nvSpPr>
          <p:cNvPr id="41" name="Shape 39"/>
          <p:cNvSpPr/>
          <p:nvPr/>
        </p:nvSpPr>
        <p:spPr>
          <a:xfrm>
            <a:off x="6766560" y="3749040"/>
            <a:ext cx="3520440" cy="256032"/>
          </a:xfrm>
          <a:prstGeom prst="roundRect">
            <a:avLst>
              <a:gd name="adj" fmla="val 21429"/>
            </a:avLst>
          </a:prstGeom>
          <a:solidFill>
            <a:srgbClr val="0D2035"/>
          </a:solidFill>
          <a:ln w="10160">
            <a:solidFill>
              <a:srgbClr val="4F8EF7"/>
            </a:solidFill>
            <a:prstDash val="solid"/>
          </a:ln>
        </p:spPr>
      </p:sp>
      <p:sp>
        <p:nvSpPr>
          <p:cNvPr id="42" name="Text 40"/>
          <p:cNvSpPr/>
          <p:nvPr/>
        </p:nvSpPr>
        <p:spPr>
          <a:xfrm>
            <a:off x="6839712" y="3749040"/>
            <a:ext cx="3383280" cy="256032"/>
          </a:xfrm>
          <a:prstGeom prst="rect">
            <a:avLst/>
          </a:prstGeom>
          <a:noFill/>
          <a:ln/>
        </p:spPr>
        <p:txBody>
          <a:bodyPr wrap="square" rtlCol="0" anchor="ctr"/>
          <a:lstStyle/>
          <a:p>
            <a:pPr indent="0" marL="0">
              <a:buNone/>
            </a:pPr>
            <a:r>
              <a:rPr lang="en-US" sz="750" dirty="0">
                <a:solidFill>
                  <a:srgbClr val="4F8EF7"/>
                </a:solidFill>
                <a:latin typeface="Calibri" pitchFamily="34" charset="0"/>
                <a:ea typeface="Calibri" pitchFamily="34" charset="-122"/>
                <a:cs typeface="Calibri" pitchFamily="34" charset="-120"/>
              </a:rPr>
              <a:t>💡 What were the main cost drivers?</a:t>
            </a:r>
            <a:endParaRPr lang="en-US" sz="750" dirty="0"/>
          </a:p>
        </p:txBody>
      </p:sp>
      <p:sp>
        <p:nvSpPr>
          <p:cNvPr id="43" name="Shape 41"/>
          <p:cNvSpPr/>
          <p:nvPr/>
        </p:nvSpPr>
        <p:spPr>
          <a:xfrm>
            <a:off x="2926080" y="6053328"/>
            <a:ext cx="8869680" cy="411480"/>
          </a:xfrm>
          <a:prstGeom prst="rect">
            <a:avLst/>
          </a:prstGeom>
          <a:solidFill>
            <a:srgbClr val="0D1B2A"/>
          </a:solidFill>
          <a:ln w="12700">
            <a:solidFill>
              <a:srgbClr val="333333"/>
            </a:solidFill>
            <a:prstDash val="solid"/>
          </a:ln>
        </p:spPr>
      </p:sp>
      <p:sp>
        <p:nvSpPr>
          <p:cNvPr id="44" name="Shape 42"/>
          <p:cNvSpPr/>
          <p:nvPr/>
        </p:nvSpPr>
        <p:spPr>
          <a:xfrm>
            <a:off x="3035808" y="6099048"/>
            <a:ext cx="8138160" cy="301752"/>
          </a:xfrm>
          <a:prstGeom prst="roundRect">
            <a:avLst>
              <a:gd name="adj" fmla="val 18182"/>
            </a:avLst>
          </a:prstGeom>
          <a:solidFill>
            <a:srgbClr val="162233"/>
          </a:solidFill>
          <a:ln w="10160">
            <a:solidFill>
              <a:srgbClr val="253A52"/>
            </a:solidFill>
            <a:prstDash val="solid"/>
          </a:ln>
        </p:spPr>
      </p:sp>
      <p:sp>
        <p:nvSpPr>
          <p:cNvPr id="45" name="Text 43"/>
          <p:cNvSpPr/>
          <p:nvPr/>
        </p:nvSpPr>
        <p:spPr>
          <a:xfrm>
            <a:off x="3127248" y="6099048"/>
            <a:ext cx="7955280" cy="301752"/>
          </a:xfrm>
          <a:prstGeom prst="rect">
            <a:avLst/>
          </a:prstGeom>
          <a:noFill/>
          <a:ln/>
        </p:spPr>
        <p:txBody>
          <a:bodyPr wrap="square" rtlCol="0" anchor="ctr"/>
          <a:lstStyle/>
          <a:p>
            <a:pPr indent="0" marL="0">
              <a:buNone/>
            </a:pPr>
            <a:r>
              <a:rPr lang="en-US" sz="750" dirty="0">
                <a:solidFill>
                  <a:srgbClr val="546E7A"/>
                </a:solidFill>
                <a:latin typeface="Calibri" pitchFamily="34" charset="0"/>
                <a:ea typeface="Calibri" pitchFamily="34" charset="-122"/>
                <a:cs typeface="Calibri" pitchFamily="34" charset="-120"/>
              </a:rPr>
              <a:t>Type your question here and press Enter to send...</a:t>
            </a:r>
            <a:endParaRPr lang="en-US" sz="750" dirty="0"/>
          </a:p>
        </p:txBody>
      </p:sp>
      <p:sp>
        <p:nvSpPr>
          <p:cNvPr id="46" name="Text 44"/>
          <p:cNvSpPr/>
          <p:nvPr/>
        </p:nvSpPr>
        <p:spPr>
          <a:xfrm>
            <a:off x="365760" y="6583680"/>
            <a:ext cx="5029200" cy="228600"/>
          </a:xfrm>
          <a:prstGeom prst="rect">
            <a:avLst/>
          </a:prstGeom>
          <a:noFill/>
          <a:ln/>
        </p:spPr>
        <p:txBody>
          <a:bodyPr wrap="square" rtlCol="0" anchor="ctr"/>
          <a:lstStyle/>
          <a:p>
            <a:pPr indent="0" marL="0">
              <a:buNone/>
            </a:pPr>
            <a:r>
              <a:rPr lang="en-US" sz="900" b="1" dirty="0">
                <a:solidFill>
                  <a:srgbClr val="00C9A7"/>
                </a:solidFill>
                <a:latin typeface="Calibri" pitchFamily="34" charset="0"/>
                <a:ea typeface="Calibri" pitchFamily="34" charset="-122"/>
                <a:cs typeface="Calibri" pitchFamily="34" charset="-120"/>
              </a:rPr>
              <a:t>▲ Sidebar: Documents &amp; Settings</a:t>
            </a:r>
            <a:endParaRPr lang="en-US" sz="900" dirty="0"/>
          </a:p>
        </p:txBody>
      </p:sp>
      <p:sp>
        <p:nvSpPr>
          <p:cNvPr id="47" name="Text 45"/>
          <p:cNvSpPr/>
          <p:nvPr/>
        </p:nvSpPr>
        <p:spPr>
          <a:xfrm>
            <a:off x="5486400" y="6583680"/>
            <a:ext cx="5029200" cy="228600"/>
          </a:xfrm>
          <a:prstGeom prst="rect">
            <a:avLst/>
          </a:prstGeom>
          <a:noFill/>
          <a:ln/>
        </p:spPr>
        <p:txBody>
          <a:bodyPr wrap="square" rtlCol="0" anchor="ctr"/>
          <a:lstStyle/>
          <a:p>
            <a:pPr indent="0" marL="0">
              <a:buNone/>
            </a:pPr>
            <a:r>
              <a:rPr lang="en-US" sz="900" b="1" dirty="0">
                <a:solidFill>
                  <a:srgbClr val="4F8EF7"/>
                </a:solidFill>
                <a:latin typeface="Calibri" pitchFamily="34" charset="0"/>
                <a:ea typeface="Calibri" pitchFamily="34" charset="-122"/>
                <a:cs typeface="Calibri" pitchFamily="34" charset="-120"/>
              </a:rPr>
              <a:t>▲ Chat Area: Messages, Sources &amp; Suggestions</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INTERFACE</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Customization — Settings Panel</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13 / 20</a:t>
            </a:r>
            <a:endParaRPr lang="en-US" sz="750" dirty="0"/>
          </a:p>
        </p:txBody>
      </p:sp>
      <p:sp>
        <p:nvSpPr>
          <p:cNvPr id="10" name="Shape 8"/>
          <p:cNvSpPr/>
          <p:nvPr/>
        </p:nvSpPr>
        <p:spPr>
          <a:xfrm>
            <a:off x="365760" y="1389888"/>
            <a:ext cx="5577840" cy="2103120"/>
          </a:xfrm>
          <a:prstGeom prst="roundRect">
            <a:avLst>
              <a:gd name="adj" fmla="val 5217"/>
            </a:avLst>
          </a:prstGeom>
          <a:solidFill>
            <a:srgbClr val="162233"/>
          </a:solidFill>
          <a:ln w="15240">
            <a:solidFill>
              <a:srgbClr val="253A52"/>
            </a:solidFill>
            <a:prstDash val="solid"/>
          </a:ln>
        </p:spPr>
      </p:sp>
      <p:sp>
        <p:nvSpPr>
          <p:cNvPr id="11" name="Shape 9"/>
          <p:cNvSpPr/>
          <p:nvPr/>
        </p:nvSpPr>
        <p:spPr>
          <a:xfrm>
            <a:off x="365760" y="1389888"/>
            <a:ext cx="5577840" cy="73152"/>
          </a:xfrm>
          <a:prstGeom prst="rect">
            <a:avLst/>
          </a:prstGeom>
          <a:solidFill>
            <a:srgbClr val="4F8EF7"/>
          </a:solidFill>
          <a:ln w="12700">
            <a:solidFill>
              <a:srgbClr val="333333"/>
            </a:solidFill>
            <a:prstDash val="solid"/>
          </a:ln>
        </p:spPr>
      </p:sp>
      <p:sp>
        <p:nvSpPr>
          <p:cNvPr id="12" name="Shape 10"/>
          <p:cNvSpPr/>
          <p:nvPr/>
        </p:nvSpPr>
        <p:spPr>
          <a:xfrm>
            <a:off x="539496" y="1545336"/>
            <a:ext cx="603504" cy="603504"/>
          </a:xfrm>
          <a:prstGeom prst="ellipse">
            <a:avLst/>
          </a:prstGeom>
          <a:solidFill>
            <a:srgbClr val="4F8EF7"/>
          </a:solidFill>
          <a:ln w="12700">
            <a:solidFill>
              <a:srgbClr val="333333"/>
            </a:solidFill>
            <a:prstDash val="solid"/>
          </a:ln>
        </p:spPr>
      </p:sp>
      <p:sp>
        <p:nvSpPr>
          <p:cNvPr id="13" name="Text 11"/>
          <p:cNvSpPr/>
          <p:nvPr/>
        </p:nvSpPr>
        <p:spPr>
          <a:xfrm>
            <a:off x="539496" y="1545336"/>
            <a:ext cx="603504" cy="603504"/>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14" name="Text 12"/>
          <p:cNvSpPr/>
          <p:nvPr/>
        </p:nvSpPr>
        <p:spPr>
          <a:xfrm>
            <a:off x="1325880" y="1554480"/>
            <a:ext cx="443484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AI Model Selection</a:t>
            </a:r>
            <a:endParaRPr lang="en-US" sz="1350" dirty="0"/>
          </a:p>
        </p:txBody>
      </p:sp>
      <p:sp>
        <p:nvSpPr>
          <p:cNvPr id="15" name="Shape 13"/>
          <p:cNvSpPr/>
          <p:nvPr/>
        </p:nvSpPr>
        <p:spPr>
          <a:xfrm>
            <a:off x="548640" y="2011680"/>
            <a:ext cx="5212080" cy="274320"/>
          </a:xfrm>
          <a:prstGeom prst="roundRect">
            <a:avLst>
              <a:gd name="adj" fmla="val 20000"/>
            </a:avLst>
          </a:prstGeom>
          <a:solidFill>
            <a:srgbClr val="0F1C2E"/>
          </a:solidFill>
          <a:ln w="10160">
            <a:solidFill>
              <a:srgbClr val="253A52"/>
            </a:solidFill>
            <a:prstDash val="solid"/>
          </a:ln>
        </p:spPr>
      </p:sp>
      <p:sp>
        <p:nvSpPr>
          <p:cNvPr id="16" name="Text 14"/>
          <p:cNvSpPr/>
          <p:nvPr/>
        </p:nvSpPr>
        <p:spPr>
          <a:xfrm>
            <a:off x="640080" y="2011680"/>
            <a:ext cx="5029200" cy="274320"/>
          </a:xfrm>
          <a:prstGeom prst="rect">
            <a:avLst/>
          </a:prstGeom>
          <a:noFill/>
          <a:ln/>
        </p:spPr>
        <p:txBody>
          <a:bodyPr wrap="square" rtlCol="0" anchor="ctr"/>
          <a:lstStyle/>
          <a:p>
            <a:pPr indent="0" marL="0">
              <a:buNone/>
            </a:pPr>
            <a:r>
              <a:rPr lang="en-US" sz="1000" b="1" dirty="0">
                <a:solidFill>
                  <a:srgbClr val="4F8EF7"/>
                </a:solidFill>
                <a:latin typeface="Calibri" pitchFamily="34" charset="0"/>
                <a:ea typeface="Calibri" pitchFamily="34" charset="-122"/>
                <a:cs typeface="Calibri" pitchFamily="34" charset="-120"/>
              </a:rPr>
              <a:t>GPT-4o  |  GPT-4o Mini  |  Claude 3.5 Sonnet  |  Gemini 2.5 Flash</a:t>
            </a:r>
            <a:endParaRPr lang="en-US" sz="1000" dirty="0"/>
          </a:p>
        </p:txBody>
      </p:sp>
      <p:sp>
        <p:nvSpPr>
          <p:cNvPr id="17" name="Text 15"/>
          <p:cNvSpPr/>
          <p:nvPr/>
        </p:nvSpPr>
        <p:spPr>
          <a:xfrm>
            <a:off x="548640" y="2395728"/>
            <a:ext cx="5212080" cy="73152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Choose which AI model generates your answers. Each model has different strengths — switch at any time, even mid-conversation.</a:t>
            </a:r>
            <a:endParaRPr lang="en-US" sz="1100" dirty="0"/>
          </a:p>
        </p:txBody>
      </p:sp>
      <p:sp>
        <p:nvSpPr>
          <p:cNvPr id="18" name="Text 16"/>
          <p:cNvSpPr/>
          <p:nvPr/>
        </p:nvSpPr>
        <p:spPr>
          <a:xfrm>
            <a:off x="548640" y="3218688"/>
            <a:ext cx="5212080" cy="219456"/>
          </a:xfrm>
          <a:prstGeom prst="rect">
            <a:avLst/>
          </a:prstGeom>
          <a:noFill/>
          <a:ln/>
        </p:spPr>
        <p:txBody>
          <a:bodyPr wrap="square" rtlCol="0" anchor="ctr"/>
          <a:lstStyle/>
          <a:p>
            <a:pPr indent="0" marL="0">
              <a:buNone/>
            </a:pPr>
            <a:r>
              <a:rPr lang="en-US" sz="950" b="1" dirty="0">
                <a:solidFill>
                  <a:srgbClr val="4F8EF7"/>
                </a:solidFill>
                <a:latin typeface="Calibri" pitchFamily="34" charset="0"/>
                <a:ea typeface="Calibri" pitchFamily="34" charset="-122"/>
                <a:cs typeface="Calibri" pitchFamily="34" charset="-120"/>
              </a:rPr>
              <a:t>⚙  Default: GPT-4o</a:t>
            </a:r>
            <a:endParaRPr lang="en-US" sz="950" dirty="0"/>
          </a:p>
        </p:txBody>
      </p:sp>
      <p:sp>
        <p:nvSpPr>
          <p:cNvPr id="19" name="Shape 17"/>
          <p:cNvSpPr/>
          <p:nvPr/>
        </p:nvSpPr>
        <p:spPr>
          <a:xfrm>
            <a:off x="6263640" y="1389888"/>
            <a:ext cx="5577840" cy="2103120"/>
          </a:xfrm>
          <a:prstGeom prst="roundRect">
            <a:avLst>
              <a:gd name="adj" fmla="val 5217"/>
            </a:avLst>
          </a:prstGeom>
          <a:solidFill>
            <a:srgbClr val="162233"/>
          </a:solidFill>
          <a:ln w="15240">
            <a:solidFill>
              <a:srgbClr val="253A52"/>
            </a:solidFill>
            <a:prstDash val="solid"/>
          </a:ln>
        </p:spPr>
      </p:sp>
      <p:sp>
        <p:nvSpPr>
          <p:cNvPr id="20" name="Shape 18"/>
          <p:cNvSpPr/>
          <p:nvPr/>
        </p:nvSpPr>
        <p:spPr>
          <a:xfrm>
            <a:off x="6263640" y="1389888"/>
            <a:ext cx="5577840" cy="73152"/>
          </a:xfrm>
          <a:prstGeom prst="rect">
            <a:avLst/>
          </a:prstGeom>
          <a:solidFill>
            <a:srgbClr val="00C9A7"/>
          </a:solidFill>
          <a:ln w="12700">
            <a:solidFill>
              <a:srgbClr val="333333"/>
            </a:solidFill>
            <a:prstDash val="solid"/>
          </a:ln>
        </p:spPr>
      </p:sp>
      <p:sp>
        <p:nvSpPr>
          <p:cNvPr id="21" name="Shape 19"/>
          <p:cNvSpPr/>
          <p:nvPr/>
        </p:nvSpPr>
        <p:spPr>
          <a:xfrm>
            <a:off x="6437376" y="1545336"/>
            <a:ext cx="603504" cy="603504"/>
          </a:xfrm>
          <a:prstGeom prst="ellipse">
            <a:avLst/>
          </a:prstGeom>
          <a:solidFill>
            <a:srgbClr val="00C9A7"/>
          </a:solidFill>
          <a:ln w="12700">
            <a:solidFill>
              <a:srgbClr val="333333"/>
            </a:solidFill>
            <a:prstDash val="solid"/>
          </a:ln>
        </p:spPr>
      </p:sp>
      <p:sp>
        <p:nvSpPr>
          <p:cNvPr id="22" name="Text 20"/>
          <p:cNvSpPr/>
          <p:nvPr/>
        </p:nvSpPr>
        <p:spPr>
          <a:xfrm>
            <a:off x="6437376" y="1545336"/>
            <a:ext cx="603504" cy="603504"/>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23" name="Text 21"/>
          <p:cNvSpPr/>
          <p:nvPr/>
        </p:nvSpPr>
        <p:spPr>
          <a:xfrm>
            <a:off x="7223760" y="1554480"/>
            <a:ext cx="443484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Chain Type</a:t>
            </a:r>
            <a:endParaRPr lang="en-US" sz="1350" dirty="0"/>
          </a:p>
        </p:txBody>
      </p:sp>
      <p:sp>
        <p:nvSpPr>
          <p:cNvPr id="24" name="Shape 22"/>
          <p:cNvSpPr/>
          <p:nvPr/>
        </p:nvSpPr>
        <p:spPr>
          <a:xfrm>
            <a:off x="6446520" y="2011680"/>
            <a:ext cx="5212080" cy="274320"/>
          </a:xfrm>
          <a:prstGeom prst="roundRect">
            <a:avLst>
              <a:gd name="adj" fmla="val 20000"/>
            </a:avLst>
          </a:prstGeom>
          <a:solidFill>
            <a:srgbClr val="0F1C2E"/>
          </a:solidFill>
          <a:ln w="10160">
            <a:solidFill>
              <a:srgbClr val="253A52"/>
            </a:solidFill>
            <a:prstDash val="solid"/>
          </a:ln>
        </p:spPr>
      </p:sp>
      <p:sp>
        <p:nvSpPr>
          <p:cNvPr id="25" name="Text 23"/>
          <p:cNvSpPr/>
          <p:nvPr/>
        </p:nvSpPr>
        <p:spPr>
          <a:xfrm>
            <a:off x="6537960" y="2011680"/>
            <a:ext cx="5029200" cy="274320"/>
          </a:xfrm>
          <a:prstGeom prst="rect">
            <a:avLst/>
          </a:prstGeom>
          <a:noFill/>
          <a:ln/>
        </p:spPr>
        <p:txBody>
          <a:bodyPr wrap="square" rtlCol="0" anchor="ctr"/>
          <a:lstStyle/>
          <a:p>
            <a:pPr indent="0" marL="0">
              <a:buNone/>
            </a:pPr>
            <a:r>
              <a:rPr lang="en-US" sz="1000" b="1" dirty="0">
                <a:solidFill>
                  <a:srgbClr val="00C9A7"/>
                </a:solidFill>
                <a:latin typeface="Calibri" pitchFamily="34" charset="0"/>
                <a:ea typeface="Calibri" pitchFamily="34" charset="-122"/>
                <a:cs typeface="Calibri" pitchFamily="34" charset="-120"/>
              </a:rPr>
              <a:t>Stuff  |  Map Reduce  |  Refine  |  Map Rerank</a:t>
            </a:r>
            <a:endParaRPr lang="en-US" sz="1000" dirty="0"/>
          </a:p>
        </p:txBody>
      </p:sp>
      <p:sp>
        <p:nvSpPr>
          <p:cNvPr id="26" name="Text 24"/>
          <p:cNvSpPr/>
          <p:nvPr/>
        </p:nvSpPr>
        <p:spPr>
          <a:xfrm>
            <a:off x="6446520" y="2395728"/>
            <a:ext cx="5212080" cy="73152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Controls how the AI processes multiple document sections. 'Stuff' works best for most cases. 'Map Reduce' handles very long documents.</a:t>
            </a:r>
            <a:endParaRPr lang="en-US" sz="1100" dirty="0"/>
          </a:p>
        </p:txBody>
      </p:sp>
      <p:sp>
        <p:nvSpPr>
          <p:cNvPr id="27" name="Text 25"/>
          <p:cNvSpPr/>
          <p:nvPr/>
        </p:nvSpPr>
        <p:spPr>
          <a:xfrm>
            <a:off x="6446520" y="3218688"/>
            <a:ext cx="5212080" cy="219456"/>
          </a:xfrm>
          <a:prstGeom prst="rect">
            <a:avLst/>
          </a:prstGeom>
          <a:noFill/>
          <a:ln/>
        </p:spPr>
        <p:txBody>
          <a:bodyPr wrap="square" rtlCol="0" anchor="ctr"/>
          <a:lstStyle/>
          <a:p>
            <a:pPr indent="0" marL="0">
              <a:buNone/>
            </a:pPr>
            <a:r>
              <a:rPr lang="en-US" sz="950" b="1" dirty="0">
                <a:solidFill>
                  <a:srgbClr val="00C9A7"/>
                </a:solidFill>
                <a:latin typeface="Calibri" pitchFamily="34" charset="0"/>
                <a:ea typeface="Calibri" pitchFamily="34" charset="-122"/>
                <a:cs typeface="Calibri" pitchFamily="34" charset="-120"/>
              </a:rPr>
              <a:t>⚙  Default: Stuff</a:t>
            </a:r>
            <a:endParaRPr lang="en-US" sz="950" dirty="0"/>
          </a:p>
        </p:txBody>
      </p:sp>
      <p:sp>
        <p:nvSpPr>
          <p:cNvPr id="28" name="Shape 26"/>
          <p:cNvSpPr/>
          <p:nvPr/>
        </p:nvSpPr>
        <p:spPr>
          <a:xfrm>
            <a:off x="365760" y="3721608"/>
            <a:ext cx="5577840" cy="2103120"/>
          </a:xfrm>
          <a:prstGeom prst="roundRect">
            <a:avLst>
              <a:gd name="adj" fmla="val 5217"/>
            </a:avLst>
          </a:prstGeom>
          <a:solidFill>
            <a:srgbClr val="162233"/>
          </a:solidFill>
          <a:ln w="15240">
            <a:solidFill>
              <a:srgbClr val="253A52"/>
            </a:solidFill>
            <a:prstDash val="solid"/>
          </a:ln>
        </p:spPr>
      </p:sp>
      <p:sp>
        <p:nvSpPr>
          <p:cNvPr id="29" name="Shape 27"/>
          <p:cNvSpPr/>
          <p:nvPr/>
        </p:nvSpPr>
        <p:spPr>
          <a:xfrm>
            <a:off x="365760" y="3721608"/>
            <a:ext cx="5577840" cy="73152"/>
          </a:xfrm>
          <a:prstGeom prst="rect">
            <a:avLst/>
          </a:prstGeom>
          <a:solidFill>
            <a:srgbClr val="6C63FF"/>
          </a:solidFill>
          <a:ln w="12700">
            <a:solidFill>
              <a:srgbClr val="333333"/>
            </a:solidFill>
            <a:prstDash val="solid"/>
          </a:ln>
        </p:spPr>
      </p:sp>
      <p:sp>
        <p:nvSpPr>
          <p:cNvPr id="30" name="Shape 28"/>
          <p:cNvSpPr/>
          <p:nvPr/>
        </p:nvSpPr>
        <p:spPr>
          <a:xfrm>
            <a:off x="539496" y="3877056"/>
            <a:ext cx="603504" cy="603504"/>
          </a:xfrm>
          <a:prstGeom prst="ellipse">
            <a:avLst/>
          </a:prstGeom>
          <a:solidFill>
            <a:srgbClr val="6C63FF"/>
          </a:solidFill>
          <a:ln w="12700">
            <a:solidFill>
              <a:srgbClr val="333333"/>
            </a:solidFill>
            <a:prstDash val="solid"/>
          </a:ln>
        </p:spPr>
      </p:sp>
      <p:sp>
        <p:nvSpPr>
          <p:cNvPr id="31" name="Text 29"/>
          <p:cNvSpPr/>
          <p:nvPr/>
        </p:nvSpPr>
        <p:spPr>
          <a:xfrm>
            <a:off x="539496" y="3877056"/>
            <a:ext cx="603504" cy="603504"/>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32" name="Text 30"/>
          <p:cNvSpPr/>
          <p:nvPr/>
        </p:nvSpPr>
        <p:spPr>
          <a:xfrm>
            <a:off x="1325880" y="3886200"/>
            <a:ext cx="443484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Retrieval Count (k)</a:t>
            </a:r>
            <a:endParaRPr lang="en-US" sz="1350" dirty="0"/>
          </a:p>
        </p:txBody>
      </p:sp>
      <p:sp>
        <p:nvSpPr>
          <p:cNvPr id="33" name="Shape 31"/>
          <p:cNvSpPr/>
          <p:nvPr/>
        </p:nvSpPr>
        <p:spPr>
          <a:xfrm>
            <a:off x="548640" y="4343400"/>
            <a:ext cx="5212080" cy="274320"/>
          </a:xfrm>
          <a:prstGeom prst="roundRect">
            <a:avLst>
              <a:gd name="adj" fmla="val 20000"/>
            </a:avLst>
          </a:prstGeom>
          <a:solidFill>
            <a:srgbClr val="0F1C2E"/>
          </a:solidFill>
          <a:ln w="10160">
            <a:solidFill>
              <a:srgbClr val="253A52"/>
            </a:solidFill>
            <a:prstDash val="solid"/>
          </a:ln>
        </p:spPr>
      </p:sp>
      <p:sp>
        <p:nvSpPr>
          <p:cNvPr id="34" name="Text 32"/>
          <p:cNvSpPr/>
          <p:nvPr/>
        </p:nvSpPr>
        <p:spPr>
          <a:xfrm>
            <a:off x="640080" y="4343400"/>
            <a:ext cx="5029200" cy="274320"/>
          </a:xfrm>
          <a:prstGeom prst="rect">
            <a:avLst/>
          </a:prstGeom>
          <a:noFill/>
          <a:ln/>
        </p:spPr>
        <p:txBody>
          <a:bodyPr wrap="square" rtlCol="0" anchor="ctr"/>
          <a:lstStyle/>
          <a:p>
            <a:pPr indent="0" marL="0">
              <a:buNone/>
            </a:pPr>
            <a:r>
              <a:rPr lang="en-US" sz="1000" b="1" dirty="0">
                <a:solidFill>
                  <a:srgbClr val="6C63FF"/>
                </a:solidFill>
                <a:latin typeface="Calibri" pitchFamily="34" charset="0"/>
                <a:ea typeface="Calibri" pitchFamily="34" charset="-122"/>
                <a:cs typeface="Calibri" pitchFamily="34" charset="-120"/>
              </a:rPr>
              <a:t>1  to  10</a:t>
            </a:r>
            <a:endParaRPr lang="en-US" sz="1000" dirty="0"/>
          </a:p>
        </p:txBody>
      </p:sp>
      <p:sp>
        <p:nvSpPr>
          <p:cNvPr id="35" name="Text 33"/>
          <p:cNvSpPr/>
          <p:nvPr/>
        </p:nvSpPr>
        <p:spPr>
          <a:xfrm>
            <a:off x="548640" y="4727448"/>
            <a:ext cx="5212080" cy="73152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How many document sections the AI reads before generating an answer. Higher values = more context, but slower responses.</a:t>
            </a:r>
            <a:endParaRPr lang="en-US" sz="1100" dirty="0"/>
          </a:p>
        </p:txBody>
      </p:sp>
      <p:sp>
        <p:nvSpPr>
          <p:cNvPr id="36" name="Text 34"/>
          <p:cNvSpPr/>
          <p:nvPr/>
        </p:nvSpPr>
        <p:spPr>
          <a:xfrm>
            <a:off x="548640" y="5550408"/>
            <a:ext cx="5212080" cy="219456"/>
          </a:xfrm>
          <a:prstGeom prst="rect">
            <a:avLst/>
          </a:prstGeom>
          <a:noFill/>
          <a:ln/>
        </p:spPr>
        <p:txBody>
          <a:bodyPr wrap="square" rtlCol="0" anchor="ctr"/>
          <a:lstStyle/>
          <a:p>
            <a:pPr indent="0" marL="0">
              <a:buNone/>
            </a:pPr>
            <a:r>
              <a:rPr lang="en-US" sz="950" b="1" dirty="0">
                <a:solidFill>
                  <a:srgbClr val="6C63FF"/>
                </a:solidFill>
                <a:latin typeface="Calibri" pitchFamily="34" charset="0"/>
                <a:ea typeface="Calibri" pitchFamily="34" charset="-122"/>
                <a:cs typeface="Calibri" pitchFamily="34" charset="-120"/>
              </a:rPr>
              <a:t>⚙  Default: 4</a:t>
            </a:r>
            <a:endParaRPr lang="en-US" sz="950" dirty="0"/>
          </a:p>
        </p:txBody>
      </p:sp>
      <p:sp>
        <p:nvSpPr>
          <p:cNvPr id="37" name="Shape 35"/>
          <p:cNvSpPr/>
          <p:nvPr/>
        </p:nvSpPr>
        <p:spPr>
          <a:xfrm>
            <a:off x="6263640" y="3721608"/>
            <a:ext cx="5577840" cy="2103120"/>
          </a:xfrm>
          <a:prstGeom prst="roundRect">
            <a:avLst>
              <a:gd name="adj" fmla="val 5217"/>
            </a:avLst>
          </a:prstGeom>
          <a:solidFill>
            <a:srgbClr val="162233"/>
          </a:solidFill>
          <a:ln w="15240">
            <a:solidFill>
              <a:srgbClr val="253A52"/>
            </a:solidFill>
            <a:prstDash val="solid"/>
          </a:ln>
        </p:spPr>
      </p:sp>
      <p:sp>
        <p:nvSpPr>
          <p:cNvPr id="38" name="Shape 36"/>
          <p:cNvSpPr/>
          <p:nvPr/>
        </p:nvSpPr>
        <p:spPr>
          <a:xfrm>
            <a:off x="6263640" y="3721608"/>
            <a:ext cx="5577840" cy="73152"/>
          </a:xfrm>
          <a:prstGeom prst="rect">
            <a:avLst/>
          </a:prstGeom>
          <a:solidFill>
            <a:srgbClr val="FF6B35"/>
          </a:solidFill>
          <a:ln w="12700">
            <a:solidFill>
              <a:srgbClr val="333333"/>
            </a:solidFill>
            <a:prstDash val="solid"/>
          </a:ln>
        </p:spPr>
      </p:sp>
      <p:sp>
        <p:nvSpPr>
          <p:cNvPr id="39" name="Shape 37"/>
          <p:cNvSpPr/>
          <p:nvPr/>
        </p:nvSpPr>
        <p:spPr>
          <a:xfrm>
            <a:off x="6437376" y="3877056"/>
            <a:ext cx="603504" cy="603504"/>
          </a:xfrm>
          <a:prstGeom prst="ellipse">
            <a:avLst/>
          </a:prstGeom>
          <a:solidFill>
            <a:srgbClr val="FF6B35"/>
          </a:solidFill>
          <a:ln w="12700">
            <a:solidFill>
              <a:srgbClr val="333333"/>
            </a:solidFill>
            <a:prstDash val="solid"/>
          </a:ln>
        </p:spPr>
      </p:sp>
      <p:sp>
        <p:nvSpPr>
          <p:cNvPr id="40" name="Text 38"/>
          <p:cNvSpPr/>
          <p:nvPr/>
        </p:nvSpPr>
        <p:spPr>
          <a:xfrm>
            <a:off x="6437376" y="3877056"/>
            <a:ext cx="603504" cy="603504"/>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41" name="Text 39"/>
          <p:cNvSpPr/>
          <p:nvPr/>
        </p:nvSpPr>
        <p:spPr>
          <a:xfrm>
            <a:off x="7223760" y="3886200"/>
            <a:ext cx="443484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Query Expansion</a:t>
            </a:r>
            <a:endParaRPr lang="en-US" sz="1350" dirty="0"/>
          </a:p>
        </p:txBody>
      </p:sp>
      <p:sp>
        <p:nvSpPr>
          <p:cNvPr id="42" name="Shape 40"/>
          <p:cNvSpPr/>
          <p:nvPr/>
        </p:nvSpPr>
        <p:spPr>
          <a:xfrm>
            <a:off x="6446520" y="4343400"/>
            <a:ext cx="5212080" cy="274320"/>
          </a:xfrm>
          <a:prstGeom prst="roundRect">
            <a:avLst>
              <a:gd name="adj" fmla="val 20000"/>
            </a:avLst>
          </a:prstGeom>
          <a:solidFill>
            <a:srgbClr val="0F1C2E"/>
          </a:solidFill>
          <a:ln w="10160">
            <a:solidFill>
              <a:srgbClr val="253A52"/>
            </a:solidFill>
            <a:prstDash val="solid"/>
          </a:ln>
        </p:spPr>
      </p:sp>
      <p:sp>
        <p:nvSpPr>
          <p:cNvPr id="43" name="Text 41"/>
          <p:cNvSpPr/>
          <p:nvPr/>
        </p:nvSpPr>
        <p:spPr>
          <a:xfrm>
            <a:off x="6537960" y="4343400"/>
            <a:ext cx="5029200" cy="274320"/>
          </a:xfrm>
          <a:prstGeom prst="rect">
            <a:avLst/>
          </a:prstGeom>
          <a:noFill/>
          <a:ln/>
        </p:spPr>
        <p:txBody>
          <a:bodyPr wrap="square" rtlCol="0" anchor="ctr"/>
          <a:lstStyle/>
          <a:p>
            <a:pPr indent="0" marL="0">
              <a:buNone/>
            </a:pPr>
            <a:r>
              <a:rPr lang="en-US" sz="1000" b="1" dirty="0">
                <a:solidFill>
                  <a:srgbClr val="FF6B35"/>
                </a:solidFill>
                <a:latin typeface="Calibri" pitchFamily="34" charset="0"/>
                <a:ea typeface="Calibri" pitchFamily="34" charset="-122"/>
                <a:cs typeface="Calibri" pitchFamily="34" charset="-120"/>
              </a:rPr>
              <a:t>On  |  Off</a:t>
            </a:r>
            <a:endParaRPr lang="en-US" sz="1000" dirty="0"/>
          </a:p>
        </p:txBody>
      </p:sp>
      <p:sp>
        <p:nvSpPr>
          <p:cNvPr id="44" name="Text 42"/>
          <p:cNvSpPr/>
          <p:nvPr/>
        </p:nvSpPr>
        <p:spPr>
          <a:xfrm>
            <a:off x="6446520" y="4727448"/>
            <a:ext cx="5212080" cy="731520"/>
          </a:xfrm>
          <a:prstGeom prst="rect">
            <a:avLst/>
          </a:prstGeom>
          <a:noFill/>
          <a:ln/>
        </p:spPr>
        <p:txBody>
          <a:bodyPr wrap="square" rtlCol="0" anchor="t"/>
          <a:lstStyle/>
          <a:p>
            <a:pPr algn="l" indent="0" marL="0">
              <a:buNone/>
            </a:pPr>
            <a:r>
              <a:rPr lang="en-US" sz="1100" dirty="0">
                <a:solidFill>
                  <a:srgbClr val="CFD8DC"/>
                </a:solidFill>
                <a:latin typeface="Calibri" pitchFamily="34" charset="0"/>
                <a:ea typeface="Calibri" pitchFamily="34" charset="-122"/>
                <a:cs typeface="Calibri" pitchFamily="34" charset="-120"/>
              </a:rPr>
              <a:t>When enabled, the system automatically rephrases your question 2–3 ways before searching, improving retrieval accuracy.</a:t>
            </a:r>
            <a:endParaRPr lang="en-US" sz="1100" dirty="0"/>
          </a:p>
        </p:txBody>
      </p:sp>
      <p:sp>
        <p:nvSpPr>
          <p:cNvPr id="45" name="Text 43"/>
          <p:cNvSpPr/>
          <p:nvPr/>
        </p:nvSpPr>
        <p:spPr>
          <a:xfrm>
            <a:off x="6446520" y="5550408"/>
            <a:ext cx="5212080" cy="219456"/>
          </a:xfrm>
          <a:prstGeom prst="rect">
            <a:avLst/>
          </a:prstGeom>
          <a:noFill/>
          <a:ln/>
        </p:spPr>
        <p:txBody>
          <a:bodyPr wrap="square" rtlCol="0" anchor="ctr"/>
          <a:lstStyle/>
          <a:p>
            <a:pPr indent="0" marL="0">
              <a:buNone/>
            </a:pPr>
            <a:r>
              <a:rPr lang="en-US" sz="950" b="1" dirty="0">
                <a:solidFill>
                  <a:srgbClr val="FF6B35"/>
                </a:solidFill>
                <a:latin typeface="Calibri" pitchFamily="34" charset="0"/>
                <a:ea typeface="Calibri" pitchFamily="34" charset="-122"/>
                <a:cs typeface="Calibri" pitchFamily="34" charset="-120"/>
              </a:rPr>
              <a:t>⚙  Default: On</a:t>
            </a:r>
            <a:endParaRPr lang="en-US" sz="950" dirty="0"/>
          </a:p>
        </p:txBody>
      </p:sp>
      <p:sp>
        <p:nvSpPr>
          <p:cNvPr id="46" name="Text 44"/>
          <p:cNvSpPr/>
          <p:nvPr/>
        </p:nvSpPr>
        <p:spPr>
          <a:xfrm>
            <a:off x="365760" y="6291072"/>
            <a:ext cx="11430000" cy="365760"/>
          </a:xfrm>
          <a:prstGeom prst="rect">
            <a:avLst/>
          </a:prstGeom>
          <a:noFill/>
          <a:ln/>
        </p:spPr>
        <p:txBody>
          <a:bodyPr wrap="square" rtlCol="0" anchor="t"/>
          <a:lstStyle/>
          <a:p>
            <a:pPr algn="l" indent="0" marL="0">
              <a:buNone/>
            </a:pPr>
            <a:r>
              <a:rPr lang="en-US" sz="1050" i="1" dirty="0">
                <a:solidFill>
                  <a:srgbClr val="B0BEC5"/>
                </a:solidFill>
                <a:latin typeface="Calibri" pitchFamily="34" charset="0"/>
                <a:ea typeface="Calibri" pitchFamily="34" charset="-122"/>
                <a:cs typeface="Calibri" pitchFamily="34" charset="-120"/>
              </a:rPr>
              <a:t>All settings are automatically saved in the browser and remembered across sessions. No configuration required from the user each time.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SECURITY</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Security &amp; Privacy</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14 / 20</a:t>
            </a:r>
            <a:endParaRPr lang="en-US" sz="750" dirty="0"/>
          </a:p>
        </p:txBody>
      </p:sp>
      <p:sp>
        <p:nvSpPr>
          <p:cNvPr id="10" name="Shape 8"/>
          <p:cNvSpPr/>
          <p:nvPr/>
        </p:nvSpPr>
        <p:spPr>
          <a:xfrm>
            <a:off x="365760" y="1389888"/>
            <a:ext cx="3657600" cy="3200400"/>
          </a:xfrm>
          <a:prstGeom prst="roundRect">
            <a:avLst>
              <a:gd name="adj" fmla="val 3429"/>
            </a:avLst>
          </a:prstGeom>
          <a:solidFill>
            <a:srgbClr val="162233"/>
          </a:solidFill>
          <a:ln w="15240">
            <a:solidFill>
              <a:srgbClr val="253A52"/>
            </a:solidFill>
            <a:prstDash val="solid"/>
          </a:ln>
        </p:spPr>
      </p:sp>
      <p:sp>
        <p:nvSpPr>
          <p:cNvPr id="11" name="Shape 9"/>
          <p:cNvSpPr/>
          <p:nvPr/>
        </p:nvSpPr>
        <p:spPr>
          <a:xfrm>
            <a:off x="365760" y="1389888"/>
            <a:ext cx="3657600" cy="82296"/>
          </a:xfrm>
          <a:prstGeom prst="rect">
            <a:avLst/>
          </a:prstGeom>
          <a:solidFill>
            <a:srgbClr val="4F8EF7"/>
          </a:solidFill>
          <a:ln w="12700">
            <a:solidFill>
              <a:srgbClr val="333333"/>
            </a:solidFill>
            <a:prstDash val="solid"/>
          </a:ln>
        </p:spPr>
      </p:sp>
      <p:sp>
        <p:nvSpPr>
          <p:cNvPr id="12" name="Shape 10"/>
          <p:cNvSpPr/>
          <p:nvPr/>
        </p:nvSpPr>
        <p:spPr>
          <a:xfrm>
            <a:off x="1847088" y="1527048"/>
            <a:ext cx="694944" cy="694944"/>
          </a:xfrm>
          <a:prstGeom prst="ellipse">
            <a:avLst/>
          </a:prstGeom>
          <a:solidFill>
            <a:srgbClr val="4F8EF7"/>
          </a:solidFill>
          <a:ln w="12700">
            <a:solidFill>
              <a:srgbClr val="333333"/>
            </a:solidFill>
            <a:prstDash val="solid"/>
          </a:ln>
        </p:spPr>
      </p:sp>
      <p:sp>
        <p:nvSpPr>
          <p:cNvPr id="13" name="Text 11"/>
          <p:cNvSpPr/>
          <p:nvPr/>
        </p:nvSpPr>
        <p:spPr>
          <a:xfrm>
            <a:off x="1847088" y="1527048"/>
            <a:ext cx="694944" cy="694944"/>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14" name="Text 12"/>
          <p:cNvSpPr/>
          <p:nvPr/>
        </p:nvSpPr>
        <p:spPr>
          <a:xfrm>
            <a:off x="502920" y="2331720"/>
            <a:ext cx="3383280"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Account Security</a:t>
            </a:r>
            <a:endParaRPr lang="en-US" sz="1300" dirty="0"/>
          </a:p>
        </p:txBody>
      </p:sp>
      <p:sp>
        <p:nvSpPr>
          <p:cNvPr id="15" name="Text 13"/>
          <p:cNvSpPr/>
          <p:nvPr/>
        </p:nvSpPr>
        <p:spPr>
          <a:xfrm>
            <a:off x="530352" y="2761488"/>
            <a:ext cx="3337560" cy="1828800"/>
          </a:xfrm>
          <a:prstGeom prst="rect">
            <a:avLst/>
          </a:prstGeom>
          <a:noFill/>
          <a:ln/>
        </p:spPr>
        <p:txBody>
          <a:bodyPr wrap="square" rtlCol="0" anchor="ctr"/>
          <a:lstStyle/>
          <a:p>
            <a:pPr marL="342900" indent="-342900">
              <a:lnSpc>
                <a:spcPct val="115000"/>
              </a:lnSpc>
              <a:spcBef>
                <a:spcPts val="400"/>
              </a:spcBef>
              <a:spcAft>
                <a:spcPts val="200"/>
              </a:spcAft>
              <a:buSzPct val="100000"/>
              <a:buChar char="●"/>
            </a:pPr>
            <a:r>
              <a:rPr lang="en-US" sz="1050" dirty="0">
                <a:solidFill>
                  <a:srgbClr val="CFD8DC"/>
                </a:solidFill>
                <a:latin typeface="Calibri" pitchFamily="34" charset="0"/>
                <a:ea typeface="Calibri" pitchFamily="34" charset="-122"/>
                <a:cs typeface="Calibri" pitchFamily="34" charset="-120"/>
              </a:rPr>
              <a:t>Passwords are one-way encrypted — never stored as plain text</a:t>
            </a:r>
            <a:endParaRPr lang="en-US" sz="1050" dirty="0"/>
          </a:p>
          <a:p>
            <a:pPr marL="342900" indent="-342900">
              <a:lnSpc>
                <a:spcPct val="115000"/>
              </a:lnSpc>
              <a:spcBef>
                <a:spcPts val="400"/>
              </a:spcBef>
              <a:spcAft>
                <a:spcPts val="200"/>
              </a:spcAft>
              <a:buSzPct val="100000"/>
              <a:buChar char="●"/>
            </a:pPr>
            <a:r>
              <a:rPr lang="en-US" sz="1050" dirty="0">
                <a:solidFill>
                  <a:srgbClr val="CFD8DC"/>
                </a:solidFill>
                <a:latin typeface="Calibri" pitchFamily="34" charset="0"/>
                <a:ea typeface="Calibri" pitchFamily="34" charset="-122"/>
                <a:cs typeface="Calibri" pitchFamily="34" charset="-120"/>
              </a:rPr>
              <a:t>Secure session tokens (JWT) expire automatically after 7 days</a:t>
            </a:r>
            <a:endParaRPr lang="en-US" sz="1050" dirty="0"/>
          </a:p>
          <a:p>
            <a:pPr marL="342900" indent="-342900">
              <a:lnSpc>
                <a:spcPct val="115000"/>
              </a:lnSpc>
              <a:spcBef>
                <a:spcPts val="400"/>
              </a:spcBef>
              <a:spcAft>
                <a:spcPts val="200"/>
              </a:spcAft>
              <a:buSzPct val="100000"/>
              <a:buChar char="●"/>
            </a:pPr>
            <a:r>
              <a:rPr lang="en-US" sz="1050" dirty="0">
                <a:solidFill>
                  <a:srgbClr val="CFD8DC"/>
                </a:solidFill>
                <a:latin typeface="Calibri" pitchFamily="34" charset="0"/>
                <a:ea typeface="Calibri" pitchFamily="34" charset="-122"/>
                <a:cs typeface="Calibri" pitchFamily="34" charset="-120"/>
              </a:rPr>
              <a:t>Each user account is fully isolated — no shared data between users</a:t>
            </a:r>
            <a:endParaRPr lang="en-US" sz="1050" dirty="0"/>
          </a:p>
        </p:txBody>
      </p:sp>
      <p:sp>
        <p:nvSpPr>
          <p:cNvPr id="16" name="Shape 14"/>
          <p:cNvSpPr/>
          <p:nvPr/>
        </p:nvSpPr>
        <p:spPr>
          <a:xfrm>
            <a:off x="4224528" y="1389888"/>
            <a:ext cx="3657600" cy="3200400"/>
          </a:xfrm>
          <a:prstGeom prst="roundRect">
            <a:avLst>
              <a:gd name="adj" fmla="val 3429"/>
            </a:avLst>
          </a:prstGeom>
          <a:solidFill>
            <a:srgbClr val="162233"/>
          </a:solidFill>
          <a:ln w="15240">
            <a:solidFill>
              <a:srgbClr val="253A52"/>
            </a:solidFill>
            <a:prstDash val="solid"/>
          </a:ln>
        </p:spPr>
      </p:sp>
      <p:sp>
        <p:nvSpPr>
          <p:cNvPr id="17" name="Shape 15"/>
          <p:cNvSpPr/>
          <p:nvPr/>
        </p:nvSpPr>
        <p:spPr>
          <a:xfrm>
            <a:off x="4224528" y="1389888"/>
            <a:ext cx="3657600" cy="82296"/>
          </a:xfrm>
          <a:prstGeom prst="rect">
            <a:avLst/>
          </a:prstGeom>
          <a:solidFill>
            <a:srgbClr val="00C9A7"/>
          </a:solidFill>
          <a:ln w="12700">
            <a:solidFill>
              <a:srgbClr val="333333"/>
            </a:solidFill>
            <a:prstDash val="solid"/>
          </a:ln>
        </p:spPr>
      </p:sp>
      <p:sp>
        <p:nvSpPr>
          <p:cNvPr id="18" name="Shape 16"/>
          <p:cNvSpPr/>
          <p:nvPr/>
        </p:nvSpPr>
        <p:spPr>
          <a:xfrm>
            <a:off x="5705856" y="1527048"/>
            <a:ext cx="694944" cy="694944"/>
          </a:xfrm>
          <a:prstGeom prst="ellipse">
            <a:avLst/>
          </a:prstGeom>
          <a:solidFill>
            <a:srgbClr val="00C9A7"/>
          </a:solidFill>
          <a:ln w="12700">
            <a:solidFill>
              <a:srgbClr val="333333"/>
            </a:solidFill>
            <a:prstDash val="solid"/>
          </a:ln>
        </p:spPr>
      </p:sp>
      <p:sp>
        <p:nvSpPr>
          <p:cNvPr id="19" name="Text 17"/>
          <p:cNvSpPr/>
          <p:nvPr/>
        </p:nvSpPr>
        <p:spPr>
          <a:xfrm>
            <a:off x="5705856" y="1527048"/>
            <a:ext cx="694944" cy="694944"/>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20" name="Text 18"/>
          <p:cNvSpPr/>
          <p:nvPr/>
        </p:nvSpPr>
        <p:spPr>
          <a:xfrm>
            <a:off x="4361688" y="2331720"/>
            <a:ext cx="3383280"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Document Security</a:t>
            </a:r>
            <a:endParaRPr lang="en-US" sz="1300" dirty="0"/>
          </a:p>
        </p:txBody>
      </p:sp>
      <p:sp>
        <p:nvSpPr>
          <p:cNvPr id="21" name="Text 19"/>
          <p:cNvSpPr/>
          <p:nvPr/>
        </p:nvSpPr>
        <p:spPr>
          <a:xfrm>
            <a:off x="4389120" y="2761488"/>
            <a:ext cx="3337560" cy="1828800"/>
          </a:xfrm>
          <a:prstGeom prst="rect">
            <a:avLst/>
          </a:prstGeom>
          <a:noFill/>
          <a:ln/>
        </p:spPr>
        <p:txBody>
          <a:bodyPr wrap="square" rtlCol="0" anchor="ctr"/>
          <a:lstStyle/>
          <a:p>
            <a:pPr marL="342900" indent="-342900">
              <a:lnSpc>
                <a:spcPct val="115000"/>
              </a:lnSpc>
              <a:spcBef>
                <a:spcPts val="400"/>
              </a:spcBef>
              <a:spcAft>
                <a:spcPts val="200"/>
              </a:spcAft>
              <a:buSzPct val="100000"/>
              <a:buChar char="●"/>
            </a:pPr>
            <a:r>
              <a:rPr lang="en-US" sz="1050" dirty="0">
                <a:solidFill>
                  <a:srgbClr val="CFD8DC"/>
                </a:solidFill>
                <a:latin typeface="Calibri" pitchFamily="34" charset="0"/>
                <a:ea typeface="Calibri" pitchFamily="34" charset="-122"/>
                <a:cs typeface="Calibri" pitchFamily="34" charset="-120"/>
              </a:rPr>
              <a:t>Files stored on Cloudinary — a professional, enterprise-grade cloud platform</a:t>
            </a:r>
            <a:endParaRPr lang="en-US" sz="1050" dirty="0"/>
          </a:p>
          <a:p>
            <a:pPr marL="342900" indent="-342900">
              <a:lnSpc>
                <a:spcPct val="115000"/>
              </a:lnSpc>
              <a:spcBef>
                <a:spcPts val="400"/>
              </a:spcBef>
              <a:spcAft>
                <a:spcPts val="200"/>
              </a:spcAft>
              <a:buSzPct val="100000"/>
              <a:buChar char="●"/>
            </a:pPr>
            <a:r>
              <a:rPr lang="en-US" sz="1050" dirty="0">
                <a:solidFill>
                  <a:srgbClr val="CFD8DC"/>
                </a:solidFill>
                <a:latin typeface="Calibri" pitchFamily="34" charset="0"/>
                <a:ea typeface="Calibri" pitchFamily="34" charset="-122"/>
                <a:cs typeface="Calibri" pitchFamily="34" charset="-120"/>
              </a:rPr>
              <a:t>Each user's AI document index is privately keyed to their account only</a:t>
            </a:r>
            <a:endParaRPr lang="en-US" sz="1050" dirty="0"/>
          </a:p>
          <a:p>
            <a:pPr marL="342900" indent="-342900">
              <a:lnSpc>
                <a:spcPct val="115000"/>
              </a:lnSpc>
              <a:spcBef>
                <a:spcPts val="400"/>
              </a:spcBef>
              <a:spcAft>
                <a:spcPts val="200"/>
              </a:spcAft>
              <a:buSzPct val="100000"/>
              <a:buChar char="●"/>
            </a:pPr>
            <a:r>
              <a:rPr lang="en-US" sz="1050" dirty="0">
                <a:solidFill>
                  <a:srgbClr val="CFD8DC"/>
                </a:solidFill>
                <a:latin typeface="Calibri" pitchFamily="34" charset="0"/>
                <a:ea typeface="Calibri" pitchFamily="34" charset="-122"/>
                <a:cs typeface="Calibri" pitchFamily="34" charset="-120"/>
              </a:rPr>
              <a:t>Deleted documents are permanently removed from both storage and the AI index</a:t>
            </a:r>
            <a:endParaRPr lang="en-US" sz="1050" dirty="0"/>
          </a:p>
        </p:txBody>
      </p:sp>
      <p:sp>
        <p:nvSpPr>
          <p:cNvPr id="22" name="Shape 20"/>
          <p:cNvSpPr/>
          <p:nvPr/>
        </p:nvSpPr>
        <p:spPr>
          <a:xfrm>
            <a:off x="8083296" y="1389888"/>
            <a:ext cx="3657600" cy="3200400"/>
          </a:xfrm>
          <a:prstGeom prst="roundRect">
            <a:avLst>
              <a:gd name="adj" fmla="val 3429"/>
            </a:avLst>
          </a:prstGeom>
          <a:solidFill>
            <a:srgbClr val="162233"/>
          </a:solidFill>
          <a:ln w="15240">
            <a:solidFill>
              <a:srgbClr val="253A52"/>
            </a:solidFill>
            <a:prstDash val="solid"/>
          </a:ln>
        </p:spPr>
      </p:sp>
      <p:sp>
        <p:nvSpPr>
          <p:cNvPr id="23" name="Shape 21"/>
          <p:cNvSpPr/>
          <p:nvPr/>
        </p:nvSpPr>
        <p:spPr>
          <a:xfrm>
            <a:off x="8083296" y="1389888"/>
            <a:ext cx="3657600" cy="82296"/>
          </a:xfrm>
          <a:prstGeom prst="rect">
            <a:avLst/>
          </a:prstGeom>
          <a:solidFill>
            <a:srgbClr val="6C63FF"/>
          </a:solidFill>
          <a:ln w="12700">
            <a:solidFill>
              <a:srgbClr val="333333"/>
            </a:solidFill>
            <a:prstDash val="solid"/>
          </a:ln>
        </p:spPr>
      </p:sp>
      <p:sp>
        <p:nvSpPr>
          <p:cNvPr id="24" name="Shape 22"/>
          <p:cNvSpPr/>
          <p:nvPr/>
        </p:nvSpPr>
        <p:spPr>
          <a:xfrm>
            <a:off x="9564624" y="1527048"/>
            <a:ext cx="694944" cy="694944"/>
          </a:xfrm>
          <a:prstGeom prst="ellipse">
            <a:avLst/>
          </a:prstGeom>
          <a:solidFill>
            <a:srgbClr val="6C63FF"/>
          </a:solidFill>
          <a:ln w="12700">
            <a:solidFill>
              <a:srgbClr val="333333"/>
            </a:solidFill>
            <a:prstDash val="solid"/>
          </a:ln>
        </p:spPr>
      </p:sp>
      <p:sp>
        <p:nvSpPr>
          <p:cNvPr id="25" name="Text 23"/>
          <p:cNvSpPr/>
          <p:nvPr/>
        </p:nvSpPr>
        <p:spPr>
          <a:xfrm>
            <a:off x="9564624" y="1527048"/>
            <a:ext cx="694944" cy="694944"/>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26" name="Text 24"/>
          <p:cNvSpPr/>
          <p:nvPr/>
        </p:nvSpPr>
        <p:spPr>
          <a:xfrm>
            <a:off x="8220456" y="2331720"/>
            <a:ext cx="3383280" cy="34747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Access Control</a:t>
            </a:r>
            <a:endParaRPr lang="en-US" sz="1300" dirty="0"/>
          </a:p>
        </p:txBody>
      </p:sp>
      <p:sp>
        <p:nvSpPr>
          <p:cNvPr id="27" name="Text 25"/>
          <p:cNvSpPr/>
          <p:nvPr/>
        </p:nvSpPr>
        <p:spPr>
          <a:xfrm>
            <a:off x="8247888" y="2761488"/>
            <a:ext cx="3337560" cy="1828800"/>
          </a:xfrm>
          <a:prstGeom prst="rect">
            <a:avLst/>
          </a:prstGeom>
          <a:noFill/>
          <a:ln/>
        </p:spPr>
        <p:txBody>
          <a:bodyPr wrap="square" rtlCol="0" anchor="ctr"/>
          <a:lstStyle/>
          <a:p>
            <a:pPr marL="342900" indent="-342900">
              <a:lnSpc>
                <a:spcPct val="115000"/>
              </a:lnSpc>
              <a:spcBef>
                <a:spcPts val="400"/>
              </a:spcBef>
              <a:spcAft>
                <a:spcPts val="200"/>
              </a:spcAft>
              <a:buSzPct val="100000"/>
              <a:buChar char="●"/>
            </a:pPr>
            <a:r>
              <a:rPr lang="en-US" sz="1050" dirty="0">
                <a:solidFill>
                  <a:srgbClr val="CFD8DC"/>
                </a:solidFill>
                <a:latin typeface="Calibri" pitchFamily="34" charset="0"/>
                <a:ea typeface="Calibri" pitchFamily="34" charset="-122"/>
                <a:cs typeface="Calibri" pitchFamily="34" charset="-120"/>
              </a:rPr>
              <a:t>All sensitive actions require a valid login token — unauthenticated requests blocked</a:t>
            </a:r>
            <a:endParaRPr lang="en-US" sz="1050" dirty="0"/>
          </a:p>
          <a:p>
            <a:pPr marL="342900" indent="-342900">
              <a:lnSpc>
                <a:spcPct val="115000"/>
              </a:lnSpc>
              <a:spcBef>
                <a:spcPts val="400"/>
              </a:spcBef>
              <a:spcAft>
                <a:spcPts val="200"/>
              </a:spcAft>
              <a:buSzPct val="100000"/>
              <a:buChar char="●"/>
            </a:pPr>
            <a:r>
              <a:rPr lang="en-US" sz="1050" dirty="0">
                <a:solidFill>
                  <a:srgbClr val="CFD8DC"/>
                </a:solidFill>
                <a:latin typeface="Calibri" pitchFamily="34" charset="0"/>
                <a:ea typeface="Calibri" pitchFamily="34" charset="-122"/>
                <a:cs typeface="Calibri" pitchFamily="34" charset="-120"/>
              </a:rPr>
              <a:t>Rate limiting: 100 requests per 15 minutes per user — prevents misuse</a:t>
            </a:r>
            <a:endParaRPr lang="en-US" sz="1050" dirty="0"/>
          </a:p>
          <a:p>
            <a:pPr marL="342900" indent="-342900">
              <a:lnSpc>
                <a:spcPct val="115000"/>
              </a:lnSpc>
              <a:spcBef>
                <a:spcPts val="400"/>
              </a:spcBef>
              <a:spcAft>
                <a:spcPts val="200"/>
              </a:spcAft>
              <a:buSzPct val="100000"/>
              <a:buChar char="●"/>
            </a:pPr>
            <a:r>
              <a:rPr lang="en-US" sz="1050" dirty="0">
                <a:solidFill>
                  <a:srgbClr val="CFD8DC"/>
                </a:solidFill>
                <a:latin typeface="Calibri" pitchFamily="34" charset="0"/>
                <a:ea typeface="Calibri" pitchFamily="34" charset="-122"/>
                <a:cs typeface="Calibri" pitchFamily="34" charset="-120"/>
              </a:rPr>
              <a:t>CORS protection: app only accepts requests from approved web addresses</a:t>
            </a:r>
            <a:endParaRPr lang="en-US" sz="1050" dirty="0"/>
          </a:p>
        </p:txBody>
      </p:sp>
      <p:sp>
        <p:nvSpPr>
          <p:cNvPr id="28" name="Text 26"/>
          <p:cNvSpPr/>
          <p:nvPr/>
        </p:nvSpPr>
        <p:spPr>
          <a:xfrm>
            <a:off x="365760" y="4773168"/>
            <a:ext cx="114300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Where Your Data Lives</a:t>
            </a:r>
            <a:endParaRPr lang="en-US" sz="1400" dirty="0"/>
          </a:p>
        </p:txBody>
      </p:sp>
      <p:sp>
        <p:nvSpPr>
          <p:cNvPr id="29" name="Shape 27"/>
          <p:cNvSpPr/>
          <p:nvPr/>
        </p:nvSpPr>
        <p:spPr>
          <a:xfrm>
            <a:off x="365760" y="5166360"/>
            <a:ext cx="11430000" cy="274320"/>
          </a:xfrm>
          <a:prstGeom prst="rect">
            <a:avLst/>
          </a:prstGeom>
          <a:solidFill>
            <a:srgbClr val="4F8EF7"/>
          </a:solidFill>
          <a:ln w="12700">
            <a:solidFill>
              <a:srgbClr val="333333"/>
            </a:solidFill>
            <a:prstDash val="solid"/>
          </a:ln>
        </p:spPr>
      </p:sp>
      <p:sp>
        <p:nvSpPr>
          <p:cNvPr id="30" name="Text 28"/>
          <p:cNvSpPr/>
          <p:nvPr/>
        </p:nvSpPr>
        <p:spPr>
          <a:xfrm>
            <a:off x="457200" y="5166360"/>
            <a:ext cx="4114800" cy="2743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Data Type</a:t>
            </a:r>
            <a:endParaRPr lang="en-US" sz="1000" dirty="0"/>
          </a:p>
        </p:txBody>
      </p:sp>
      <p:sp>
        <p:nvSpPr>
          <p:cNvPr id="31" name="Text 29"/>
          <p:cNvSpPr/>
          <p:nvPr/>
        </p:nvSpPr>
        <p:spPr>
          <a:xfrm>
            <a:off x="4617720" y="5166360"/>
            <a:ext cx="4114800" cy="2743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Storage Location</a:t>
            </a:r>
            <a:endParaRPr lang="en-US" sz="1000" dirty="0"/>
          </a:p>
        </p:txBody>
      </p:sp>
      <p:sp>
        <p:nvSpPr>
          <p:cNvPr id="32" name="Text 30"/>
          <p:cNvSpPr/>
          <p:nvPr/>
        </p:nvSpPr>
        <p:spPr>
          <a:xfrm>
            <a:off x="8778240" y="5166360"/>
            <a:ext cx="3200400" cy="274320"/>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Access</a:t>
            </a:r>
            <a:endParaRPr lang="en-US" sz="1000" dirty="0"/>
          </a:p>
        </p:txBody>
      </p:sp>
      <p:sp>
        <p:nvSpPr>
          <p:cNvPr id="33" name="Shape 31"/>
          <p:cNvSpPr/>
          <p:nvPr/>
        </p:nvSpPr>
        <p:spPr>
          <a:xfrm>
            <a:off x="365760" y="5440680"/>
            <a:ext cx="11430000" cy="274320"/>
          </a:xfrm>
          <a:prstGeom prst="rect">
            <a:avLst/>
          </a:prstGeom>
          <a:solidFill>
            <a:srgbClr val="0F1C2E"/>
          </a:solidFill>
          <a:ln w="12700">
            <a:solidFill>
              <a:srgbClr val="333333"/>
            </a:solidFill>
            <a:prstDash val="solid"/>
          </a:ln>
        </p:spPr>
      </p:sp>
      <p:sp>
        <p:nvSpPr>
          <p:cNvPr id="34" name="Text 32"/>
          <p:cNvSpPr/>
          <p:nvPr/>
        </p:nvSpPr>
        <p:spPr>
          <a:xfrm>
            <a:off x="457200" y="5440680"/>
            <a:ext cx="4114800" cy="274320"/>
          </a:xfrm>
          <a:prstGeom prst="rect">
            <a:avLst/>
          </a:prstGeom>
          <a:noFill/>
          <a:ln/>
        </p:spPr>
        <p:txBody>
          <a:bodyPr wrap="square" rtlCol="0" anchor="ctr"/>
          <a:lstStyle/>
          <a:p>
            <a:pPr indent="0" marL="0">
              <a:buNone/>
            </a:pPr>
            <a:r>
              <a:rPr lang="en-US" sz="950" dirty="0">
                <a:solidFill>
                  <a:srgbClr val="CFD8DC"/>
                </a:solidFill>
                <a:latin typeface="Calibri" pitchFamily="34" charset="0"/>
                <a:ea typeface="Calibri" pitchFamily="34" charset="-122"/>
                <a:cs typeface="Calibri" pitchFamily="34" charset="-120"/>
              </a:rPr>
              <a:t>User accounts (name, email)</a:t>
            </a:r>
            <a:endParaRPr lang="en-US" sz="950" dirty="0"/>
          </a:p>
        </p:txBody>
      </p:sp>
      <p:sp>
        <p:nvSpPr>
          <p:cNvPr id="35" name="Text 33"/>
          <p:cNvSpPr/>
          <p:nvPr/>
        </p:nvSpPr>
        <p:spPr>
          <a:xfrm>
            <a:off x="4617720" y="5440680"/>
            <a:ext cx="4114800" cy="274320"/>
          </a:xfrm>
          <a:prstGeom prst="rect">
            <a:avLst/>
          </a:prstGeom>
          <a:noFill/>
          <a:ln/>
        </p:spPr>
        <p:txBody>
          <a:bodyPr wrap="square" rtlCol="0" anchor="ctr"/>
          <a:lstStyle/>
          <a:p>
            <a:pPr indent="0" marL="0">
              <a:buNone/>
            </a:pPr>
            <a:r>
              <a:rPr lang="en-US" sz="950" dirty="0">
                <a:solidFill>
                  <a:srgbClr val="CFD8DC"/>
                </a:solidFill>
                <a:latin typeface="Calibri" pitchFamily="34" charset="0"/>
                <a:ea typeface="Calibri" pitchFamily="34" charset="-122"/>
                <a:cs typeface="Calibri" pitchFamily="34" charset="-120"/>
              </a:rPr>
              <a:t>MongoDB database</a:t>
            </a:r>
            <a:endParaRPr lang="en-US" sz="950" dirty="0"/>
          </a:p>
        </p:txBody>
      </p:sp>
      <p:sp>
        <p:nvSpPr>
          <p:cNvPr id="36" name="Text 34"/>
          <p:cNvSpPr/>
          <p:nvPr/>
        </p:nvSpPr>
        <p:spPr>
          <a:xfrm>
            <a:off x="8778240" y="5440680"/>
            <a:ext cx="3200400" cy="274320"/>
          </a:xfrm>
          <a:prstGeom prst="rect">
            <a:avLst/>
          </a:prstGeom>
          <a:noFill/>
          <a:ln/>
        </p:spPr>
        <p:txBody>
          <a:bodyPr wrap="square" rtlCol="0" anchor="ctr"/>
          <a:lstStyle/>
          <a:p>
            <a:pPr indent="0" marL="0">
              <a:buNone/>
            </a:pPr>
            <a:r>
              <a:rPr lang="en-US" sz="950" dirty="0">
                <a:solidFill>
                  <a:srgbClr val="CFD8DC"/>
                </a:solidFill>
                <a:latin typeface="Calibri" pitchFamily="34" charset="0"/>
                <a:ea typeface="Calibri" pitchFamily="34" charset="-122"/>
                <a:cs typeface="Calibri" pitchFamily="34" charset="-120"/>
              </a:rPr>
              <a:t>Your account only</a:t>
            </a:r>
            <a:endParaRPr lang="en-US" sz="950" dirty="0"/>
          </a:p>
        </p:txBody>
      </p:sp>
      <p:sp>
        <p:nvSpPr>
          <p:cNvPr id="37" name="Shape 35"/>
          <p:cNvSpPr/>
          <p:nvPr/>
        </p:nvSpPr>
        <p:spPr>
          <a:xfrm>
            <a:off x="365760" y="5715000"/>
            <a:ext cx="11430000" cy="274320"/>
          </a:xfrm>
          <a:prstGeom prst="rect">
            <a:avLst/>
          </a:prstGeom>
          <a:solidFill>
            <a:srgbClr val="162233"/>
          </a:solidFill>
          <a:ln w="12700">
            <a:solidFill>
              <a:srgbClr val="333333"/>
            </a:solidFill>
            <a:prstDash val="solid"/>
          </a:ln>
        </p:spPr>
      </p:sp>
      <p:sp>
        <p:nvSpPr>
          <p:cNvPr id="38" name="Text 36"/>
          <p:cNvSpPr/>
          <p:nvPr/>
        </p:nvSpPr>
        <p:spPr>
          <a:xfrm>
            <a:off x="457200" y="5715000"/>
            <a:ext cx="4114800" cy="274320"/>
          </a:xfrm>
          <a:prstGeom prst="rect">
            <a:avLst/>
          </a:prstGeom>
          <a:noFill/>
          <a:ln/>
        </p:spPr>
        <p:txBody>
          <a:bodyPr wrap="square" rtlCol="0" anchor="ctr"/>
          <a:lstStyle/>
          <a:p>
            <a:pPr indent="0" marL="0">
              <a:buNone/>
            </a:pPr>
            <a:r>
              <a:rPr lang="en-US" sz="950" dirty="0">
                <a:solidFill>
                  <a:srgbClr val="CFD8DC"/>
                </a:solidFill>
                <a:latin typeface="Calibri" pitchFamily="34" charset="0"/>
                <a:ea typeface="Calibri" pitchFamily="34" charset="-122"/>
                <a:cs typeface="Calibri" pitchFamily="34" charset="-120"/>
              </a:rPr>
              <a:t>Chat history &amp; conversations</a:t>
            </a:r>
            <a:endParaRPr lang="en-US" sz="950" dirty="0"/>
          </a:p>
        </p:txBody>
      </p:sp>
      <p:sp>
        <p:nvSpPr>
          <p:cNvPr id="39" name="Text 37"/>
          <p:cNvSpPr/>
          <p:nvPr/>
        </p:nvSpPr>
        <p:spPr>
          <a:xfrm>
            <a:off x="4617720" y="5715000"/>
            <a:ext cx="4114800" cy="274320"/>
          </a:xfrm>
          <a:prstGeom prst="rect">
            <a:avLst/>
          </a:prstGeom>
          <a:noFill/>
          <a:ln/>
        </p:spPr>
        <p:txBody>
          <a:bodyPr wrap="square" rtlCol="0" anchor="ctr"/>
          <a:lstStyle/>
          <a:p>
            <a:pPr indent="0" marL="0">
              <a:buNone/>
            </a:pPr>
            <a:r>
              <a:rPr lang="en-US" sz="950" dirty="0">
                <a:solidFill>
                  <a:srgbClr val="CFD8DC"/>
                </a:solidFill>
                <a:latin typeface="Calibri" pitchFamily="34" charset="0"/>
                <a:ea typeface="Calibri" pitchFamily="34" charset="-122"/>
                <a:cs typeface="Calibri" pitchFamily="34" charset="-120"/>
              </a:rPr>
              <a:t>MongoDB database</a:t>
            </a:r>
            <a:endParaRPr lang="en-US" sz="950" dirty="0"/>
          </a:p>
        </p:txBody>
      </p:sp>
      <p:sp>
        <p:nvSpPr>
          <p:cNvPr id="40" name="Text 38"/>
          <p:cNvSpPr/>
          <p:nvPr/>
        </p:nvSpPr>
        <p:spPr>
          <a:xfrm>
            <a:off x="8778240" y="5715000"/>
            <a:ext cx="3200400" cy="274320"/>
          </a:xfrm>
          <a:prstGeom prst="rect">
            <a:avLst/>
          </a:prstGeom>
          <a:noFill/>
          <a:ln/>
        </p:spPr>
        <p:txBody>
          <a:bodyPr wrap="square" rtlCol="0" anchor="ctr"/>
          <a:lstStyle/>
          <a:p>
            <a:pPr indent="0" marL="0">
              <a:buNone/>
            </a:pPr>
            <a:r>
              <a:rPr lang="en-US" sz="950" dirty="0">
                <a:solidFill>
                  <a:srgbClr val="CFD8DC"/>
                </a:solidFill>
                <a:latin typeface="Calibri" pitchFamily="34" charset="0"/>
                <a:ea typeface="Calibri" pitchFamily="34" charset="-122"/>
                <a:cs typeface="Calibri" pitchFamily="34" charset="-120"/>
              </a:rPr>
              <a:t>Your account only</a:t>
            </a:r>
            <a:endParaRPr lang="en-US" sz="950" dirty="0"/>
          </a:p>
        </p:txBody>
      </p:sp>
      <p:sp>
        <p:nvSpPr>
          <p:cNvPr id="41" name="Shape 39"/>
          <p:cNvSpPr/>
          <p:nvPr/>
        </p:nvSpPr>
        <p:spPr>
          <a:xfrm>
            <a:off x="365760" y="5989320"/>
            <a:ext cx="11430000" cy="274320"/>
          </a:xfrm>
          <a:prstGeom prst="rect">
            <a:avLst/>
          </a:prstGeom>
          <a:solidFill>
            <a:srgbClr val="0F1C2E"/>
          </a:solidFill>
          <a:ln w="12700">
            <a:solidFill>
              <a:srgbClr val="333333"/>
            </a:solidFill>
            <a:prstDash val="solid"/>
          </a:ln>
        </p:spPr>
      </p:sp>
      <p:sp>
        <p:nvSpPr>
          <p:cNvPr id="42" name="Text 40"/>
          <p:cNvSpPr/>
          <p:nvPr/>
        </p:nvSpPr>
        <p:spPr>
          <a:xfrm>
            <a:off x="457200" y="5989320"/>
            <a:ext cx="4114800" cy="274320"/>
          </a:xfrm>
          <a:prstGeom prst="rect">
            <a:avLst/>
          </a:prstGeom>
          <a:noFill/>
          <a:ln/>
        </p:spPr>
        <p:txBody>
          <a:bodyPr wrap="square" rtlCol="0" anchor="ctr"/>
          <a:lstStyle/>
          <a:p>
            <a:pPr indent="0" marL="0">
              <a:buNone/>
            </a:pPr>
            <a:r>
              <a:rPr lang="en-US" sz="950" dirty="0">
                <a:solidFill>
                  <a:srgbClr val="CFD8DC"/>
                </a:solidFill>
                <a:latin typeface="Calibri" pitchFamily="34" charset="0"/>
                <a:ea typeface="Calibri" pitchFamily="34" charset="-122"/>
                <a:cs typeface="Calibri" pitchFamily="34" charset="-120"/>
              </a:rPr>
              <a:t>Uploaded documents (files)</a:t>
            </a:r>
            <a:endParaRPr lang="en-US" sz="950" dirty="0"/>
          </a:p>
        </p:txBody>
      </p:sp>
      <p:sp>
        <p:nvSpPr>
          <p:cNvPr id="43" name="Text 41"/>
          <p:cNvSpPr/>
          <p:nvPr/>
        </p:nvSpPr>
        <p:spPr>
          <a:xfrm>
            <a:off x="4617720" y="5989320"/>
            <a:ext cx="4114800" cy="274320"/>
          </a:xfrm>
          <a:prstGeom prst="rect">
            <a:avLst/>
          </a:prstGeom>
          <a:noFill/>
          <a:ln/>
        </p:spPr>
        <p:txBody>
          <a:bodyPr wrap="square" rtlCol="0" anchor="ctr"/>
          <a:lstStyle/>
          <a:p>
            <a:pPr indent="0" marL="0">
              <a:buNone/>
            </a:pPr>
            <a:r>
              <a:rPr lang="en-US" sz="950" dirty="0">
                <a:solidFill>
                  <a:srgbClr val="CFD8DC"/>
                </a:solidFill>
                <a:latin typeface="Calibri" pitchFamily="34" charset="0"/>
                <a:ea typeface="Calibri" pitchFamily="34" charset="-122"/>
                <a:cs typeface="Calibri" pitchFamily="34" charset="-120"/>
              </a:rPr>
              <a:t>Cloudinary cloud storage</a:t>
            </a:r>
            <a:endParaRPr lang="en-US" sz="950" dirty="0"/>
          </a:p>
        </p:txBody>
      </p:sp>
      <p:sp>
        <p:nvSpPr>
          <p:cNvPr id="44" name="Text 42"/>
          <p:cNvSpPr/>
          <p:nvPr/>
        </p:nvSpPr>
        <p:spPr>
          <a:xfrm>
            <a:off x="8778240" y="5989320"/>
            <a:ext cx="3200400" cy="274320"/>
          </a:xfrm>
          <a:prstGeom prst="rect">
            <a:avLst/>
          </a:prstGeom>
          <a:noFill/>
          <a:ln/>
        </p:spPr>
        <p:txBody>
          <a:bodyPr wrap="square" rtlCol="0" anchor="ctr"/>
          <a:lstStyle/>
          <a:p>
            <a:pPr indent="0" marL="0">
              <a:buNone/>
            </a:pPr>
            <a:r>
              <a:rPr lang="en-US" sz="950" dirty="0">
                <a:solidFill>
                  <a:srgbClr val="CFD8DC"/>
                </a:solidFill>
                <a:latin typeface="Calibri" pitchFamily="34" charset="0"/>
                <a:ea typeface="Calibri" pitchFamily="34" charset="-122"/>
                <a:cs typeface="Calibri" pitchFamily="34" charset="-120"/>
              </a:rPr>
              <a:t>Your account only</a:t>
            </a:r>
            <a:endParaRPr lang="en-US" sz="950" dirty="0"/>
          </a:p>
        </p:txBody>
      </p:sp>
      <p:sp>
        <p:nvSpPr>
          <p:cNvPr id="45" name="Shape 43"/>
          <p:cNvSpPr/>
          <p:nvPr/>
        </p:nvSpPr>
        <p:spPr>
          <a:xfrm>
            <a:off x="365760" y="6263640"/>
            <a:ext cx="11430000" cy="274320"/>
          </a:xfrm>
          <a:prstGeom prst="rect">
            <a:avLst/>
          </a:prstGeom>
          <a:solidFill>
            <a:srgbClr val="162233"/>
          </a:solidFill>
          <a:ln w="12700">
            <a:solidFill>
              <a:srgbClr val="333333"/>
            </a:solidFill>
            <a:prstDash val="solid"/>
          </a:ln>
        </p:spPr>
      </p:sp>
      <p:sp>
        <p:nvSpPr>
          <p:cNvPr id="46" name="Text 44"/>
          <p:cNvSpPr/>
          <p:nvPr/>
        </p:nvSpPr>
        <p:spPr>
          <a:xfrm>
            <a:off x="457200" y="6263640"/>
            <a:ext cx="4114800" cy="274320"/>
          </a:xfrm>
          <a:prstGeom prst="rect">
            <a:avLst/>
          </a:prstGeom>
          <a:noFill/>
          <a:ln/>
        </p:spPr>
        <p:txBody>
          <a:bodyPr wrap="square" rtlCol="0" anchor="ctr"/>
          <a:lstStyle/>
          <a:p>
            <a:pPr indent="0" marL="0">
              <a:buNone/>
            </a:pPr>
            <a:r>
              <a:rPr lang="en-US" sz="950" dirty="0">
                <a:solidFill>
                  <a:srgbClr val="CFD8DC"/>
                </a:solidFill>
                <a:latin typeface="Calibri" pitchFamily="34" charset="0"/>
                <a:ea typeface="Calibri" pitchFamily="34" charset="-122"/>
                <a:cs typeface="Calibri" pitchFamily="34" charset="-120"/>
              </a:rPr>
              <a:t>AI document index (embeddings)</a:t>
            </a:r>
            <a:endParaRPr lang="en-US" sz="950" dirty="0"/>
          </a:p>
        </p:txBody>
      </p:sp>
      <p:sp>
        <p:nvSpPr>
          <p:cNvPr id="47" name="Text 45"/>
          <p:cNvSpPr/>
          <p:nvPr/>
        </p:nvSpPr>
        <p:spPr>
          <a:xfrm>
            <a:off x="4617720" y="6263640"/>
            <a:ext cx="4114800" cy="274320"/>
          </a:xfrm>
          <a:prstGeom prst="rect">
            <a:avLst/>
          </a:prstGeom>
          <a:noFill/>
          <a:ln/>
        </p:spPr>
        <p:txBody>
          <a:bodyPr wrap="square" rtlCol="0" anchor="ctr"/>
          <a:lstStyle/>
          <a:p>
            <a:pPr indent="0" marL="0">
              <a:buNone/>
            </a:pPr>
            <a:r>
              <a:rPr lang="en-US" sz="950" dirty="0">
                <a:solidFill>
                  <a:srgbClr val="CFD8DC"/>
                </a:solidFill>
                <a:latin typeface="Calibri" pitchFamily="34" charset="0"/>
                <a:ea typeface="Calibri" pitchFamily="34" charset="-122"/>
                <a:cs typeface="Calibri" pitchFamily="34" charset="-120"/>
              </a:rPr>
              <a:t>Server file system</a:t>
            </a:r>
            <a:endParaRPr lang="en-US" sz="950" dirty="0"/>
          </a:p>
        </p:txBody>
      </p:sp>
      <p:sp>
        <p:nvSpPr>
          <p:cNvPr id="48" name="Text 46"/>
          <p:cNvSpPr/>
          <p:nvPr/>
        </p:nvSpPr>
        <p:spPr>
          <a:xfrm>
            <a:off x="8778240" y="6263640"/>
            <a:ext cx="3200400" cy="274320"/>
          </a:xfrm>
          <a:prstGeom prst="rect">
            <a:avLst/>
          </a:prstGeom>
          <a:noFill/>
          <a:ln/>
        </p:spPr>
        <p:txBody>
          <a:bodyPr wrap="square" rtlCol="0" anchor="ctr"/>
          <a:lstStyle/>
          <a:p>
            <a:pPr indent="0" marL="0">
              <a:buNone/>
            </a:pPr>
            <a:r>
              <a:rPr lang="en-US" sz="950" dirty="0">
                <a:solidFill>
                  <a:srgbClr val="CFD8DC"/>
                </a:solidFill>
                <a:latin typeface="Calibri" pitchFamily="34" charset="0"/>
                <a:ea typeface="Calibri" pitchFamily="34" charset="-122"/>
                <a:cs typeface="Calibri" pitchFamily="34" charset="-120"/>
              </a:rPr>
              <a:t>Your account only</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TECHNOLOGY</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How the Technology Works — Simply Explained</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15 / 20</a:t>
            </a:r>
            <a:endParaRPr lang="en-US" sz="750" dirty="0"/>
          </a:p>
        </p:txBody>
      </p:sp>
      <p:sp>
        <p:nvSpPr>
          <p:cNvPr id="10" name="Shape 8"/>
          <p:cNvSpPr/>
          <p:nvPr/>
        </p:nvSpPr>
        <p:spPr>
          <a:xfrm>
            <a:off x="365760" y="1389888"/>
            <a:ext cx="3630168" cy="2103120"/>
          </a:xfrm>
          <a:prstGeom prst="roundRect">
            <a:avLst>
              <a:gd name="adj" fmla="val 5217"/>
            </a:avLst>
          </a:prstGeom>
          <a:solidFill>
            <a:srgbClr val="162233"/>
          </a:solidFill>
          <a:ln w="15240">
            <a:solidFill>
              <a:srgbClr val="253A52"/>
            </a:solidFill>
            <a:prstDash val="solid"/>
          </a:ln>
        </p:spPr>
      </p:sp>
      <p:sp>
        <p:nvSpPr>
          <p:cNvPr id="11" name="Shape 9"/>
          <p:cNvSpPr/>
          <p:nvPr/>
        </p:nvSpPr>
        <p:spPr>
          <a:xfrm>
            <a:off x="365760" y="1389888"/>
            <a:ext cx="3630168" cy="73152"/>
          </a:xfrm>
          <a:prstGeom prst="rect">
            <a:avLst/>
          </a:prstGeom>
          <a:solidFill>
            <a:srgbClr val="4F8EF7"/>
          </a:solidFill>
          <a:ln w="12700">
            <a:solidFill>
              <a:srgbClr val="333333"/>
            </a:solidFill>
            <a:prstDash val="solid"/>
          </a:ln>
        </p:spPr>
      </p:sp>
      <p:sp>
        <p:nvSpPr>
          <p:cNvPr id="12" name="Shape 10"/>
          <p:cNvSpPr/>
          <p:nvPr/>
        </p:nvSpPr>
        <p:spPr>
          <a:xfrm>
            <a:off x="566928" y="1572768"/>
            <a:ext cx="548640" cy="548640"/>
          </a:xfrm>
          <a:prstGeom prst="ellipse">
            <a:avLst/>
          </a:prstGeom>
          <a:solidFill>
            <a:srgbClr val="4F8EF7"/>
          </a:solidFill>
          <a:ln w="12700">
            <a:solidFill>
              <a:srgbClr val="333333"/>
            </a:solidFill>
            <a:prstDash val="solid"/>
          </a:ln>
        </p:spPr>
      </p:sp>
      <p:sp>
        <p:nvSpPr>
          <p:cNvPr id="13" name="Text 11"/>
          <p:cNvSpPr/>
          <p:nvPr/>
        </p:nvSpPr>
        <p:spPr>
          <a:xfrm>
            <a:off x="566928" y="1572768"/>
            <a:ext cx="548640" cy="54864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14" name="Text 12"/>
          <p:cNvSpPr/>
          <p:nvPr/>
        </p:nvSpPr>
        <p:spPr>
          <a:xfrm>
            <a:off x="1261872" y="1527048"/>
            <a:ext cx="2606040" cy="34747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Frontend — What You See</a:t>
            </a:r>
            <a:endParaRPr lang="en-US" sz="1050" dirty="0"/>
          </a:p>
        </p:txBody>
      </p:sp>
      <p:sp>
        <p:nvSpPr>
          <p:cNvPr id="15" name="Shape 13"/>
          <p:cNvSpPr/>
          <p:nvPr/>
        </p:nvSpPr>
        <p:spPr>
          <a:xfrm>
            <a:off x="1261872" y="1892808"/>
            <a:ext cx="2606040" cy="228600"/>
          </a:xfrm>
          <a:prstGeom prst="roundRect">
            <a:avLst>
              <a:gd name="adj" fmla="val 20000"/>
            </a:avLst>
          </a:prstGeom>
          <a:solidFill>
            <a:srgbClr val="4F8EF7">
              <a:alpha val="80000"/>
            </a:srgbClr>
          </a:solidFill>
          <a:ln w="10160">
            <a:solidFill>
              <a:srgbClr val="4F8EF7"/>
            </a:solidFill>
            <a:prstDash val="solid"/>
          </a:ln>
        </p:spPr>
      </p:sp>
      <p:sp>
        <p:nvSpPr>
          <p:cNvPr id="16" name="Text 14"/>
          <p:cNvSpPr/>
          <p:nvPr/>
        </p:nvSpPr>
        <p:spPr>
          <a:xfrm>
            <a:off x="1261872" y="1892808"/>
            <a:ext cx="2606040" cy="22860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React.js</a:t>
            </a:r>
            <a:endParaRPr lang="en-US" sz="850" dirty="0"/>
          </a:p>
        </p:txBody>
      </p:sp>
      <p:sp>
        <p:nvSpPr>
          <p:cNvPr id="17" name="Text 15"/>
          <p:cNvSpPr/>
          <p:nvPr/>
        </p:nvSpPr>
        <p:spPr>
          <a:xfrm>
            <a:off x="530352" y="2231136"/>
            <a:ext cx="3291840" cy="1188720"/>
          </a:xfrm>
          <a:prstGeom prst="rect">
            <a:avLst/>
          </a:prstGeom>
          <a:noFill/>
          <a:ln/>
        </p:spPr>
        <p:txBody>
          <a:bodyPr wrap="square" rtlCol="0" anchor="t"/>
          <a:lstStyle/>
          <a:p>
            <a:pPr algn="l" indent="0" marL="0">
              <a:buNone/>
            </a:pPr>
            <a:r>
              <a:rPr lang="en-US" sz="950" dirty="0">
                <a:solidFill>
                  <a:srgbClr val="CFD8DC"/>
                </a:solidFill>
                <a:latin typeface="Calibri" pitchFamily="34" charset="0"/>
                <a:ea typeface="Calibri" pitchFamily="34" charset="-122"/>
                <a:cs typeface="Calibri" pitchFamily="34" charset="-120"/>
              </a:rPr>
              <a:t>The visual interface — chat bubbles, sidebar, buttons — runs in your web browser. Built with React, the same technology used by Facebook and Instagram.</a:t>
            </a:r>
            <a:endParaRPr lang="en-US" sz="950" dirty="0"/>
          </a:p>
        </p:txBody>
      </p:sp>
      <p:sp>
        <p:nvSpPr>
          <p:cNvPr id="18" name="Shape 16"/>
          <p:cNvSpPr/>
          <p:nvPr/>
        </p:nvSpPr>
        <p:spPr>
          <a:xfrm>
            <a:off x="4224528" y="1389888"/>
            <a:ext cx="3630168" cy="2103120"/>
          </a:xfrm>
          <a:prstGeom prst="roundRect">
            <a:avLst>
              <a:gd name="adj" fmla="val 5217"/>
            </a:avLst>
          </a:prstGeom>
          <a:solidFill>
            <a:srgbClr val="162233"/>
          </a:solidFill>
          <a:ln w="15240">
            <a:solidFill>
              <a:srgbClr val="253A52"/>
            </a:solidFill>
            <a:prstDash val="solid"/>
          </a:ln>
        </p:spPr>
      </p:sp>
      <p:sp>
        <p:nvSpPr>
          <p:cNvPr id="19" name="Shape 17"/>
          <p:cNvSpPr/>
          <p:nvPr/>
        </p:nvSpPr>
        <p:spPr>
          <a:xfrm>
            <a:off x="4224528" y="1389888"/>
            <a:ext cx="3630168" cy="73152"/>
          </a:xfrm>
          <a:prstGeom prst="rect">
            <a:avLst/>
          </a:prstGeom>
          <a:solidFill>
            <a:srgbClr val="00C9A7"/>
          </a:solidFill>
          <a:ln w="12700">
            <a:solidFill>
              <a:srgbClr val="333333"/>
            </a:solidFill>
            <a:prstDash val="solid"/>
          </a:ln>
        </p:spPr>
      </p:sp>
      <p:sp>
        <p:nvSpPr>
          <p:cNvPr id="20" name="Shape 18"/>
          <p:cNvSpPr/>
          <p:nvPr/>
        </p:nvSpPr>
        <p:spPr>
          <a:xfrm>
            <a:off x="4425696" y="1572768"/>
            <a:ext cx="548640" cy="548640"/>
          </a:xfrm>
          <a:prstGeom prst="ellipse">
            <a:avLst/>
          </a:prstGeom>
          <a:solidFill>
            <a:srgbClr val="00C9A7"/>
          </a:solidFill>
          <a:ln w="12700">
            <a:solidFill>
              <a:srgbClr val="333333"/>
            </a:solidFill>
            <a:prstDash val="solid"/>
          </a:ln>
        </p:spPr>
      </p:sp>
      <p:sp>
        <p:nvSpPr>
          <p:cNvPr id="21" name="Text 19"/>
          <p:cNvSpPr/>
          <p:nvPr/>
        </p:nvSpPr>
        <p:spPr>
          <a:xfrm>
            <a:off x="4425696" y="1572768"/>
            <a:ext cx="548640" cy="54864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22" name="Text 20"/>
          <p:cNvSpPr/>
          <p:nvPr/>
        </p:nvSpPr>
        <p:spPr>
          <a:xfrm>
            <a:off x="5120640" y="1527048"/>
            <a:ext cx="2606040" cy="34747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Backend — The Engine</a:t>
            </a:r>
            <a:endParaRPr lang="en-US" sz="1050" dirty="0"/>
          </a:p>
        </p:txBody>
      </p:sp>
      <p:sp>
        <p:nvSpPr>
          <p:cNvPr id="23" name="Shape 21"/>
          <p:cNvSpPr/>
          <p:nvPr/>
        </p:nvSpPr>
        <p:spPr>
          <a:xfrm>
            <a:off x="5120640" y="1892808"/>
            <a:ext cx="2606040" cy="228600"/>
          </a:xfrm>
          <a:prstGeom prst="roundRect">
            <a:avLst>
              <a:gd name="adj" fmla="val 20000"/>
            </a:avLst>
          </a:prstGeom>
          <a:solidFill>
            <a:srgbClr val="00C9A7">
              <a:alpha val="80000"/>
            </a:srgbClr>
          </a:solidFill>
          <a:ln w="10160">
            <a:solidFill>
              <a:srgbClr val="00C9A7"/>
            </a:solidFill>
            <a:prstDash val="solid"/>
          </a:ln>
        </p:spPr>
      </p:sp>
      <p:sp>
        <p:nvSpPr>
          <p:cNvPr id="24" name="Text 22"/>
          <p:cNvSpPr/>
          <p:nvPr/>
        </p:nvSpPr>
        <p:spPr>
          <a:xfrm>
            <a:off x="5120640" y="1892808"/>
            <a:ext cx="2606040" cy="22860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Node.js + Express</a:t>
            </a:r>
            <a:endParaRPr lang="en-US" sz="850" dirty="0"/>
          </a:p>
        </p:txBody>
      </p:sp>
      <p:sp>
        <p:nvSpPr>
          <p:cNvPr id="25" name="Text 23"/>
          <p:cNvSpPr/>
          <p:nvPr/>
        </p:nvSpPr>
        <p:spPr>
          <a:xfrm>
            <a:off x="4389120" y="2231136"/>
            <a:ext cx="3291840" cy="1188720"/>
          </a:xfrm>
          <a:prstGeom prst="rect">
            <a:avLst/>
          </a:prstGeom>
          <a:noFill/>
          <a:ln/>
        </p:spPr>
        <p:txBody>
          <a:bodyPr wrap="square" rtlCol="0" anchor="t"/>
          <a:lstStyle/>
          <a:p>
            <a:pPr algn="l" indent="0" marL="0">
              <a:buNone/>
            </a:pPr>
            <a:r>
              <a:rPr lang="en-US" sz="950" dirty="0">
                <a:solidFill>
                  <a:srgbClr val="CFD8DC"/>
                </a:solidFill>
                <a:latin typeface="Calibri" pitchFamily="34" charset="0"/>
                <a:ea typeface="Calibri" pitchFamily="34" charset="-122"/>
                <a:cs typeface="Calibri" pitchFamily="34" charset="-120"/>
              </a:rPr>
              <a:t>The server that processes uploads, runs AI queries, and manages data. Fast, reliable, and trusted by companies like Netflix and LinkedIn.</a:t>
            </a:r>
            <a:endParaRPr lang="en-US" sz="950" dirty="0"/>
          </a:p>
        </p:txBody>
      </p:sp>
      <p:sp>
        <p:nvSpPr>
          <p:cNvPr id="26" name="Shape 24"/>
          <p:cNvSpPr/>
          <p:nvPr/>
        </p:nvSpPr>
        <p:spPr>
          <a:xfrm>
            <a:off x="8083296" y="1389888"/>
            <a:ext cx="3630168" cy="2103120"/>
          </a:xfrm>
          <a:prstGeom prst="roundRect">
            <a:avLst>
              <a:gd name="adj" fmla="val 5217"/>
            </a:avLst>
          </a:prstGeom>
          <a:solidFill>
            <a:srgbClr val="162233"/>
          </a:solidFill>
          <a:ln w="15240">
            <a:solidFill>
              <a:srgbClr val="253A52"/>
            </a:solidFill>
            <a:prstDash val="solid"/>
          </a:ln>
        </p:spPr>
      </p:sp>
      <p:sp>
        <p:nvSpPr>
          <p:cNvPr id="27" name="Shape 25"/>
          <p:cNvSpPr/>
          <p:nvPr/>
        </p:nvSpPr>
        <p:spPr>
          <a:xfrm>
            <a:off x="8083296" y="1389888"/>
            <a:ext cx="3630168" cy="73152"/>
          </a:xfrm>
          <a:prstGeom prst="rect">
            <a:avLst/>
          </a:prstGeom>
          <a:solidFill>
            <a:srgbClr val="6C63FF"/>
          </a:solidFill>
          <a:ln w="12700">
            <a:solidFill>
              <a:srgbClr val="333333"/>
            </a:solidFill>
            <a:prstDash val="solid"/>
          </a:ln>
        </p:spPr>
      </p:sp>
      <p:sp>
        <p:nvSpPr>
          <p:cNvPr id="28" name="Shape 26"/>
          <p:cNvSpPr/>
          <p:nvPr/>
        </p:nvSpPr>
        <p:spPr>
          <a:xfrm>
            <a:off x="8284464" y="1572768"/>
            <a:ext cx="548640" cy="548640"/>
          </a:xfrm>
          <a:prstGeom prst="ellipse">
            <a:avLst/>
          </a:prstGeom>
          <a:solidFill>
            <a:srgbClr val="6C63FF"/>
          </a:solidFill>
          <a:ln w="12700">
            <a:solidFill>
              <a:srgbClr val="333333"/>
            </a:solidFill>
            <a:prstDash val="solid"/>
          </a:ln>
        </p:spPr>
      </p:sp>
      <p:sp>
        <p:nvSpPr>
          <p:cNvPr id="29" name="Text 27"/>
          <p:cNvSpPr/>
          <p:nvPr/>
        </p:nvSpPr>
        <p:spPr>
          <a:xfrm>
            <a:off x="8284464" y="1572768"/>
            <a:ext cx="548640" cy="54864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30" name="Text 28"/>
          <p:cNvSpPr/>
          <p:nvPr/>
        </p:nvSpPr>
        <p:spPr>
          <a:xfrm>
            <a:off x="8979408" y="1527048"/>
            <a:ext cx="2606040" cy="34747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Database — The Memory</a:t>
            </a:r>
            <a:endParaRPr lang="en-US" sz="1050" dirty="0"/>
          </a:p>
        </p:txBody>
      </p:sp>
      <p:sp>
        <p:nvSpPr>
          <p:cNvPr id="31" name="Shape 29"/>
          <p:cNvSpPr/>
          <p:nvPr/>
        </p:nvSpPr>
        <p:spPr>
          <a:xfrm>
            <a:off x="8979408" y="1892808"/>
            <a:ext cx="2606040" cy="228600"/>
          </a:xfrm>
          <a:prstGeom prst="roundRect">
            <a:avLst>
              <a:gd name="adj" fmla="val 20000"/>
            </a:avLst>
          </a:prstGeom>
          <a:solidFill>
            <a:srgbClr val="6C63FF">
              <a:alpha val="80000"/>
            </a:srgbClr>
          </a:solidFill>
          <a:ln w="10160">
            <a:solidFill>
              <a:srgbClr val="6C63FF"/>
            </a:solidFill>
            <a:prstDash val="solid"/>
          </a:ln>
        </p:spPr>
      </p:sp>
      <p:sp>
        <p:nvSpPr>
          <p:cNvPr id="32" name="Text 30"/>
          <p:cNvSpPr/>
          <p:nvPr/>
        </p:nvSpPr>
        <p:spPr>
          <a:xfrm>
            <a:off x="8979408" y="1892808"/>
            <a:ext cx="2606040" cy="22860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MongoDB</a:t>
            </a:r>
            <a:endParaRPr lang="en-US" sz="850" dirty="0"/>
          </a:p>
        </p:txBody>
      </p:sp>
      <p:sp>
        <p:nvSpPr>
          <p:cNvPr id="33" name="Text 31"/>
          <p:cNvSpPr/>
          <p:nvPr/>
        </p:nvSpPr>
        <p:spPr>
          <a:xfrm>
            <a:off x="8247888" y="2231136"/>
            <a:ext cx="3291840" cy="1188720"/>
          </a:xfrm>
          <a:prstGeom prst="rect">
            <a:avLst/>
          </a:prstGeom>
          <a:noFill/>
          <a:ln/>
        </p:spPr>
        <p:txBody>
          <a:bodyPr wrap="square" rtlCol="0" anchor="t"/>
          <a:lstStyle/>
          <a:p>
            <a:pPr algn="l" indent="0" marL="0">
              <a:buNone/>
            </a:pPr>
            <a:r>
              <a:rPr lang="en-US" sz="950" dirty="0">
                <a:solidFill>
                  <a:srgbClr val="CFD8DC"/>
                </a:solidFill>
                <a:latin typeface="Calibri" pitchFamily="34" charset="0"/>
                <a:ea typeface="Calibri" pitchFamily="34" charset="-122"/>
                <a:cs typeface="Calibri" pitchFamily="34" charset="-120"/>
              </a:rPr>
              <a:t>Stores user accounts and conversation history. Modern and flexible — used by Adobe, eBay, and thousands of enterprises worldwide.</a:t>
            </a:r>
            <a:endParaRPr lang="en-US" sz="950" dirty="0"/>
          </a:p>
        </p:txBody>
      </p:sp>
      <p:sp>
        <p:nvSpPr>
          <p:cNvPr id="34" name="Shape 32"/>
          <p:cNvSpPr/>
          <p:nvPr/>
        </p:nvSpPr>
        <p:spPr>
          <a:xfrm>
            <a:off x="365760" y="3721608"/>
            <a:ext cx="3630168" cy="2103120"/>
          </a:xfrm>
          <a:prstGeom prst="roundRect">
            <a:avLst>
              <a:gd name="adj" fmla="val 5217"/>
            </a:avLst>
          </a:prstGeom>
          <a:solidFill>
            <a:srgbClr val="162233"/>
          </a:solidFill>
          <a:ln w="15240">
            <a:solidFill>
              <a:srgbClr val="253A52"/>
            </a:solidFill>
            <a:prstDash val="solid"/>
          </a:ln>
        </p:spPr>
      </p:sp>
      <p:sp>
        <p:nvSpPr>
          <p:cNvPr id="35" name="Shape 33"/>
          <p:cNvSpPr/>
          <p:nvPr/>
        </p:nvSpPr>
        <p:spPr>
          <a:xfrm>
            <a:off x="365760" y="3721608"/>
            <a:ext cx="3630168" cy="73152"/>
          </a:xfrm>
          <a:prstGeom prst="rect">
            <a:avLst/>
          </a:prstGeom>
          <a:solidFill>
            <a:srgbClr val="FF6B35"/>
          </a:solidFill>
          <a:ln w="12700">
            <a:solidFill>
              <a:srgbClr val="333333"/>
            </a:solidFill>
            <a:prstDash val="solid"/>
          </a:ln>
        </p:spPr>
      </p:sp>
      <p:sp>
        <p:nvSpPr>
          <p:cNvPr id="36" name="Shape 34"/>
          <p:cNvSpPr/>
          <p:nvPr/>
        </p:nvSpPr>
        <p:spPr>
          <a:xfrm>
            <a:off x="566928" y="3904488"/>
            <a:ext cx="548640" cy="548640"/>
          </a:xfrm>
          <a:prstGeom prst="ellipse">
            <a:avLst/>
          </a:prstGeom>
          <a:solidFill>
            <a:srgbClr val="FF6B35"/>
          </a:solidFill>
          <a:ln w="12700">
            <a:solidFill>
              <a:srgbClr val="333333"/>
            </a:solidFill>
            <a:prstDash val="solid"/>
          </a:ln>
        </p:spPr>
      </p:sp>
      <p:sp>
        <p:nvSpPr>
          <p:cNvPr id="37" name="Text 35"/>
          <p:cNvSpPr/>
          <p:nvPr/>
        </p:nvSpPr>
        <p:spPr>
          <a:xfrm>
            <a:off x="566928" y="3904488"/>
            <a:ext cx="548640" cy="54864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38" name="Text 36"/>
          <p:cNvSpPr/>
          <p:nvPr/>
        </p:nvSpPr>
        <p:spPr>
          <a:xfrm>
            <a:off x="1261872" y="3858768"/>
            <a:ext cx="2606040" cy="34747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AI Brain — The Intelligence</a:t>
            </a:r>
            <a:endParaRPr lang="en-US" sz="1050" dirty="0"/>
          </a:p>
        </p:txBody>
      </p:sp>
      <p:sp>
        <p:nvSpPr>
          <p:cNvPr id="39" name="Shape 37"/>
          <p:cNvSpPr/>
          <p:nvPr/>
        </p:nvSpPr>
        <p:spPr>
          <a:xfrm>
            <a:off x="1261872" y="4224528"/>
            <a:ext cx="2606040" cy="228600"/>
          </a:xfrm>
          <a:prstGeom prst="roundRect">
            <a:avLst>
              <a:gd name="adj" fmla="val 20000"/>
            </a:avLst>
          </a:prstGeom>
          <a:solidFill>
            <a:srgbClr val="FF6B35">
              <a:alpha val="80000"/>
            </a:srgbClr>
          </a:solidFill>
          <a:ln w="10160">
            <a:solidFill>
              <a:srgbClr val="FF6B35"/>
            </a:solidFill>
            <a:prstDash val="solid"/>
          </a:ln>
        </p:spPr>
      </p:sp>
      <p:sp>
        <p:nvSpPr>
          <p:cNvPr id="40" name="Text 38"/>
          <p:cNvSpPr/>
          <p:nvPr/>
        </p:nvSpPr>
        <p:spPr>
          <a:xfrm>
            <a:off x="1261872" y="4224528"/>
            <a:ext cx="2606040" cy="22860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LangChain + OpenRouter</a:t>
            </a:r>
            <a:endParaRPr lang="en-US" sz="850" dirty="0"/>
          </a:p>
        </p:txBody>
      </p:sp>
      <p:sp>
        <p:nvSpPr>
          <p:cNvPr id="41" name="Text 39"/>
          <p:cNvSpPr/>
          <p:nvPr/>
        </p:nvSpPr>
        <p:spPr>
          <a:xfrm>
            <a:off x="530352" y="4562856"/>
            <a:ext cx="3291840" cy="1188720"/>
          </a:xfrm>
          <a:prstGeom prst="rect">
            <a:avLst/>
          </a:prstGeom>
          <a:noFill/>
          <a:ln/>
        </p:spPr>
        <p:txBody>
          <a:bodyPr wrap="square" rtlCol="0" anchor="t"/>
          <a:lstStyle/>
          <a:p>
            <a:pPr algn="l" indent="0" marL="0">
              <a:buNone/>
            </a:pPr>
            <a:r>
              <a:rPr lang="en-US" sz="950" dirty="0">
                <a:solidFill>
                  <a:srgbClr val="CFD8DC"/>
                </a:solidFill>
                <a:latin typeface="Calibri" pitchFamily="34" charset="0"/>
                <a:ea typeface="Calibri" pitchFamily="34" charset="-122"/>
                <a:cs typeface="Calibri" pitchFamily="34" charset="-120"/>
              </a:rPr>
              <a:t>LangChain orchestrates how documents are processed and answers generated. OpenRouter connects to GPT-4o, Claude, and Gemini through a single gateway.</a:t>
            </a:r>
            <a:endParaRPr lang="en-US" sz="950" dirty="0"/>
          </a:p>
        </p:txBody>
      </p:sp>
      <p:sp>
        <p:nvSpPr>
          <p:cNvPr id="42" name="Shape 40"/>
          <p:cNvSpPr/>
          <p:nvPr/>
        </p:nvSpPr>
        <p:spPr>
          <a:xfrm>
            <a:off x="4224528" y="3721608"/>
            <a:ext cx="3630168" cy="2103120"/>
          </a:xfrm>
          <a:prstGeom prst="roundRect">
            <a:avLst>
              <a:gd name="adj" fmla="val 5217"/>
            </a:avLst>
          </a:prstGeom>
          <a:solidFill>
            <a:srgbClr val="162233"/>
          </a:solidFill>
          <a:ln w="15240">
            <a:solidFill>
              <a:srgbClr val="253A52"/>
            </a:solidFill>
            <a:prstDash val="solid"/>
          </a:ln>
        </p:spPr>
      </p:sp>
      <p:sp>
        <p:nvSpPr>
          <p:cNvPr id="43" name="Shape 41"/>
          <p:cNvSpPr/>
          <p:nvPr/>
        </p:nvSpPr>
        <p:spPr>
          <a:xfrm>
            <a:off x="4224528" y="3721608"/>
            <a:ext cx="3630168" cy="73152"/>
          </a:xfrm>
          <a:prstGeom prst="rect">
            <a:avLst/>
          </a:prstGeom>
          <a:solidFill>
            <a:srgbClr val="E91E8C"/>
          </a:solidFill>
          <a:ln w="12700">
            <a:solidFill>
              <a:srgbClr val="333333"/>
            </a:solidFill>
            <a:prstDash val="solid"/>
          </a:ln>
        </p:spPr>
      </p:sp>
      <p:sp>
        <p:nvSpPr>
          <p:cNvPr id="44" name="Shape 42"/>
          <p:cNvSpPr/>
          <p:nvPr/>
        </p:nvSpPr>
        <p:spPr>
          <a:xfrm>
            <a:off x="4425696" y="3904488"/>
            <a:ext cx="548640" cy="548640"/>
          </a:xfrm>
          <a:prstGeom prst="ellipse">
            <a:avLst/>
          </a:prstGeom>
          <a:solidFill>
            <a:srgbClr val="E91E8C"/>
          </a:solidFill>
          <a:ln w="12700">
            <a:solidFill>
              <a:srgbClr val="333333"/>
            </a:solidFill>
            <a:prstDash val="solid"/>
          </a:ln>
        </p:spPr>
      </p:sp>
      <p:sp>
        <p:nvSpPr>
          <p:cNvPr id="45" name="Text 43"/>
          <p:cNvSpPr/>
          <p:nvPr/>
        </p:nvSpPr>
        <p:spPr>
          <a:xfrm>
            <a:off x="4425696" y="3904488"/>
            <a:ext cx="548640" cy="54864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46" name="Text 44"/>
          <p:cNvSpPr/>
          <p:nvPr/>
        </p:nvSpPr>
        <p:spPr>
          <a:xfrm>
            <a:off x="5120640" y="3858768"/>
            <a:ext cx="2606040" cy="34747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Semantic Search — The Understanding</a:t>
            </a:r>
            <a:endParaRPr lang="en-US" sz="1050" dirty="0"/>
          </a:p>
        </p:txBody>
      </p:sp>
      <p:sp>
        <p:nvSpPr>
          <p:cNvPr id="47" name="Shape 45"/>
          <p:cNvSpPr/>
          <p:nvPr/>
        </p:nvSpPr>
        <p:spPr>
          <a:xfrm>
            <a:off x="5120640" y="4224528"/>
            <a:ext cx="2606040" cy="228600"/>
          </a:xfrm>
          <a:prstGeom prst="roundRect">
            <a:avLst>
              <a:gd name="adj" fmla="val 20000"/>
            </a:avLst>
          </a:prstGeom>
          <a:solidFill>
            <a:srgbClr val="E91E8C">
              <a:alpha val="80000"/>
            </a:srgbClr>
          </a:solidFill>
          <a:ln w="10160">
            <a:solidFill>
              <a:srgbClr val="E91E8C"/>
            </a:solidFill>
            <a:prstDash val="solid"/>
          </a:ln>
        </p:spPr>
      </p:sp>
      <p:sp>
        <p:nvSpPr>
          <p:cNvPr id="48" name="Text 46"/>
          <p:cNvSpPr/>
          <p:nvPr/>
        </p:nvSpPr>
        <p:spPr>
          <a:xfrm>
            <a:off x="5120640" y="4224528"/>
            <a:ext cx="2606040" cy="22860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Vector Embeddings</a:t>
            </a:r>
            <a:endParaRPr lang="en-US" sz="850" dirty="0"/>
          </a:p>
        </p:txBody>
      </p:sp>
      <p:sp>
        <p:nvSpPr>
          <p:cNvPr id="49" name="Text 47"/>
          <p:cNvSpPr/>
          <p:nvPr/>
        </p:nvSpPr>
        <p:spPr>
          <a:xfrm>
            <a:off x="4389120" y="4562856"/>
            <a:ext cx="3291840" cy="1188720"/>
          </a:xfrm>
          <a:prstGeom prst="rect">
            <a:avLst/>
          </a:prstGeom>
          <a:noFill/>
          <a:ln/>
        </p:spPr>
        <p:txBody>
          <a:bodyPr wrap="square" rtlCol="0" anchor="t"/>
          <a:lstStyle/>
          <a:p>
            <a:pPr algn="l" indent="0" marL="0">
              <a:buNone/>
            </a:pPr>
            <a:r>
              <a:rPr lang="en-US" sz="950" dirty="0">
                <a:solidFill>
                  <a:srgbClr val="CFD8DC"/>
                </a:solidFill>
                <a:latin typeface="Calibri" pitchFamily="34" charset="0"/>
                <a:ea typeface="Calibri" pitchFamily="34" charset="-122"/>
                <a:cs typeface="Calibri" pitchFamily="34" charset="-120"/>
              </a:rPr>
              <a:t>Documents are converted into mathematical fingerprints. When you ask a question, the system finds the closest matching fingerprints — understanding meaning, not just keywords.</a:t>
            </a:r>
            <a:endParaRPr lang="en-US" sz="950" dirty="0"/>
          </a:p>
        </p:txBody>
      </p:sp>
      <p:sp>
        <p:nvSpPr>
          <p:cNvPr id="50" name="Shape 48"/>
          <p:cNvSpPr/>
          <p:nvPr/>
        </p:nvSpPr>
        <p:spPr>
          <a:xfrm>
            <a:off x="8083296" y="3721608"/>
            <a:ext cx="3630168" cy="2103120"/>
          </a:xfrm>
          <a:prstGeom prst="roundRect">
            <a:avLst>
              <a:gd name="adj" fmla="val 5217"/>
            </a:avLst>
          </a:prstGeom>
          <a:solidFill>
            <a:srgbClr val="162233"/>
          </a:solidFill>
          <a:ln w="15240">
            <a:solidFill>
              <a:srgbClr val="253A52"/>
            </a:solidFill>
            <a:prstDash val="solid"/>
          </a:ln>
        </p:spPr>
      </p:sp>
      <p:sp>
        <p:nvSpPr>
          <p:cNvPr id="51" name="Shape 49"/>
          <p:cNvSpPr/>
          <p:nvPr/>
        </p:nvSpPr>
        <p:spPr>
          <a:xfrm>
            <a:off x="8083296" y="3721608"/>
            <a:ext cx="3630168" cy="73152"/>
          </a:xfrm>
          <a:prstGeom prst="rect">
            <a:avLst/>
          </a:prstGeom>
          <a:solidFill>
            <a:srgbClr val="00BCD4"/>
          </a:solidFill>
          <a:ln w="12700">
            <a:solidFill>
              <a:srgbClr val="333333"/>
            </a:solidFill>
            <a:prstDash val="solid"/>
          </a:ln>
        </p:spPr>
      </p:sp>
      <p:sp>
        <p:nvSpPr>
          <p:cNvPr id="52" name="Shape 50"/>
          <p:cNvSpPr/>
          <p:nvPr/>
        </p:nvSpPr>
        <p:spPr>
          <a:xfrm>
            <a:off x="8284464" y="3904488"/>
            <a:ext cx="548640" cy="548640"/>
          </a:xfrm>
          <a:prstGeom prst="ellipse">
            <a:avLst/>
          </a:prstGeom>
          <a:solidFill>
            <a:srgbClr val="00BCD4"/>
          </a:solidFill>
          <a:ln w="12700">
            <a:solidFill>
              <a:srgbClr val="333333"/>
            </a:solidFill>
            <a:prstDash val="solid"/>
          </a:ln>
        </p:spPr>
      </p:sp>
      <p:sp>
        <p:nvSpPr>
          <p:cNvPr id="53" name="Text 51"/>
          <p:cNvSpPr/>
          <p:nvPr/>
        </p:nvSpPr>
        <p:spPr>
          <a:xfrm>
            <a:off x="8284464" y="3904488"/>
            <a:ext cx="548640" cy="548640"/>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54" name="Text 52"/>
          <p:cNvSpPr/>
          <p:nvPr/>
        </p:nvSpPr>
        <p:spPr>
          <a:xfrm>
            <a:off x="8979408" y="3858768"/>
            <a:ext cx="2606040" cy="347472"/>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File Storage — The Vault</a:t>
            </a:r>
            <a:endParaRPr lang="en-US" sz="1050" dirty="0"/>
          </a:p>
        </p:txBody>
      </p:sp>
      <p:sp>
        <p:nvSpPr>
          <p:cNvPr id="55" name="Shape 53"/>
          <p:cNvSpPr/>
          <p:nvPr/>
        </p:nvSpPr>
        <p:spPr>
          <a:xfrm>
            <a:off x="8979408" y="4224528"/>
            <a:ext cx="2606040" cy="228600"/>
          </a:xfrm>
          <a:prstGeom prst="roundRect">
            <a:avLst>
              <a:gd name="adj" fmla="val 20000"/>
            </a:avLst>
          </a:prstGeom>
          <a:solidFill>
            <a:srgbClr val="00BCD4">
              <a:alpha val="80000"/>
            </a:srgbClr>
          </a:solidFill>
          <a:ln w="10160">
            <a:solidFill>
              <a:srgbClr val="00BCD4"/>
            </a:solidFill>
            <a:prstDash val="solid"/>
          </a:ln>
        </p:spPr>
      </p:sp>
      <p:sp>
        <p:nvSpPr>
          <p:cNvPr id="56" name="Text 54"/>
          <p:cNvSpPr/>
          <p:nvPr/>
        </p:nvSpPr>
        <p:spPr>
          <a:xfrm>
            <a:off x="8979408" y="4224528"/>
            <a:ext cx="2606040" cy="228600"/>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Cloudinary</a:t>
            </a:r>
            <a:endParaRPr lang="en-US" sz="850" dirty="0"/>
          </a:p>
        </p:txBody>
      </p:sp>
      <p:sp>
        <p:nvSpPr>
          <p:cNvPr id="57" name="Text 55"/>
          <p:cNvSpPr/>
          <p:nvPr/>
        </p:nvSpPr>
        <p:spPr>
          <a:xfrm>
            <a:off x="8247888" y="4562856"/>
            <a:ext cx="3291840" cy="1188720"/>
          </a:xfrm>
          <a:prstGeom prst="rect">
            <a:avLst/>
          </a:prstGeom>
          <a:noFill/>
          <a:ln/>
        </p:spPr>
        <p:txBody>
          <a:bodyPr wrap="square" rtlCol="0" anchor="t"/>
          <a:lstStyle/>
          <a:p>
            <a:pPr algn="l" indent="0" marL="0">
              <a:buNone/>
            </a:pPr>
            <a:r>
              <a:rPr lang="en-US" sz="950" dirty="0">
                <a:solidFill>
                  <a:srgbClr val="CFD8DC"/>
                </a:solidFill>
                <a:latin typeface="Calibri" pitchFamily="34" charset="0"/>
                <a:ea typeface="Calibri" pitchFamily="34" charset="-122"/>
                <a:cs typeface="Calibri" pitchFamily="34" charset="-120"/>
              </a:rPr>
              <a:t>All uploaded files are stored in Cloudinary — an enterprise cloud storage service trusted by thousands of businesses for secure and reliable file management.</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SETUP</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Setup &amp; Deployment Requirements</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16 / 20</a:t>
            </a:r>
            <a:endParaRPr lang="en-US" sz="750" dirty="0"/>
          </a:p>
        </p:txBody>
      </p:sp>
      <p:sp>
        <p:nvSpPr>
          <p:cNvPr id="10" name="Shape 8"/>
          <p:cNvSpPr/>
          <p:nvPr/>
        </p:nvSpPr>
        <p:spPr>
          <a:xfrm>
            <a:off x="365760" y="1389888"/>
            <a:ext cx="5394960" cy="2011680"/>
          </a:xfrm>
          <a:prstGeom prst="roundRect">
            <a:avLst>
              <a:gd name="adj" fmla="val 5455"/>
            </a:avLst>
          </a:prstGeom>
          <a:solidFill>
            <a:srgbClr val="162233"/>
          </a:solidFill>
          <a:ln w="15240">
            <a:solidFill>
              <a:srgbClr val="253A52"/>
            </a:solidFill>
            <a:prstDash val="solid"/>
          </a:ln>
        </p:spPr>
      </p:sp>
      <p:sp>
        <p:nvSpPr>
          <p:cNvPr id="11" name="Shape 9"/>
          <p:cNvSpPr/>
          <p:nvPr/>
        </p:nvSpPr>
        <p:spPr>
          <a:xfrm>
            <a:off x="365760" y="1389888"/>
            <a:ext cx="91440" cy="2011680"/>
          </a:xfrm>
          <a:prstGeom prst="rect">
            <a:avLst/>
          </a:prstGeom>
          <a:solidFill>
            <a:srgbClr val="4F8EF7"/>
          </a:solidFill>
          <a:ln w="12700">
            <a:solidFill>
              <a:srgbClr val="333333"/>
            </a:solidFill>
            <a:prstDash val="solid"/>
          </a:ln>
        </p:spPr>
      </p:sp>
      <p:sp>
        <p:nvSpPr>
          <p:cNvPr id="12" name="Text 10"/>
          <p:cNvSpPr/>
          <p:nvPr/>
        </p:nvSpPr>
        <p:spPr>
          <a:xfrm>
            <a:off x="566928" y="1481328"/>
            <a:ext cx="502920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Software Prerequisites</a:t>
            </a:r>
            <a:endParaRPr lang="en-US" sz="1300" dirty="0"/>
          </a:p>
        </p:txBody>
      </p:sp>
      <p:sp>
        <p:nvSpPr>
          <p:cNvPr id="13" name="Text 11"/>
          <p:cNvSpPr/>
          <p:nvPr/>
        </p:nvSpPr>
        <p:spPr>
          <a:xfrm>
            <a:off x="566928" y="1883664"/>
            <a:ext cx="5074920" cy="1371600"/>
          </a:xfrm>
          <a:prstGeom prst="rect">
            <a:avLst/>
          </a:prstGeom>
          <a:noFill/>
          <a:ln/>
        </p:spPr>
        <p:txBody>
          <a:bodyPr wrap="square" rtlCol="0" anchor="ctr"/>
          <a:lstStyle/>
          <a:p>
            <a:pPr marL="342900" indent="-342900">
              <a:lnSpc>
                <a:spcPct val="115000"/>
              </a:lnSpc>
              <a:spcBef>
                <a:spcPts val="400"/>
              </a:spcBef>
              <a:spcAft>
                <a:spcPts val="200"/>
              </a:spcAft>
              <a:buSzPct val="100000"/>
              <a:buChar char="●"/>
            </a:pPr>
            <a:r>
              <a:rPr lang="en-US" sz="1200" dirty="0">
                <a:solidFill>
                  <a:srgbClr val="CFD8DC"/>
                </a:solidFill>
                <a:latin typeface="Calibri" pitchFamily="34" charset="0"/>
                <a:ea typeface="Calibri" pitchFamily="34" charset="-122"/>
                <a:cs typeface="Calibri" pitchFamily="34" charset="-120"/>
              </a:rPr>
              <a:t>Node.js version 16 or higher</a:t>
            </a:r>
            <a:endParaRPr lang="en-US" sz="1200" dirty="0"/>
          </a:p>
          <a:p>
            <a:pPr marL="342900" indent="-342900">
              <a:lnSpc>
                <a:spcPct val="115000"/>
              </a:lnSpc>
              <a:spcBef>
                <a:spcPts val="400"/>
              </a:spcBef>
              <a:spcAft>
                <a:spcPts val="200"/>
              </a:spcAft>
              <a:buSzPct val="100000"/>
              <a:buChar char="●"/>
            </a:pPr>
            <a:r>
              <a:rPr lang="en-US" sz="1200" dirty="0">
                <a:solidFill>
                  <a:srgbClr val="CFD8DC"/>
                </a:solidFill>
                <a:latin typeface="Calibri" pitchFamily="34" charset="0"/>
                <a:ea typeface="Calibri" pitchFamily="34" charset="-122"/>
                <a:cs typeface="Calibri" pitchFamily="34" charset="-120"/>
              </a:rPr>
              <a:t>MongoDB (local install or MongoDB Atlas cloud)</a:t>
            </a:r>
            <a:endParaRPr lang="en-US" sz="1200" dirty="0"/>
          </a:p>
          <a:p>
            <a:pPr marL="342900" indent="-342900">
              <a:lnSpc>
                <a:spcPct val="115000"/>
              </a:lnSpc>
              <a:spcBef>
                <a:spcPts val="400"/>
              </a:spcBef>
              <a:spcAft>
                <a:spcPts val="200"/>
              </a:spcAft>
              <a:buSzPct val="100000"/>
              <a:buChar char="●"/>
            </a:pPr>
            <a:r>
              <a:rPr lang="en-US" sz="1200" dirty="0">
                <a:solidFill>
                  <a:srgbClr val="CFD8DC"/>
                </a:solidFill>
                <a:latin typeface="Calibri" pitchFamily="34" charset="0"/>
                <a:ea typeface="Calibri" pitchFamily="34" charset="-122"/>
                <a:cs typeface="Calibri" pitchFamily="34" charset="-120"/>
              </a:rPr>
              <a:t>Any modern web browser (Chrome, Firefox, Edge, Safari)</a:t>
            </a:r>
            <a:endParaRPr lang="en-US" sz="1200" dirty="0"/>
          </a:p>
        </p:txBody>
      </p:sp>
      <p:sp>
        <p:nvSpPr>
          <p:cNvPr id="14" name="Shape 12"/>
          <p:cNvSpPr/>
          <p:nvPr/>
        </p:nvSpPr>
        <p:spPr>
          <a:xfrm>
            <a:off x="6080760" y="1389888"/>
            <a:ext cx="5760720" cy="2011680"/>
          </a:xfrm>
          <a:prstGeom prst="roundRect">
            <a:avLst>
              <a:gd name="adj" fmla="val 5455"/>
            </a:avLst>
          </a:prstGeom>
          <a:solidFill>
            <a:srgbClr val="162233"/>
          </a:solidFill>
          <a:ln w="15240">
            <a:solidFill>
              <a:srgbClr val="253A52"/>
            </a:solidFill>
            <a:prstDash val="solid"/>
          </a:ln>
        </p:spPr>
      </p:sp>
      <p:sp>
        <p:nvSpPr>
          <p:cNvPr id="15" name="Shape 13"/>
          <p:cNvSpPr/>
          <p:nvPr/>
        </p:nvSpPr>
        <p:spPr>
          <a:xfrm>
            <a:off x="6080760" y="1389888"/>
            <a:ext cx="91440" cy="2011680"/>
          </a:xfrm>
          <a:prstGeom prst="rect">
            <a:avLst/>
          </a:prstGeom>
          <a:solidFill>
            <a:srgbClr val="00C9A7"/>
          </a:solidFill>
          <a:ln w="12700">
            <a:solidFill>
              <a:srgbClr val="333333"/>
            </a:solidFill>
            <a:prstDash val="solid"/>
          </a:ln>
        </p:spPr>
      </p:sp>
      <p:sp>
        <p:nvSpPr>
          <p:cNvPr id="16" name="Text 14"/>
          <p:cNvSpPr/>
          <p:nvPr/>
        </p:nvSpPr>
        <p:spPr>
          <a:xfrm>
            <a:off x="6281928" y="1481328"/>
            <a:ext cx="539496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External Services Required</a:t>
            </a:r>
            <a:endParaRPr lang="en-US" sz="1300" dirty="0"/>
          </a:p>
        </p:txBody>
      </p:sp>
      <p:sp>
        <p:nvSpPr>
          <p:cNvPr id="17" name="Shape 15"/>
          <p:cNvSpPr/>
          <p:nvPr/>
        </p:nvSpPr>
        <p:spPr>
          <a:xfrm>
            <a:off x="6236208" y="1901952"/>
            <a:ext cx="1371600" cy="320040"/>
          </a:xfrm>
          <a:prstGeom prst="roundRect">
            <a:avLst>
              <a:gd name="adj" fmla="val 17143"/>
            </a:avLst>
          </a:prstGeom>
          <a:solidFill>
            <a:srgbClr val="4F8EF7">
              <a:alpha val="85000"/>
            </a:srgbClr>
          </a:solidFill>
          <a:ln w="12700">
            <a:solidFill>
              <a:srgbClr val="4F8EF7"/>
            </a:solidFill>
            <a:prstDash val="solid"/>
          </a:ln>
        </p:spPr>
      </p:sp>
      <p:sp>
        <p:nvSpPr>
          <p:cNvPr id="18" name="Text 16"/>
          <p:cNvSpPr/>
          <p:nvPr/>
        </p:nvSpPr>
        <p:spPr>
          <a:xfrm>
            <a:off x="6236208" y="1901952"/>
            <a:ext cx="137160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OpenRouter</a:t>
            </a:r>
            <a:endParaRPr lang="en-US" sz="900" dirty="0"/>
          </a:p>
        </p:txBody>
      </p:sp>
      <p:sp>
        <p:nvSpPr>
          <p:cNvPr id="19" name="Text 17"/>
          <p:cNvSpPr/>
          <p:nvPr/>
        </p:nvSpPr>
        <p:spPr>
          <a:xfrm>
            <a:off x="7772400" y="1901952"/>
            <a:ext cx="3977640" cy="320040"/>
          </a:xfrm>
          <a:prstGeom prst="rect">
            <a:avLst/>
          </a:prstGeom>
          <a:noFill/>
          <a:ln/>
        </p:spPr>
        <p:txBody>
          <a:bodyPr wrap="square" rtlCol="0" anchor="ctr"/>
          <a:lstStyle/>
          <a:p>
            <a:pPr algn="l" indent="0" marL="0">
              <a:buNone/>
            </a:pPr>
            <a:r>
              <a:rPr lang="en-US" sz="1050" dirty="0">
                <a:solidFill>
                  <a:srgbClr val="CFD8DC"/>
                </a:solidFill>
                <a:latin typeface="Calibri" pitchFamily="34" charset="0"/>
                <a:ea typeface="Calibri" pitchFamily="34" charset="-122"/>
                <a:cs typeface="Calibri" pitchFamily="34" charset="-120"/>
              </a:rPr>
              <a:t>Access to all AI models (GPT-4, Claude, Gemini)</a:t>
            </a:r>
            <a:endParaRPr lang="en-US" sz="1050" dirty="0"/>
          </a:p>
        </p:txBody>
      </p:sp>
      <p:sp>
        <p:nvSpPr>
          <p:cNvPr id="20" name="Shape 18"/>
          <p:cNvSpPr/>
          <p:nvPr/>
        </p:nvSpPr>
        <p:spPr>
          <a:xfrm>
            <a:off x="6236208" y="2377440"/>
            <a:ext cx="1371600" cy="320040"/>
          </a:xfrm>
          <a:prstGeom prst="roundRect">
            <a:avLst>
              <a:gd name="adj" fmla="val 17143"/>
            </a:avLst>
          </a:prstGeom>
          <a:solidFill>
            <a:srgbClr val="00C9A7">
              <a:alpha val="85000"/>
            </a:srgbClr>
          </a:solidFill>
          <a:ln w="12700">
            <a:solidFill>
              <a:srgbClr val="00C9A7"/>
            </a:solidFill>
            <a:prstDash val="solid"/>
          </a:ln>
        </p:spPr>
      </p:sp>
      <p:sp>
        <p:nvSpPr>
          <p:cNvPr id="21" name="Text 19"/>
          <p:cNvSpPr/>
          <p:nvPr/>
        </p:nvSpPr>
        <p:spPr>
          <a:xfrm>
            <a:off x="6236208" y="2377440"/>
            <a:ext cx="137160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Cloudinary</a:t>
            </a:r>
            <a:endParaRPr lang="en-US" sz="900" dirty="0"/>
          </a:p>
        </p:txBody>
      </p:sp>
      <p:sp>
        <p:nvSpPr>
          <p:cNvPr id="22" name="Text 20"/>
          <p:cNvSpPr/>
          <p:nvPr/>
        </p:nvSpPr>
        <p:spPr>
          <a:xfrm>
            <a:off x="7772400" y="2377440"/>
            <a:ext cx="3977640" cy="320040"/>
          </a:xfrm>
          <a:prstGeom prst="rect">
            <a:avLst/>
          </a:prstGeom>
          <a:noFill/>
          <a:ln/>
        </p:spPr>
        <p:txBody>
          <a:bodyPr wrap="square" rtlCol="0" anchor="ctr"/>
          <a:lstStyle/>
          <a:p>
            <a:pPr algn="l" indent="0" marL="0">
              <a:buNone/>
            </a:pPr>
            <a:r>
              <a:rPr lang="en-US" sz="1050" dirty="0">
                <a:solidFill>
                  <a:srgbClr val="CFD8DC"/>
                </a:solidFill>
                <a:latin typeface="Calibri" pitchFamily="34" charset="0"/>
                <a:ea typeface="Calibri" pitchFamily="34" charset="-122"/>
                <a:cs typeface="Calibri" pitchFamily="34" charset="-120"/>
              </a:rPr>
              <a:t>Secure file storage for uploaded documents</a:t>
            </a:r>
            <a:endParaRPr lang="en-US" sz="1050" dirty="0"/>
          </a:p>
        </p:txBody>
      </p:sp>
      <p:sp>
        <p:nvSpPr>
          <p:cNvPr id="23" name="Shape 21"/>
          <p:cNvSpPr/>
          <p:nvPr/>
        </p:nvSpPr>
        <p:spPr>
          <a:xfrm>
            <a:off x="6236208" y="2852928"/>
            <a:ext cx="1371600" cy="320040"/>
          </a:xfrm>
          <a:prstGeom prst="roundRect">
            <a:avLst>
              <a:gd name="adj" fmla="val 17143"/>
            </a:avLst>
          </a:prstGeom>
          <a:solidFill>
            <a:srgbClr val="00ED64">
              <a:alpha val="85000"/>
            </a:srgbClr>
          </a:solidFill>
          <a:ln w="12700">
            <a:solidFill>
              <a:srgbClr val="00ED64"/>
            </a:solidFill>
            <a:prstDash val="solid"/>
          </a:ln>
        </p:spPr>
      </p:sp>
      <p:sp>
        <p:nvSpPr>
          <p:cNvPr id="24" name="Text 22"/>
          <p:cNvSpPr/>
          <p:nvPr/>
        </p:nvSpPr>
        <p:spPr>
          <a:xfrm>
            <a:off x="6236208" y="2852928"/>
            <a:ext cx="1371600" cy="3200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MongoDB</a:t>
            </a:r>
            <a:endParaRPr lang="en-US" sz="900" dirty="0"/>
          </a:p>
        </p:txBody>
      </p:sp>
      <p:sp>
        <p:nvSpPr>
          <p:cNvPr id="25" name="Text 23"/>
          <p:cNvSpPr/>
          <p:nvPr/>
        </p:nvSpPr>
        <p:spPr>
          <a:xfrm>
            <a:off x="7772400" y="2852928"/>
            <a:ext cx="3977640" cy="320040"/>
          </a:xfrm>
          <a:prstGeom prst="rect">
            <a:avLst/>
          </a:prstGeom>
          <a:noFill/>
          <a:ln/>
        </p:spPr>
        <p:txBody>
          <a:bodyPr wrap="square" rtlCol="0" anchor="ctr"/>
          <a:lstStyle/>
          <a:p>
            <a:pPr algn="l" indent="0" marL="0">
              <a:buNone/>
            </a:pPr>
            <a:r>
              <a:rPr lang="en-US" sz="1050" dirty="0">
                <a:solidFill>
                  <a:srgbClr val="CFD8DC"/>
                </a:solidFill>
                <a:latin typeface="Calibri" pitchFamily="34" charset="0"/>
                <a:ea typeface="Calibri" pitchFamily="34" charset="-122"/>
                <a:cs typeface="Calibri" pitchFamily="34" charset="-120"/>
              </a:rPr>
              <a:t>Database for users and chat history</a:t>
            </a:r>
            <a:endParaRPr lang="en-US" sz="1050" dirty="0"/>
          </a:p>
        </p:txBody>
      </p:sp>
      <p:sp>
        <p:nvSpPr>
          <p:cNvPr id="26" name="Text 24"/>
          <p:cNvSpPr/>
          <p:nvPr/>
        </p:nvSpPr>
        <p:spPr>
          <a:xfrm>
            <a:off x="365760" y="3584448"/>
            <a:ext cx="114300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Startup Process</a:t>
            </a:r>
            <a:endParaRPr lang="en-US" sz="1400" dirty="0"/>
          </a:p>
        </p:txBody>
      </p:sp>
      <p:sp>
        <p:nvSpPr>
          <p:cNvPr id="27" name="Shape 25"/>
          <p:cNvSpPr/>
          <p:nvPr/>
        </p:nvSpPr>
        <p:spPr>
          <a:xfrm>
            <a:off x="420624" y="3959352"/>
            <a:ext cx="402336" cy="402336"/>
          </a:xfrm>
          <a:prstGeom prst="ellipse">
            <a:avLst/>
          </a:prstGeom>
          <a:solidFill>
            <a:srgbClr val="4F8EF7"/>
          </a:solidFill>
          <a:ln w="12700">
            <a:solidFill>
              <a:srgbClr val="333333"/>
            </a:solidFill>
            <a:prstDash val="solid"/>
          </a:ln>
        </p:spPr>
      </p:sp>
      <p:sp>
        <p:nvSpPr>
          <p:cNvPr id="28" name="Text 26"/>
          <p:cNvSpPr/>
          <p:nvPr/>
        </p:nvSpPr>
        <p:spPr>
          <a:xfrm>
            <a:off x="420624" y="3959352"/>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9" name="Text 27"/>
          <p:cNvSpPr/>
          <p:nvPr/>
        </p:nvSpPr>
        <p:spPr>
          <a:xfrm>
            <a:off x="960120" y="4041648"/>
            <a:ext cx="10972800" cy="384048"/>
          </a:xfrm>
          <a:prstGeom prst="rect">
            <a:avLst/>
          </a:prstGeom>
          <a:noFill/>
          <a:ln/>
        </p:spPr>
        <p:txBody>
          <a:bodyPr wrap="square" rtlCol="0" anchor="t"/>
          <a:lstStyle/>
          <a:p>
            <a:pPr algn="l" indent="0" marL="0">
              <a:buNone/>
            </a:pPr>
            <a:r>
              <a:rPr lang="en-US" sz="1200" dirty="0">
                <a:solidFill>
                  <a:srgbClr val="CFD8DC"/>
                </a:solidFill>
                <a:latin typeface="Calibri" pitchFamily="34" charset="0"/>
                <a:ea typeface="Calibri" pitchFamily="34" charset="-122"/>
                <a:cs typeface="Calibri" pitchFamily="34" charset="-120"/>
              </a:rPr>
              <a:t>Configure the environment file with API keys and database connection string</a:t>
            </a:r>
            <a:endParaRPr lang="en-US" sz="1200" dirty="0"/>
          </a:p>
        </p:txBody>
      </p:sp>
      <p:sp>
        <p:nvSpPr>
          <p:cNvPr id="30" name="Shape 28"/>
          <p:cNvSpPr/>
          <p:nvPr/>
        </p:nvSpPr>
        <p:spPr>
          <a:xfrm>
            <a:off x="420624" y="4389120"/>
            <a:ext cx="402336" cy="402336"/>
          </a:xfrm>
          <a:prstGeom prst="ellipse">
            <a:avLst/>
          </a:prstGeom>
          <a:solidFill>
            <a:srgbClr val="00C9A7"/>
          </a:solidFill>
          <a:ln w="12700">
            <a:solidFill>
              <a:srgbClr val="333333"/>
            </a:solidFill>
            <a:prstDash val="solid"/>
          </a:ln>
        </p:spPr>
      </p:sp>
      <p:sp>
        <p:nvSpPr>
          <p:cNvPr id="31" name="Text 29"/>
          <p:cNvSpPr/>
          <p:nvPr/>
        </p:nvSpPr>
        <p:spPr>
          <a:xfrm>
            <a:off x="420624" y="4389120"/>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30"/>
          <p:cNvSpPr/>
          <p:nvPr/>
        </p:nvSpPr>
        <p:spPr>
          <a:xfrm>
            <a:off x="960120" y="4471416"/>
            <a:ext cx="10972800" cy="384048"/>
          </a:xfrm>
          <a:prstGeom prst="rect">
            <a:avLst/>
          </a:prstGeom>
          <a:noFill/>
          <a:ln/>
        </p:spPr>
        <p:txBody>
          <a:bodyPr wrap="square" rtlCol="0" anchor="t"/>
          <a:lstStyle/>
          <a:p>
            <a:pPr algn="l" indent="0" marL="0">
              <a:buNone/>
            </a:pPr>
            <a:r>
              <a:rPr lang="en-US" sz="1200" dirty="0">
                <a:solidFill>
                  <a:srgbClr val="CFD8DC"/>
                </a:solidFill>
                <a:latin typeface="Calibri" pitchFamily="34" charset="0"/>
                <a:ea typeface="Calibri" pitchFamily="34" charset="-122"/>
                <a:cs typeface="Calibri" pitchFamily="34" charset="-120"/>
              </a:rPr>
              <a:t>Install dependencies for both the backend server and the frontend interface</a:t>
            </a:r>
            <a:endParaRPr lang="en-US" sz="1200" dirty="0"/>
          </a:p>
        </p:txBody>
      </p:sp>
      <p:sp>
        <p:nvSpPr>
          <p:cNvPr id="33" name="Shape 31"/>
          <p:cNvSpPr/>
          <p:nvPr/>
        </p:nvSpPr>
        <p:spPr>
          <a:xfrm>
            <a:off x="420624" y="4818888"/>
            <a:ext cx="402336" cy="402336"/>
          </a:xfrm>
          <a:prstGeom prst="ellipse">
            <a:avLst/>
          </a:prstGeom>
          <a:solidFill>
            <a:srgbClr val="6C63FF"/>
          </a:solidFill>
          <a:ln w="12700">
            <a:solidFill>
              <a:srgbClr val="333333"/>
            </a:solidFill>
            <a:prstDash val="solid"/>
          </a:ln>
        </p:spPr>
      </p:sp>
      <p:sp>
        <p:nvSpPr>
          <p:cNvPr id="34" name="Text 32"/>
          <p:cNvSpPr/>
          <p:nvPr/>
        </p:nvSpPr>
        <p:spPr>
          <a:xfrm>
            <a:off x="420624" y="4818888"/>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5" name="Text 33"/>
          <p:cNvSpPr/>
          <p:nvPr/>
        </p:nvSpPr>
        <p:spPr>
          <a:xfrm>
            <a:off x="960120" y="4901184"/>
            <a:ext cx="10972800" cy="384048"/>
          </a:xfrm>
          <a:prstGeom prst="rect">
            <a:avLst/>
          </a:prstGeom>
          <a:noFill/>
          <a:ln/>
        </p:spPr>
        <p:txBody>
          <a:bodyPr wrap="square" rtlCol="0" anchor="t"/>
          <a:lstStyle/>
          <a:p>
            <a:pPr algn="l" indent="0" marL="0">
              <a:buNone/>
            </a:pPr>
            <a:r>
              <a:rPr lang="en-US" sz="1200" dirty="0">
                <a:solidFill>
                  <a:srgbClr val="CFD8DC"/>
                </a:solidFill>
                <a:latin typeface="Calibri" pitchFamily="34" charset="0"/>
                <a:ea typeface="Calibri" pitchFamily="34" charset="-122"/>
                <a:cs typeface="Calibri" pitchFamily="34" charset="-120"/>
              </a:rPr>
              <a:t>Start the backend server — it will run on port 3001</a:t>
            </a:r>
            <a:endParaRPr lang="en-US" sz="1200" dirty="0"/>
          </a:p>
        </p:txBody>
      </p:sp>
      <p:sp>
        <p:nvSpPr>
          <p:cNvPr id="36" name="Shape 34"/>
          <p:cNvSpPr/>
          <p:nvPr/>
        </p:nvSpPr>
        <p:spPr>
          <a:xfrm>
            <a:off x="420624" y="5248656"/>
            <a:ext cx="402336" cy="402336"/>
          </a:xfrm>
          <a:prstGeom prst="ellipse">
            <a:avLst/>
          </a:prstGeom>
          <a:solidFill>
            <a:srgbClr val="FF6B35"/>
          </a:solidFill>
          <a:ln w="12700">
            <a:solidFill>
              <a:srgbClr val="333333"/>
            </a:solidFill>
            <a:prstDash val="solid"/>
          </a:ln>
        </p:spPr>
      </p:sp>
      <p:sp>
        <p:nvSpPr>
          <p:cNvPr id="37" name="Text 35"/>
          <p:cNvSpPr/>
          <p:nvPr/>
        </p:nvSpPr>
        <p:spPr>
          <a:xfrm>
            <a:off x="420624" y="5248656"/>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8" name="Text 36"/>
          <p:cNvSpPr/>
          <p:nvPr/>
        </p:nvSpPr>
        <p:spPr>
          <a:xfrm>
            <a:off x="960120" y="5330952"/>
            <a:ext cx="10972800" cy="384048"/>
          </a:xfrm>
          <a:prstGeom prst="rect">
            <a:avLst/>
          </a:prstGeom>
          <a:noFill/>
          <a:ln/>
        </p:spPr>
        <p:txBody>
          <a:bodyPr wrap="square" rtlCol="0" anchor="t"/>
          <a:lstStyle/>
          <a:p>
            <a:pPr algn="l" indent="0" marL="0">
              <a:buNone/>
            </a:pPr>
            <a:r>
              <a:rPr lang="en-US" sz="1200" dirty="0">
                <a:solidFill>
                  <a:srgbClr val="CFD8DC"/>
                </a:solidFill>
                <a:latin typeface="Calibri" pitchFamily="34" charset="0"/>
                <a:ea typeface="Calibri" pitchFamily="34" charset="-122"/>
                <a:cs typeface="Calibri" pitchFamily="34" charset="-120"/>
              </a:rPr>
              <a:t>Start the frontend development server — it will run on port 5173</a:t>
            </a:r>
            <a:endParaRPr lang="en-US" sz="1200" dirty="0"/>
          </a:p>
        </p:txBody>
      </p:sp>
      <p:sp>
        <p:nvSpPr>
          <p:cNvPr id="39" name="Shape 37"/>
          <p:cNvSpPr/>
          <p:nvPr/>
        </p:nvSpPr>
        <p:spPr>
          <a:xfrm>
            <a:off x="420624" y="5678424"/>
            <a:ext cx="402336" cy="402336"/>
          </a:xfrm>
          <a:prstGeom prst="ellipse">
            <a:avLst/>
          </a:prstGeom>
          <a:solidFill>
            <a:srgbClr val="E91E8C"/>
          </a:solidFill>
          <a:ln w="12700">
            <a:solidFill>
              <a:srgbClr val="333333"/>
            </a:solidFill>
            <a:prstDash val="solid"/>
          </a:ln>
        </p:spPr>
      </p:sp>
      <p:sp>
        <p:nvSpPr>
          <p:cNvPr id="40" name="Text 38"/>
          <p:cNvSpPr/>
          <p:nvPr/>
        </p:nvSpPr>
        <p:spPr>
          <a:xfrm>
            <a:off x="420624" y="5678424"/>
            <a:ext cx="402336" cy="40233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1" name="Text 39"/>
          <p:cNvSpPr/>
          <p:nvPr/>
        </p:nvSpPr>
        <p:spPr>
          <a:xfrm>
            <a:off x="960120" y="5760720"/>
            <a:ext cx="10972800" cy="384048"/>
          </a:xfrm>
          <a:prstGeom prst="rect">
            <a:avLst/>
          </a:prstGeom>
          <a:noFill/>
          <a:ln/>
        </p:spPr>
        <p:txBody>
          <a:bodyPr wrap="square" rtlCol="0" anchor="t"/>
          <a:lstStyle/>
          <a:p>
            <a:pPr algn="l" indent="0" marL="0">
              <a:buNone/>
            </a:pPr>
            <a:r>
              <a:rPr lang="en-US" sz="1200" dirty="0">
                <a:solidFill>
                  <a:srgbClr val="CFD8DC"/>
                </a:solidFill>
                <a:latin typeface="Calibri" pitchFamily="34" charset="0"/>
                <a:ea typeface="Calibri" pitchFamily="34" charset="-122"/>
                <a:cs typeface="Calibri" pitchFamily="34" charset="-120"/>
              </a:rPr>
              <a:t>Open a browser and navigate to http://localhost:5173 to access the application</a:t>
            </a:r>
            <a:endParaRPr lang="en-US" sz="1200" dirty="0"/>
          </a:p>
        </p:txBody>
      </p:sp>
      <p:sp>
        <p:nvSpPr>
          <p:cNvPr id="42" name="Shape 40"/>
          <p:cNvSpPr/>
          <p:nvPr/>
        </p:nvSpPr>
        <p:spPr>
          <a:xfrm>
            <a:off x="365760" y="6236208"/>
            <a:ext cx="11430000" cy="365760"/>
          </a:xfrm>
          <a:prstGeom prst="roundRect">
            <a:avLst>
              <a:gd name="adj" fmla="val 30000"/>
            </a:avLst>
          </a:prstGeom>
          <a:solidFill>
            <a:srgbClr val="0F1C2E"/>
          </a:solidFill>
          <a:ln w="15240">
            <a:solidFill>
              <a:srgbClr val="253A52"/>
            </a:solidFill>
            <a:prstDash val="solid"/>
          </a:ln>
        </p:spPr>
      </p:sp>
      <p:sp>
        <p:nvSpPr>
          <p:cNvPr id="43" name="Text 41"/>
          <p:cNvSpPr/>
          <p:nvPr/>
        </p:nvSpPr>
        <p:spPr>
          <a:xfrm>
            <a:off x="548640" y="6236208"/>
            <a:ext cx="11064240" cy="365760"/>
          </a:xfrm>
          <a:prstGeom prst="rect">
            <a:avLst/>
          </a:prstGeom>
          <a:noFill/>
          <a:ln/>
        </p:spPr>
        <p:txBody>
          <a:bodyPr wrap="square" rtlCol="0" anchor="ctr"/>
          <a:lstStyle/>
          <a:p>
            <a:pPr indent="0" marL="0">
              <a:buNone/>
            </a:pPr>
            <a:r>
              <a:rPr lang="en-US" sz="1000" dirty="0">
                <a:solidFill>
                  <a:srgbClr val="FF6B35"/>
                </a:solidFill>
                <a:latin typeface="Calibri" pitchFamily="34" charset="0"/>
                <a:ea typeface="Calibri" pitchFamily="34" charset="-122"/>
                <a:cs typeface="Calibri" pitchFamily="34" charset="-120"/>
              </a:rPr>
              <a:t>⚠  For production deployment, the application should be hosted on a secure server with HTTPS enabled. Contact the development team for cloud deployment guidance.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LIMITATIONS</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Current Limitations &amp; Boundaries</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17 / 20</a:t>
            </a:r>
            <a:endParaRPr lang="en-US" sz="750" dirty="0"/>
          </a:p>
        </p:txBody>
      </p:sp>
      <p:sp>
        <p:nvSpPr>
          <p:cNvPr id="10" name="Text 8"/>
          <p:cNvSpPr/>
          <p:nvPr/>
        </p:nvSpPr>
        <p:spPr>
          <a:xfrm>
            <a:off x="365760" y="1298448"/>
            <a:ext cx="11430000" cy="292608"/>
          </a:xfrm>
          <a:prstGeom prst="rect">
            <a:avLst/>
          </a:prstGeom>
          <a:noFill/>
          <a:ln/>
        </p:spPr>
        <p:txBody>
          <a:bodyPr wrap="square" rtlCol="0" anchor="ctr"/>
          <a:lstStyle/>
          <a:p>
            <a:pPr indent="0" marL="0">
              <a:buNone/>
            </a:pPr>
            <a:r>
              <a:rPr lang="en-US" sz="1200" i="1" dirty="0">
                <a:solidFill>
                  <a:srgbClr val="B0BEC5"/>
                </a:solidFill>
                <a:latin typeface="Calibri" pitchFamily="34" charset="0"/>
                <a:ea typeface="Calibri" pitchFamily="34" charset="-122"/>
                <a:cs typeface="Calibri" pitchFamily="34" charset="-120"/>
              </a:rPr>
              <a:t>We believe in full transparency. Here are the current boundaries of the application:</a:t>
            </a:r>
            <a:endParaRPr lang="en-US" sz="1200" dirty="0"/>
          </a:p>
        </p:txBody>
      </p:sp>
      <p:sp>
        <p:nvSpPr>
          <p:cNvPr id="11" name="Shape 9"/>
          <p:cNvSpPr/>
          <p:nvPr/>
        </p:nvSpPr>
        <p:spPr>
          <a:xfrm>
            <a:off x="365760" y="1691640"/>
            <a:ext cx="5577840" cy="960120"/>
          </a:xfrm>
          <a:prstGeom prst="roundRect">
            <a:avLst>
              <a:gd name="adj" fmla="val 11429"/>
            </a:avLst>
          </a:prstGeom>
          <a:solidFill>
            <a:srgbClr val="162233"/>
          </a:solidFill>
          <a:ln w="15240">
            <a:solidFill>
              <a:srgbClr val="253A52"/>
            </a:solidFill>
            <a:prstDash val="solid"/>
          </a:ln>
        </p:spPr>
      </p:sp>
      <p:sp>
        <p:nvSpPr>
          <p:cNvPr id="12" name="Shape 10"/>
          <p:cNvSpPr/>
          <p:nvPr/>
        </p:nvSpPr>
        <p:spPr>
          <a:xfrm>
            <a:off x="365760" y="1691640"/>
            <a:ext cx="82296" cy="960120"/>
          </a:xfrm>
          <a:prstGeom prst="rect">
            <a:avLst/>
          </a:prstGeom>
          <a:solidFill>
            <a:srgbClr val="4F8EF7"/>
          </a:solidFill>
          <a:ln w="12700">
            <a:solidFill>
              <a:srgbClr val="333333"/>
            </a:solidFill>
            <a:prstDash val="solid"/>
          </a:ln>
        </p:spPr>
      </p:sp>
      <p:sp>
        <p:nvSpPr>
          <p:cNvPr id="13" name="Shape 11"/>
          <p:cNvSpPr/>
          <p:nvPr/>
        </p:nvSpPr>
        <p:spPr>
          <a:xfrm>
            <a:off x="576072" y="1924812"/>
            <a:ext cx="493776" cy="493776"/>
          </a:xfrm>
          <a:prstGeom prst="ellipse">
            <a:avLst/>
          </a:prstGeom>
          <a:solidFill>
            <a:srgbClr val="4F8EF7"/>
          </a:solidFill>
          <a:ln w="12700">
            <a:solidFill>
              <a:srgbClr val="333333"/>
            </a:solidFill>
            <a:prstDash val="solid"/>
          </a:ln>
        </p:spPr>
      </p:sp>
      <p:sp>
        <p:nvSpPr>
          <p:cNvPr id="14" name="Text 12"/>
          <p:cNvSpPr/>
          <p:nvPr/>
        </p:nvSpPr>
        <p:spPr>
          <a:xfrm>
            <a:off x="576072" y="1924812"/>
            <a:ext cx="493776" cy="493776"/>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15" name="Text 13"/>
          <p:cNvSpPr/>
          <p:nvPr/>
        </p:nvSpPr>
        <p:spPr>
          <a:xfrm>
            <a:off x="1234440" y="1755648"/>
            <a:ext cx="45720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5 Documents Per User</a:t>
            </a:r>
            <a:endParaRPr lang="en-US" sz="1150" dirty="0"/>
          </a:p>
        </p:txBody>
      </p:sp>
      <p:sp>
        <p:nvSpPr>
          <p:cNvPr id="16" name="Text 14"/>
          <p:cNvSpPr/>
          <p:nvPr/>
        </p:nvSpPr>
        <p:spPr>
          <a:xfrm>
            <a:off x="1234440" y="2057400"/>
            <a:ext cx="4572000" cy="530352"/>
          </a:xfrm>
          <a:prstGeom prst="rect">
            <a:avLst/>
          </a:prstGeom>
          <a:noFill/>
          <a:ln/>
        </p:spPr>
        <p:txBody>
          <a:bodyPr wrap="square" rtlCol="0" anchor="t"/>
          <a:lstStyle/>
          <a:p>
            <a:pPr algn="l" indent="0" marL="0">
              <a:buNone/>
            </a:pPr>
            <a:r>
              <a:rPr lang="en-US" sz="1000" dirty="0">
                <a:solidFill>
                  <a:srgbClr val="CFD8DC"/>
                </a:solidFill>
                <a:latin typeface="Calibri" pitchFamily="34" charset="0"/>
                <a:ea typeface="Calibri" pitchFamily="34" charset="-122"/>
                <a:cs typeface="Calibri" pitchFamily="34" charset="-120"/>
              </a:rPr>
              <a:t>Each account can hold up to 5 documents at a time. Old documents can be deleted to make room for new ones.</a:t>
            </a:r>
            <a:endParaRPr lang="en-US" sz="1000" dirty="0"/>
          </a:p>
        </p:txBody>
      </p:sp>
      <p:sp>
        <p:nvSpPr>
          <p:cNvPr id="17" name="Shape 15"/>
          <p:cNvSpPr/>
          <p:nvPr/>
        </p:nvSpPr>
        <p:spPr>
          <a:xfrm>
            <a:off x="6263640" y="1691640"/>
            <a:ext cx="5577840" cy="960120"/>
          </a:xfrm>
          <a:prstGeom prst="roundRect">
            <a:avLst>
              <a:gd name="adj" fmla="val 11429"/>
            </a:avLst>
          </a:prstGeom>
          <a:solidFill>
            <a:srgbClr val="162233"/>
          </a:solidFill>
          <a:ln w="15240">
            <a:solidFill>
              <a:srgbClr val="253A52"/>
            </a:solidFill>
            <a:prstDash val="solid"/>
          </a:ln>
        </p:spPr>
      </p:sp>
      <p:sp>
        <p:nvSpPr>
          <p:cNvPr id="18" name="Shape 16"/>
          <p:cNvSpPr/>
          <p:nvPr/>
        </p:nvSpPr>
        <p:spPr>
          <a:xfrm>
            <a:off x="6263640" y="1691640"/>
            <a:ext cx="82296" cy="960120"/>
          </a:xfrm>
          <a:prstGeom prst="rect">
            <a:avLst/>
          </a:prstGeom>
          <a:solidFill>
            <a:srgbClr val="00C9A7"/>
          </a:solidFill>
          <a:ln w="12700">
            <a:solidFill>
              <a:srgbClr val="333333"/>
            </a:solidFill>
            <a:prstDash val="solid"/>
          </a:ln>
        </p:spPr>
      </p:sp>
      <p:sp>
        <p:nvSpPr>
          <p:cNvPr id="19" name="Shape 17"/>
          <p:cNvSpPr/>
          <p:nvPr/>
        </p:nvSpPr>
        <p:spPr>
          <a:xfrm>
            <a:off x="6473952" y="1924812"/>
            <a:ext cx="493776" cy="493776"/>
          </a:xfrm>
          <a:prstGeom prst="ellipse">
            <a:avLst/>
          </a:prstGeom>
          <a:solidFill>
            <a:srgbClr val="00C9A7"/>
          </a:solidFill>
          <a:ln w="12700">
            <a:solidFill>
              <a:srgbClr val="333333"/>
            </a:solidFill>
            <a:prstDash val="solid"/>
          </a:ln>
        </p:spPr>
      </p:sp>
      <p:sp>
        <p:nvSpPr>
          <p:cNvPr id="20" name="Text 18"/>
          <p:cNvSpPr/>
          <p:nvPr/>
        </p:nvSpPr>
        <p:spPr>
          <a:xfrm>
            <a:off x="6473952" y="1924812"/>
            <a:ext cx="493776" cy="493776"/>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21" name="Text 19"/>
          <p:cNvSpPr/>
          <p:nvPr/>
        </p:nvSpPr>
        <p:spPr>
          <a:xfrm>
            <a:off x="7132320" y="1755648"/>
            <a:ext cx="45720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50 MB Per File</a:t>
            </a:r>
            <a:endParaRPr lang="en-US" sz="1150" dirty="0"/>
          </a:p>
        </p:txBody>
      </p:sp>
      <p:sp>
        <p:nvSpPr>
          <p:cNvPr id="22" name="Text 20"/>
          <p:cNvSpPr/>
          <p:nvPr/>
        </p:nvSpPr>
        <p:spPr>
          <a:xfrm>
            <a:off x="7132320" y="2057400"/>
            <a:ext cx="4572000" cy="530352"/>
          </a:xfrm>
          <a:prstGeom prst="rect">
            <a:avLst/>
          </a:prstGeom>
          <a:noFill/>
          <a:ln/>
        </p:spPr>
        <p:txBody>
          <a:bodyPr wrap="square" rtlCol="0" anchor="t"/>
          <a:lstStyle/>
          <a:p>
            <a:pPr algn="l" indent="0" marL="0">
              <a:buNone/>
            </a:pPr>
            <a:r>
              <a:rPr lang="en-US" sz="1000" dirty="0">
                <a:solidFill>
                  <a:srgbClr val="CFD8DC"/>
                </a:solidFill>
                <a:latin typeface="Calibri" pitchFamily="34" charset="0"/>
                <a:ea typeface="Calibri" pitchFamily="34" charset="-122"/>
                <a:cs typeface="Calibri" pitchFamily="34" charset="-120"/>
              </a:rPr>
              <a:t>Individual uploaded files cannot exceed 50 MB in size. This covers the vast majority of business documents.</a:t>
            </a:r>
            <a:endParaRPr lang="en-US" sz="1000" dirty="0"/>
          </a:p>
        </p:txBody>
      </p:sp>
      <p:sp>
        <p:nvSpPr>
          <p:cNvPr id="23" name="Shape 21"/>
          <p:cNvSpPr/>
          <p:nvPr/>
        </p:nvSpPr>
        <p:spPr>
          <a:xfrm>
            <a:off x="365760" y="2788920"/>
            <a:ext cx="5577840" cy="960120"/>
          </a:xfrm>
          <a:prstGeom prst="roundRect">
            <a:avLst>
              <a:gd name="adj" fmla="val 11429"/>
            </a:avLst>
          </a:prstGeom>
          <a:solidFill>
            <a:srgbClr val="162233"/>
          </a:solidFill>
          <a:ln w="15240">
            <a:solidFill>
              <a:srgbClr val="253A52"/>
            </a:solidFill>
            <a:prstDash val="solid"/>
          </a:ln>
        </p:spPr>
      </p:sp>
      <p:sp>
        <p:nvSpPr>
          <p:cNvPr id="24" name="Shape 22"/>
          <p:cNvSpPr/>
          <p:nvPr/>
        </p:nvSpPr>
        <p:spPr>
          <a:xfrm>
            <a:off x="365760" y="2788920"/>
            <a:ext cx="82296" cy="960120"/>
          </a:xfrm>
          <a:prstGeom prst="rect">
            <a:avLst/>
          </a:prstGeom>
          <a:solidFill>
            <a:srgbClr val="6C63FF"/>
          </a:solidFill>
          <a:ln w="12700">
            <a:solidFill>
              <a:srgbClr val="333333"/>
            </a:solidFill>
            <a:prstDash val="solid"/>
          </a:ln>
        </p:spPr>
      </p:sp>
      <p:sp>
        <p:nvSpPr>
          <p:cNvPr id="25" name="Shape 23"/>
          <p:cNvSpPr/>
          <p:nvPr/>
        </p:nvSpPr>
        <p:spPr>
          <a:xfrm>
            <a:off x="576072" y="3022092"/>
            <a:ext cx="493776" cy="493776"/>
          </a:xfrm>
          <a:prstGeom prst="ellipse">
            <a:avLst/>
          </a:prstGeom>
          <a:solidFill>
            <a:srgbClr val="6C63FF"/>
          </a:solidFill>
          <a:ln w="12700">
            <a:solidFill>
              <a:srgbClr val="333333"/>
            </a:solidFill>
            <a:prstDash val="solid"/>
          </a:ln>
        </p:spPr>
      </p:sp>
      <p:sp>
        <p:nvSpPr>
          <p:cNvPr id="26" name="Text 24"/>
          <p:cNvSpPr/>
          <p:nvPr/>
        </p:nvSpPr>
        <p:spPr>
          <a:xfrm>
            <a:off x="576072" y="3022092"/>
            <a:ext cx="493776" cy="493776"/>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27" name="Text 25"/>
          <p:cNvSpPr/>
          <p:nvPr/>
        </p:nvSpPr>
        <p:spPr>
          <a:xfrm>
            <a:off x="1234440" y="2852928"/>
            <a:ext cx="45720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10 Messages of Context</a:t>
            </a:r>
            <a:endParaRPr lang="en-US" sz="1150" dirty="0"/>
          </a:p>
        </p:txBody>
      </p:sp>
      <p:sp>
        <p:nvSpPr>
          <p:cNvPr id="28" name="Text 26"/>
          <p:cNvSpPr/>
          <p:nvPr/>
        </p:nvSpPr>
        <p:spPr>
          <a:xfrm>
            <a:off x="1234440" y="3154680"/>
            <a:ext cx="4572000" cy="530352"/>
          </a:xfrm>
          <a:prstGeom prst="rect">
            <a:avLst/>
          </a:prstGeom>
          <a:noFill/>
          <a:ln/>
        </p:spPr>
        <p:txBody>
          <a:bodyPr wrap="square" rtlCol="0" anchor="t"/>
          <a:lstStyle/>
          <a:p>
            <a:pPr algn="l" indent="0" marL="0">
              <a:buNone/>
            </a:pPr>
            <a:r>
              <a:rPr lang="en-US" sz="1000" dirty="0">
                <a:solidFill>
                  <a:srgbClr val="CFD8DC"/>
                </a:solidFill>
                <a:latin typeface="Calibri" pitchFamily="34" charset="0"/>
                <a:ea typeface="Calibri" pitchFamily="34" charset="-122"/>
                <a:cs typeface="Calibri" pitchFamily="34" charset="-120"/>
              </a:rPr>
              <a:t>The AI considers only your last 10 messages when answering. Older conversation history is not actively used.</a:t>
            </a:r>
            <a:endParaRPr lang="en-US" sz="1000" dirty="0"/>
          </a:p>
        </p:txBody>
      </p:sp>
      <p:sp>
        <p:nvSpPr>
          <p:cNvPr id="29" name="Shape 27"/>
          <p:cNvSpPr/>
          <p:nvPr/>
        </p:nvSpPr>
        <p:spPr>
          <a:xfrm>
            <a:off x="6263640" y="2788920"/>
            <a:ext cx="5577840" cy="960120"/>
          </a:xfrm>
          <a:prstGeom prst="roundRect">
            <a:avLst>
              <a:gd name="adj" fmla="val 11429"/>
            </a:avLst>
          </a:prstGeom>
          <a:solidFill>
            <a:srgbClr val="162233"/>
          </a:solidFill>
          <a:ln w="15240">
            <a:solidFill>
              <a:srgbClr val="253A52"/>
            </a:solidFill>
            <a:prstDash val="solid"/>
          </a:ln>
        </p:spPr>
      </p:sp>
      <p:sp>
        <p:nvSpPr>
          <p:cNvPr id="30" name="Shape 28"/>
          <p:cNvSpPr/>
          <p:nvPr/>
        </p:nvSpPr>
        <p:spPr>
          <a:xfrm>
            <a:off x="6263640" y="2788920"/>
            <a:ext cx="82296" cy="960120"/>
          </a:xfrm>
          <a:prstGeom prst="rect">
            <a:avLst/>
          </a:prstGeom>
          <a:solidFill>
            <a:srgbClr val="FF6B35"/>
          </a:solidFill>
          <a:ln w="12700">
            <a:solidFill>
              <a:srgbClr val="333333"/>
            </a:solidFill>
            <a:prstDash val="solid"/>
          </a:ln>
        </p:spPr>
      </p:sp>
      <p:sp>
        <p:nvSpPr>
          <p:cNvPr id="31" name="Shape 29"/>
          <p:cNvSpPr/>
          <p:nvPr/>
        </p:nvSpPr>
        <p:spPr>
          <a:xfrm>
            <a:off x="6473952" y="3022092"/>
            <a:ext cx="493776" cy="493776"/>
          </a:xfrm>
          <a:prstGeom prst="ellipse">
            <a:avLst/>
          </a:prstGeom>
          <a:solidFill>
            <a:srgbClr val="FF6B35"/>
          </a:solidFill>
          <a:ln w="12700">
            <a:solidFill>
              <a:srgbClr val="333333"/>
            </a:solidFill>
            <a:prstDash val="solid"/>
          </a:ln>
        </p:spPr>
      </p:sp>
      <p:sp>
        <p:nvSpPr>
          <p:cNvPr id="32" name="Text 30"/>
          <p:cNvSpPr/>
          <p:nvPr/>
        </p:nvSpPr>
        <p:spPr>
          <a:xfrm>
            <a:off x="6473952" y="3022092"/>
            <a:ext cx="493776" cy="493776"/>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33" name="Text 31"/>
          <p:cNvSpPr/>
          <p:nvPr/>
        </p:nvSpPr>
        <p:spPr>
          <a:xfrm>
            <a:off x="7132320" y="2852928"/>
            <a:ext cx="45720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4 Sections by Default</a:t>
            </a:r>
            <a:endParaRPr lang="en-US" sz="1150" dirty="0"/>
          </a:p>
        </p:txBody>
      </p:sp>
      <p:sp>
        <p:nvSpPr>
          <p:cNvPr id="34" name="Text 32"/>
          <p:cNvSpPr/>
          <p:nvPr/>
        </p:nvSpPr>
        <p:spPr>
          <a:xfrm>
            <a:off x="7132320" y="3154680"/>
            <a:ext cx="4572000" cy="530352"/>
          </a:xfrm>
          <a:prstGeom prst="rect">
            <a:avLst/>
          </a:prstGeom>
          <a:noFill/>
          <a:ln/>
        </p:spPr>
        <p:txBody>
          <a:bodyPr wrap="square" rtlCol="0" anchor="t"/>
          <a:lstStyle/>
          <a:p>
            <a:pPr algn="l" indent="0" marL="0">
              <a:buNone/>
            </a:pPr>
            <a:r>
              <a:rPr lang="en-US" sz="1000" dirty="0">
                <a:solidFill>
                  <a:srgbClr val="CFD8DC"/>
                </a:solidFill>
                <a:latin typeface="Calibri" pitchFamily="34" charset="0"/>
                <a:ea typeface="Calibri" pitchFamily="34" charset="-122"/>
                <a:cs typeface="Calibri" pitchFamily="34" charset="-120"/>
              </a:rPr>
              <a:t>The AI reads the top 4 most relevant document sections per question. This is configurable up to 10 in settings.</a:t>
            </a:r>
            <a:endParaRPr lang="en-US" sz="1000" dirty="0"/>
          </a:p>
        </p:txBody>
      </p:sp>
      <p:sp>
        <p:nvSpPr>
          <p:cNvPr id="35" name="Shape 33"/>
          <p:cNvSpPr/>
          <p:nvPr/>
        </p:nvSpPr>
        <p:spPr>
          <a:xfrm>
            <a:off x="365760" y="3886200"/>
            <a:ext cx="5577840" cy="960120"/>
          </a:xfrm>
          <a:prstGeom prst="roundRect">
            <a:avLst>
              <a:gd name="adj" fmla="val 11429"/>
            </a:avLst>
          </a:prstGeom>
          <a:solidFill>
            <a:srgbClr val="162233"/>
          </a:solidFill>
          <a:ln w="15240">
            <a:solidFill>
              <a:srgbClr val="253A52"/>
            </a:solidFill>
            <a:prstDash val="solid"/>
          </a:ln>
        </p:spPr>
      </p:sp>
      <p:sp>
        <p:nvSpPr>
          <p:cNvPr id="36" name="Shape 34"/>
          <p:cNvSpPr/>
          <p:nvPr/>
        </p:nvSpPr>
        <p:spPr>
          <a:xfrm>
            <a:off x="365760" y="3886200"/>
            <a:ext cx="82296" cy="960120"/>
          </a:xfrm>
          <a:prstGeom prst="rect">
            <a:avLst/>
          </a:prstGeom>
          <a:solidFill>
            <a:srgbClr val="E91E8C"/>
          </a:solidFill>
          <a:ln w="12700">
            <a:solidFill>
              <a:srgbClr val="333333"/>
            </a:solidFill>
            <a:prstDash val="solid"/>
          </a:ln>
        </p:spPr>
      </p:sp>
      <p:sp>
        <p:nvSpPr>
          <p:cNvPr id="37" name="Shape 35"/>
          <p:cNvSpPr/>
          <p:nvPr/>
        </p:nvSpPr>
        <p:spPr>
          <a:xfrm>
            <a:off x="576072" y="4119372"/>
            <a:ext cx="493776" cy="493776"/>
          </a:xfrm>
          <a:prstGeom prst="ellipse">
            <a:avLst/>
          </a:prstGeom>
          <a:solidFill>
            <a:srgbClr val="E91E8C"/>
          </a:solidFill>
          <a:ln w="12700">
            <a:solidFill>
              <a:srgbClr val="333333"/>
            </a:solidFill>
            <a:prstDash val="solid"/>
          </a:ln>
        </p:spPr>
      </p:sp>
      <p:sp>
        <p:nvSpPr>
          <p:cNvPr id="38" name="Text 36"/>
          <p:cNvSpPr/>
          <p:nvPr/>
        </p:nvSpPr>
        <p:spPr>
          <a:xfrm>
            <a:off x="576072" y="4119372"/>
            <a:ext cx="493776" cy="493776"/>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39" name="Text 37"/>
          <p:cNvSpPr/>
          <p:nvPr/>
        </p:nvSpPr>
        <p:spPr>
          <a:xfrm>
            <a:off x="1234440" y="3950208"/>
            <a:ext cx="45720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Internet Required</a:t>
            </a:r>
            <a:endParaRPr lang="en-US" sz="1150" dirty="0"/>
          </a:p>
        </p:txBody>
      </p:sp>
      <p:sp>
        <p:nvSpPr>
          <p:cNvPr id="40" name="Text 38"/>
          <p:cNvSpPr/>
          <p:nvPr/>
        </p:nvSpPr>
        <p:spPr>
          <a:xfrm>
            <a:off x="1234440" y="4251960"/>
            <a:ext cx="4572000" cy="530352"/>
          </a:xfrm>
          <a:prstGeom prst="rect">
            <a:avLst/>
          </a:prstGeom>
          <a:noFill/>
          <a:ln/>
        </p:spPr>
        <p:txBody>
          <a:bodyPr wrap="square" rtlCol="0" anchor="t"/>
          <a:lstStyle/>
          <a:p>
            <a:pPr algn="l" indent="0" marL="0">
              <a:buNone/>
            </a:pPr>
            <a:r>
              <a:rPr lang="en-US" sz="1000" dirty="0">
                <a:solidFill>
                  <a:srgbClr val="CFD8DC"/>
                </a:solidFill>
                <a:latin typeface="Calibri" pitchFamily="34" charset="0"/>
                <a:ea typeface="Calibri" pitchFamily="34" charset="-122"/>
                <a:cs typeface="Calibri" pitchFamily="34" charset="-120"/>
              </a:rPr>
              <a:t>AI model access requires a live internet connection to OpenRouter. Offline mode is not currently supported.</a:t>
            </a:r>
            <a:endParaRPr lang="en-US" sz="1000" dirty="0"/>
          </a:p>
        </p:txBody>
      </p:sp>
      <p:sp>
        <p:nvSpPr>
          <p:cNvPr id="41" name="Shape 39"/>
          <p:cNvSpPr/>
          <p:nvPr/>
        </p:nvSpPr>
        <p:spPr>
          <a:xfrm>
            <a:off x="6263640" y="3886200"/>
            <a:ext cx="5577840" cy="960120"/>
          </a:xfrm>
          <a:prstGeom prst="roundRect">
            <a:avLst>
              <a:gd name="adj" fmla="val 11429"/>
            </a:avLst>
          </a:prstGeom>
          <a:solidFill>
            <a:srgbClr val="162233"/>
          </a:solidFill>
          <a:ln w="15240">
            <a:solidFill>
              <a:srgbClr val="253A52"/>
            </a:solidFill>
            <a:prstDash val="solid"/>
          </a:ln>
        </p:spPr>
      </p:sp>
      <p:sp>
        <p:nvSpPr>
          <p:cNvPr id="42" name="Shape 40"/>
          <p:cNvSpPr/>
          <p:nvPr/>
        </p:nvSpPr>
        <p:spPr>
          <a:xfrm>
            <a:off x="6263640" y="3886200"/>
            <a:ext cx="82296" cy="960120"/>
          </a:xfrm>
          <a:prstGeom prst="rect">
            <a:avLst/>
          </a:prstGeom>
          <a:solidFill>
            <a:srgbClr val="00BCD4"/>
          </a:solidFill>
          <a:ln w="12700">
            <a:solidFill>
              <a:srgbClr val="333333"/>
            </a:solidFill>
            <a:prstDash val="solid"/>
          </a:ln>
        </p:spPr>
      </p:sp>
      <p:sp>
        <p:nvSpPr>
          <p:cNvPr id="43" name="Shape 41"/>
          <p:cNvSpPr/>
          <p:nvPr/>
        </p:nvSpPr>
        <p:spPr>
          <a:xfrm>
            <a:off x="6473952" y="4119372"/>
            <a:ext cx="493776" cy="493776"/>
          </a:xfrm>
          <a:prstGeom prst="ellipse">
            <a:avLst/>
          </a:prstGeom>
          <a:solidFill>
            <a:srgbClr val="00BCD4"/>
          </a:solidFill>
          <a:ln w="12700">
            <a:solidFill>
              <a:srgbClr val="333333"/>
            </a:solidFill>
            <a:prstDash val="solid"/>
          </a:ln>
        </p:spPr>
      </p:sp>
      <p:sp>
        <p:nvSpPr>
          <p:cNvPr id="44" name="Text 42"/>
          <p:cNvSpPr/>
          <p:nvPr/>
        </p:nvSpPr>
        <p:spPr>
          <a:xfrm>
            <a:off x="6473952" y="4119372"/>
            <a:ext cx="493776" cy="493776"/>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45" name="Text 43"/>
          <p:cNvSpPr/>
          <p:nvPr/>
        </p:nvSpPr>
        <p:spPr>
          <a:xfrm>
            <a:off x="7132320" y="3950208"/>
            <a:ext cx="45720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Read-Only Documents</a:t>
            </a:r>
            <a:endParaRPr lang="en-US" sz="1150" dirty="0"/>
          </a:p>
        </p:txBody>
      </p:sp>
      <p:sp>
        <p:nvSpPr>
          <p:cNvPr id="46" name="Text 44"/>
          <p:cNvSpPr/>
          <p:nvPr/>
        </p:nvSpPr>
        <p:spPr>
          <a:xfrm>
            <a:off x="7132320" y="4251960"/>
            <a:ext cx="4572000" cy="530352"/>
          </a:xfrm>
          <a:prstGeom prst="rect">
            <a:avLst/>
          </a:prstGeom>
          <a:noFill/>
          <a:ln/>
        </p:spPr>
        <p:txBody>
          <a:bodyPr wrap="square" rtlCol="0" anchor="t"/>
          <a:lstStyle/>
          <a:p>
            <a:pPr algn="l" indent="0" marL="0">
              <a:buNone/>
            </a:pPr>
            <a:r>
              <a:rPr lang="en-US" sz="1000" dirty="0">
                <a:solidFill>
                  <a:srgbClr val="CFD8DC"/>
                </a:solidFill>
                <a:latin typeface="Calibri" pitchFamily="34" charset="0"/>
                <a:ea typeface="Calibri" pitchFamily="34" charset="-122"/>
                <a:cs typeface="Calibri" pitchFamily="34" charset="-120"/>
              </a:rPr>
              <a:t>The application reads and analyzes documents only. It cannot edit, modify, or write back to your files.</a:t>
            </a:r>
            <a:endParaRPr lang="en-US" sz="1000" dirty="0"/>
          </a:p>
        </p:txBody>
      </p:sp>
      <p:sp>
        <p:nvSpPr>
          <p:cNvPr id="47" name="Shape 45"/>
          <p:cNvSpPr/>
          <p:nvPr/>
        </p:nvSpPr>
        <p:spPr>
          <a:xfrm>
            <a:off x="365760" y="4983480"/>
            <a:ext cx="5577840" cy="960120"/>
          </a:xfrm>
          <a:prstGeom prst="roundRect">
            <a:avLst>
              <a:gd name="adj" fmla="val 11429"/>
            </a:avLst>
          </a:prstGeom>
          <a:solidFill>
            <a:srgbClr val="162233"/>
          </a:solidFill>
          <a:ln w="15240">
            <a:solidFill>
              <a:srgbClr val="253A52"/>
            </a:solidFill>
            <a:prstDash val="solid"/>
          </a:ln>
        </p:spPr>
      </p:sp>
      <p:sp>
        <p:nvSpPr>
          <p:cNvPr id="48" name="Shape 46"/>
          <p:cNvSpPr/>
          <p:nvPr/>
        </p:nvSpPr>
        <p:spPr>
          <a:xfrm>
            <a:off x="365760" y="4983480"/>
            <a:ext cx="82296" cy="960120"/>
          </a:xfrm>
          <a:prstGeom prst="rect">
            <a:avLst/>
          </a:prstGeom>
          <a:solidFill>
            <a:srgbClr val="FF9800"/>
          </a:solidFill>
          <a:ln w="12700">
            <a:solidFill>
              <a:srgbClr val="333333"/>
            </a:solidFill>
            <a:prstDash val="solid"/>
          </a:ln>
        </p:spPr>
      </p:sp>
      <p:sp>
        <p:nvSpPr>
          <p:cNvPr id="49" name="Shape 47"/>
          <p:cNvSpPr/>
          <p:nvPr/>
        </p:nvSpPr>
        <p:spPr>
          <a:xfrm>
            <a:off x="576072" y="5216652"/>
            <a:ext cx="493776" cy="493776"/>
          </a:xfrm>
          <a:prstGeom prst="ellipse">
            <a:avLst/>
          </a:prstGeom>
          <a:solidFill>
            <a:srgbClr val="FF9800"/>
          </a:solidFill>
          <a:ln w="12700">
            <a:solidFill>
              <a:srgbClr val="333333"/>
            </a:solidFill>
            <a:prstDash val="solid"/>
          </a:ln>
        </p:spPr>
      </p:sp>
      <p:sp>
        <p:nvSpPr>
          <p:cNvPr id="50" name="Text 48"/>
          <p:cNvSpPr/>
          <p:nvPr/>
        </p:nvSpPr>
        <p:spPr>
          <a:xfrm>
            <a:off x="576072" y="5216652"/>
            <a:ext cx="493776" cy="493776"/>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51" name="Text 49"/>
          <p:cNvSpPr/>
          <p:nvPr/>
        </p:nvSpPr>
        <p:spPr>
          <a:xfrm>
            <a:off x="1234440" y="5047488"/>
            <a:ext cx="45720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Descriptive Image Analysis</a:t>
            </a:r>
            <a:endParaRPr lang="en-US" sz="1150" dirty="0"/>
          </a:p>
        </p:txBody>
      </p:sp>
      <p:sp>
        <p:nvSpPr>
          <p:cNvPr id="52" name="Text 50"/>
          <p:cNvSpPr/>
          <p:nvPr/>
        </p:nvSpPr>
        <p:spPr>
          <a:xfrm>
            <a:off x="1234440" y="5349240"/>
            <a:ext cx="4572000" cy="530352"/>
          </a:xfrm>
          <a:prstGeom prst="rect">
            <a:avLst/>
          </a:prstGeom>
          <a:noFill/>
          <a:ln/>
        </p:spPr>
        <p:txBody>
          <a:bodyPr wrap="square" rtlCol="0" anchor="t"/>
          <a:lstStyle/>
          <a:p>
            <a:pPr algn="l" indent="0" marL="0">
              <a:buNone/>
            </a:pPr>
            <a:r>
              <a:rPr lang="en-US" sz="1000" dirty="0">
                <a:solidFill>
                  <a:srgbClr val="CFD8DC"/>
                </a:solidFill>
                <a:latin typeface="Calibri" pitchFamily="34" charset="0"/>
                <a:ea typeface="Calibri" pitchFamily="34" charset="-122"/>
                <a:cs typeface="Calibri" pitchFamily="34" charset="-120"/>
              </a:rPr>
              <a:t>For images, the AI generates a description. It does not perform character-level OCR extraction from scanned documents.</a:t>
            </a:r>
            <a:endParaRPr lang="en-US" sz="1000" dirty="0"/>
          </a:p>
        </p:txBody>
      </p:sp>
      <p:sp>
        <p:nvSpPr>
          <p:cNvPr id="53" name="Shape 51"/>
          <p:cNvSpPr/>
          <p:nvPr/>
        </p:nvSpPr>
        <p:spPr>
          <a:xfrm>
            <a:off x="6263640" y="4983480"/>
            <a:ext cx="5577840" cy="960120"/>
          </a:xfrm>
          <a:prstGeom prst="roundRect">
            <a:avLst>
              <a:gd name="adj" fmla="val 11429"/>
            </a:avLst>
          </a:prstGeom>
          <a:solidFill>
            <a:srgbClr val="162233"/>
          </a:solidFill>
          <a:ln w="15240">
            <a:solidFill>
              <a:srgbClr val="253A52"/>
            </a:solidFill>
            <a:prstDash val="solid"/>
          </a:ln>
        </p:spPr>
      </p:sp>
      <p:sp>
        <p:nvSpPr>
          <p:cNvPr id="54" name="Shape 52"/>
          <p:cNvSpPr/>
          <p:nvPr/>
        </p:nvSpPr>
        <p:spPr>
          <a:xfrm>
            <a:off x="6263640" y="4983480"/>
            <a:ext cx="82296" cy="960120"/>
          </a:xfrm>
          <a:prstGeom prst="rect">
            <a:avLst/>
          </a:prstGeom>
          <a:solidFill>
            <a:srgbClr val="9C27B0"/>
          </a:solidFill>
          <a:ln w="12700">
            <a:solidFill>
              <a:srgbClr val="333333"/>
            </a:solidFill>
            <a:prstDash val="solid"/>
          </a:ln>
        </p:spPr>
      </p:sp>
      <p:sp>
        <p:nvSpPr>
          <p:cNvPr id="55" name="Shape 53"/>
          <p:cNvSpPr/>
          <p:nvPr/>
        </p:nvSpPr>
        <p:spPr>
          <a:xfrm>
            <a:off x="6473952" y="5216652"/>
            <a:ext cx="493776" cy="493776"/>
          </a:xfrm>
          <a:prstGeom prst="ellipse">
            <a:avLst/>
          </a:prstGeom>
          <a:solidFill>
            <a:srgbClr val="9C27B0"/>
          </a:solidFill>
          <a:ln w="12700">
            <a:solidFill>
              <a:srgbClr val="333333"/>
            </a:solidFill>
            <a:prstDash val="solid"/>
          </a:ln>
        </p:spPr>
      </p:sp>
      <p:sp>
        <p:nvSpPr>
          <p:cNvPr id="56" name="Text 54"/>
          <p:cNvSpPr/>
          <p:nvPr/>
        </p:nvSpPr>
        <p:spPr>
          <a:xfrm>
            <a:off x="6473952" y="5216652"/>
            <a:ext cx="493776" cy="493776"/>
          </a:xfrm>
          <a:prstGeom prst="rect">
            <a:avLst/>
          </a:prstGeom>
          <a:noFill/>
          <a:ln/>
        </p:spPr>
        <p:txBody>
          <a:bodyPr wrap="square" rtlCol="0" anchor="ctr"/>
          <a:lstStyle/>
          <a:p>
            <a:pPr algn="ctr" indent="0" marL="0">
              <a:buNone/>
            </a:pPr>
            <a:r>
              <a:rPr lang="en-US" sz="1400" dirty="0">
                <a:solidFill>
                  <a:srgbClr val="FFFFFF"/>
                </a:solidFill>
                <a:latin typeface="Segoe UI Emoji" pitchFamily="34" charset="0"/>
                <a:ea typeface="Segoe UI Emoji" pitchFamily="34" charset="-122"/>
                <a:cs typeface="Segoe UI Emoji" pitchFamily="34" charset="-120"/>
              </a:rPr>
              <a:t>💾</a:t>
            </a:r>
            <a:endParaRPr lang="en-US" sz="1400" dirty="0"/>
          </a:p>
        </p:txBody>
      </p:sp>
      <p:sp>
        <p:nvSpPr>
          <p:cNvPr id="57" name="Text 55"/>
          <p:cNvSpPr/>
          <p:nvPr/>
        </p:nvSpPr>
        <p:spPr>
          <a:xfrm>
            <a:off x="7132320" y="5047488"/>
            <a:ext cx="457200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Local Vector Storage</a:t>
            </a:r>
            <a:endParaRPr lang="en-US" sz="1150" dirty="0"/>
          </a:p>
        </p:txBody>
      </p:sp>
      <p:sp>
        <p:nvSpPr>
          <p:cNvPr id="58" name="Text 56"/>
          <p:cNvSpPr/>
          <p:nvPr/>
        </p:nvSpPr>
        <p:spPr>
          <a:xfrm>
            <a:off x="7132320" y="5349240"/>
            <a:ext cx="4572000" cy="530352"/>
          </a:xfrm>
          <a:prstGeom prst="rect">
            <a:avLst/>
          </a:prstGeom>
          <a:noFill/>
          <a:ln/>
        </p:spPr>
        <p:txBody>
          <a:bodyPr wrap="square" rtlCol="0" anchor="t"/>
          <a:lstStyle/>
          <a:p>
            <a:pPr algn="l" indent="0" marL="0">
              <a:buNone/>
            </a:pPr>
            <a:r>
              <a:rPr lang="en-US" sz="1000" dirty="0">
                <a:solidFill>
                  <a:srgbClr val="CFD8DC"/>
                </a:solidFill>
                <a:latin typeface="Calibri" pitchFamily="34" charset="0"/>
                <a:ea typeface="Calibri" pitchFamily="34" charset="-122"/>
                <a:cs typeface="Calibri" pitchFamily="34" charset="-120"/>
              </a:rPr>
              <a:t>Document AI indexes are stored on the application server's file system, not in a dedicated cloud vector database.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FAQ</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Frequently Asked Questions — Part 1</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18 / 20</a:t>
            </a:r>
            <a:endParaRPr lang="en-US" sz="750" dirty="0"/>
          </a:p>
        </p:txBody>
      </p:sp>
      <p:sp>
        <p:nvSpPr>
          <p:cNvPr id="10" name="Shape 8"/>
          <p:cNvSpPr/>
          <p:nvPr/>
        </p:nvSpPr>
        <p:spPr>
          <a:xfrm>
            <a:off x="365760" y="1417320"/>
            <a:ext cx="11430000" cy="896112"/>
          </a:xfrm>
          <a:prstGeom prst="roundRect">
            <a:avLst>
              <a:gd name="adj" fmla="val 12245"/>
            </a:avLst>
          </a:prstGeom>
          <a:solidFill>
            <a:srgbClr val="162233"/>
          </a:solidFill>
          <a:ln w="15240">
            <a:solidFill>
              <a:srgbClr val="253A52"/>
            </a:solidFill>
            <a:prstDash val="solid"/>
          </a:ln>
        </p:spPr>
      </p:sp>
      <p:sp>
        <p:nvSpPr>
          <p:cNvPr id="11" name="Shape 9"/>
          <p:cNvSpPr/>
          <p:nvPr/>
        </p:nvSpPr>
        <p:spPr>
          <a:xfrm>
            <a:off x="365760" y="1417320"/>
            <a:ext cx="82296" cy="896112"/>
          </a:xfrm>
          <a:prstGeom prst="rect">
            <a:avLst/>
          </a:prstGeom>
          <a:solidFill>
            <a:srgbClr val="4F8EF7"/>
          </a:solidFill>
          <a:ln w="12700">
            <a:solidFill>
              <a:srgbClr val="333333"/>
            </a:solidFill>
            <a:prstDash val="solid"/>
          </a:ln>
        </p:spPr>
      </p:sp>
      <p:sp>
        <p:nvSpPr>
          <p:cNvPr id="12" name="Text 10"/>
          <p:cNvSpPr/>
          <p:nvPr/>
        </p:nvSpPr>
        <p:spPr>
          <a:xfrm>
            <a:off x="502920" y="1453896"/>
            <a:ext cx="256032" cy="256032"/>
          </a:xfrm>
          <a:prstGeom prst="rect">
            <a:avLst/>
          </a:prstGeom>
          <a:noFill/>
          <a:ln/>
        </p:spPr>
        <p:txBody>
          <a:bodyPr wrap="square" rtlCol="0" anchor="ctr"/>
          <a:lstStyle/>
          <a:p>
            <a:pPr algn="ctr" indent="0" marL="0">
              <a:buNone/>
            </a:pPr>
            <a:r>
              <a:rPr lang="en-US" sz="1100" b="1" dirty="0">
                <a:solidFill>
                  <a:srgbClr val="4F8EF7"/>
                </a:solidFill>
                <a:latin typeface="Calibri" pitchFamily="34" charset="0"/>
                <a:ea typeface="Calibri" pitchFamily="34" charset="-122"/>
                <a:cs typeface="Calibri" pitchFamily="34" charset="-120"/>
              </a:rPr>
              <a:t>Q</a:t>
            </a:r>
            <a:endParaRPr lang="en-US" sz="1100" dirty="0"/>
          </a:p>
        </p:txBody>
      </p:sp>
      <p:sp>
        <p:nvSpPr>
          <p:cNvPr id="13" name="Text 11"/>
          <p:cNvSpPr/>
          <p:nvPr/>
        </p:nvSpPr>
        <p:spPr>
          <a:xfrm>
            <a:off x="868680" y="1472184"/>
            <a:ext cx="1069848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Can multiple users use the application simultaneously?</a:t>
            </a:r>
            <a:endParaRPr lang="en-US" sz="1150" dirty="0"/>
          </a:p>
        </p:txBody>
      </p:sp>
      <p:sp>
        <p:nvSpPr>
          <p:cNvPr id="14" name="Shape 12"/>
          <p:cNvSpPr/>
          <p:nvPr/>
        </p:nvSpPr>
        <p:spPr>
          <a:xfrm>
            <a:off x="868680" y="1801368"/>
            <a:ext cx="10698480" cy="18288"/>
          </a:xfrm>
          <a:prstGeom prst="rect">
            <a:avLst/>
          </a:prstGeom>
          <a:solidFill>
            <a:srgbClr val="253A52"/>
          </a:solidFill>
          <a:ln w="12700">
            <a:solidFill>
              <a:srgbClr val="333333"/>
            </a:solidFill>
            <a:prstDash val="solid"/>
          </a:ln>
        </p:spPr>
      </p:sp>
      <p:sp>
        <p:nvSpPr>
          <p:cNvPr id="15" name="Text 13"/>
          <p:cNvSpPr/>
          <p:nvPr/>
        </p:nvSpPr>
        <p:spPr>
          <a:xfrm>
            <a:off x="868680" y="1874520"/>
            <a:ext cx="10698480" cy="384048"/>
          </a:xfrm>
          <a:prstGeom prst="rect">
            <a:avLst/>
          </a:prstGeom>
          <a:noFill/>
          <a:ln/>
        </p:spPr>
        <p:txBody>
          <a:bodyPr wrap="square" rtlCol="0" anchor="t"/>
          <a:lstStyle/>
          <a:p>
            <a:pPr algn="l" indent="0" marL="0">
              <a:buNone/>
            </a:pPr>
            <a:r>
              <a:rPr lang="en-US" sz="1050" dirty="0">
                <a:solidFill>
                  <a:srgbClr val="CFD8DC"/>
                </a:solidFill>
                <a:latin typeface="Calibri" pitchFamily="34" charset="0"/>
                <a:ea typeface="Calibri" pitchFamily="34" charset="-122"/>
                <a:cs typeface="Calibri" pitchFamily="34" charset="-120"/>
              </a:rPr>
              <a:t>Yes. The system supports multiple concurrent users. Each user has a completely isolated account — documents and conversations are never shared between users.</a:t>
            </a:r>
            <a:endParaRPr lang="en-US" sz="1050" dirty="0"/>
          </a:p>
        </p:txBody>
      </p:sp>
      <p:sp>
        <p:nvSpPr>
          <p:cNvPr id="16" name="Shape 14"/>
          <p:cNvSpPr/>
          <p:nvPr/>
        </p:nvSpPr>
        <p:spPr>
          <a:xfrm>
            <a:off x="365760" y="2414016"/>
            <a:ext cx="11430000" cy="896112"/>
          </a:xfrm>
          <a:prstGeom prst="roundRect">
            <a:avLst>
              <a:gd name="adj" fmla="val 12245"/>
            </a:avLst>
          </a:prstGeom>
          <a:solidFill>
            <a:srgbClr val="162233"/>
          </a:solidFill>
          <a:ln w="15240">
            <a:solidFill>
              <a:srgbClr val="253A52"/>
            </a:solidFill>
            <a:prstDash val="solid"/>
          </a:ln>
        </p:spPr>
      </p:sp>
      <p:sp>
        <p:nvSpPr>
          <p:cNvPr id="17" name="Shape 15"/>
          <p:cNvSpPr/>
          <p:nvPr/>
        </p:nvSpPr>
        <p:spPr>
          <a:xfrm>
            <a:off x="365760" y="2414016"/>
            <a:ext cx="82296" cy="896112"/>
          </a:xfrm>
          <a:prstGeom prst="rect">
            <a:avLst/>
          </a:prstGeom>
          <a:solidFill>
            <a:srgbClr val="4F8EF7"/>
          </a:solidFill>
          <a:ln w="12700">
            <a:solidFill>
              <a:srgbClr val="333333"/>
            </a:solidFill>
            <a:prstDash val="solid"/>
          </a:ln>
        </p:spPr>
      </p:sp>
      <p:sp>
        <p:nvSpPr>
          <p:cNvPr id="18" name="Text 16"/>
          <p:cNvSpPr/>
          <p:nvPr/>
        </p:nvSpPr>
        <p:spPr>
          <a:xfrm>
            <a:off x="502920" y="2450592"/>
            <a:ext cx="256032" cy="256032"/>
          </a:xfrm>
          <a:prstGeom prst="rect">
            <a:avLst/>
          </a:prstGeom>
          <a:noFill/>
          <a:ln/>
        </p:spPr>
        <p:txBody>
          <a:bodyPr wrap="square" rtlCol="0" anchor="ctr"/>
          <a:lstStyle/>
          <a:p>
            <a:pPr algn="ctr" indent="0" marL="0">
              <a:buNone/>
            </a:pPr>
            <a:r>
              <a:rPr lang="en-US" sz="1100" b="1" dirty="0">
                <a:solidFill>
                  <a:srgbClr val="4F8EF7"/>
                </a:solidFill>
                <a:latin typeface="Calibri" pitchFamily="34" charset="0"/>
                <a:ea typeface="Calibri" pitchFamily="34" charset="-122"/>
                <a:cs typeface="Calibri" pitchFamily="34" charset="-120"/>
              </a:rPr>
              <a:t>Q</a:t>
            </a:r>
            <a:endParaRPr lang="en-US" sz="1100" dirty="0"/>
          </a:p>
        </p:txBody>
      </p:sp>
      <p:sp>
        <p:nvSpPr>
          <p:cNvPr id="19" name="Text 17"/>
          <p:cNvSpPr/>
          <p:nvPr/>
        </p:nvSpPr>
        <p:spPr>
          <a:xfrm>
            <a:off x="868680" y="2468880"/>
            <a:ext cx="1069848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Will the AI answer questions about topics not in my documents?</a:t>
            </a:r>
            <a:endParaRPr lang="en-US" sz="1150" dirty="0"/>
          </a:p>
        </p:txBody>
      </p:sp>
      <p:sp>
        <p:nvSpPr>
          <p:cNvPr id="20" name="Shape 18"/>
          <p:cNvSpPr/>
          <p:nvPr/>
        </p:nvSpPr>
        <p:spPr>
          <a:xfrm>
            <a:off x="868680" y="2798064"/>
            <a:ext cx="10698480" cy="18288"/>
          </a:xfrm>
          <a:prstGeom prst="rect">
            <a:avLst/>
          </a:prstGeom>
          <a:solidFill>
            <a:srgbClr val="253A52"/>
          </a:solidFill>
          <a:ln w="12700">
            <a:solidFill>
              <a:srgbClr val="333333"/>
            </a:solidFill>
            <a:prstDash val="solid"/>
          </a:ln>
        </p:spPr>
      </p:sp>
      <p:sp>
        <p:nvSpPr>
          <p:cNvPr id="21" name="Text 19"/>
          <p:cNvSpPr/>
          <p:nvPr/>
        </p:nvSpPr>
        <p:spPr>
          <a:xfrm>
            <a:off x="868680" y="2871216"/>
            <a:ext cx="10698480" cy="384048"/>
          </a:xfrm>
          <a:prstGeom prst="rect">
            <a:avLst/>
          </a:prstGeom>
          <a:noFill/>
          <a:ln/>
        </p:spPr>
        <p:txBody>
          <a:bodyPr wrap="square" rtlCol="0" anchor="t"/>
          <a:lstStyle/>
          <a:p>
            <a:pPr algn="l" indent="0" marL="0">
              <a:buNone/>
            </a:pPr>
            <a:r>
              <a:rPr lang="en-US" sz="1050" dirty="0">
                <a:solidFill>
                  <a:srgbClr val="CFD8DC"/>
                </a:solidFill>
                <a:latin typeface="Calibri" pitchFamily="34" charset="0"/>
                <a:ea typeface="Calibri" pitchFamily="34" charset="-122"/>
                <a:cs typeface="Calibri" pitchFamily="34" charset="-120"/>
              </a:rPr>
              <a:t>No. By default, the AI is instructed to answer only based on uploaded documents. If relevant information is not found, it will say so rather than inventing an answer.</a:t>
            </a:r>
            <a:endParaRPr lang="en-US" sz="1050" dirty="0"/>
          </a:p>
        </p:txBody>
      </p:sp>
      <p:sp>
        <p:nvSpPr>
          <p:cNvPr id="22" name="Shape 20"/>
          <p:cNvSpPr/>
          <p:nvPr/>
        </p:nvSpPr>
        <p:spPr>
          <a:xfrm>
            <a:off x="365760" y="3410712"/>
            <a:ext cx="11430000" cy="896112"/>
          </a:xfrm>
          <a:prstGeom prst="roundRect">
            <a:avLst>
              <a:gd name="adj" fmla="val 12245"/>
            </a:avLst>
          </a:prstGeom>
          <a:solidFill>
            <a:srgbClr val="162233"/>
          </a:solidFill>
          <a:ln w="15240">
            <a:solidFill>
              <a:srgbClr val="253A52"/>
            </a:solidFill>
            <a:prstDash val="solid"/>
          </a:ln>
        </p:spPr>
      </p:sp>
      <p:sp>
        <p:nvSpPr>
          <p:cNvPr id="23" name="Shape 21"/>
          <p:cNvSpPr/>
          <p:nvPr/>
        </p:nvSpPr>
        <p:spPr>
          <a:xfrm>
            <a:off x="365760" y="3410712"/>
            <a:ext cx="82296" cy="896112"/>
          </a:xfrm>
          <a:prstGeom prst="rect">
            <a:avLst/>
          </a:prstGeom>
          <a:solidFill>
            <a:srgbClr val="4F8EF7"/>
          </a:solidFill>
          <a:ln w="12700">
            <a:solidFill>
              <a:srgbClr val="333333"/>
            </a:solidFill>
            <a:prstDash val="solid"/>
          </a:ln>
        </p:spPr>
      </p:sp>
      <p:sp>
        <p:nvSpPr>
          <p:cNvPr id="24" name="Text 22"/>
          <p:cNvSpPr/>
          <p:nvPr/>
        </p:nvSpPr>
        <p:spPr>
          <a:xfrm>
            <a:off x="502920" y="3447288"/>
            <a:ext cx="256032" cy="256032"/>
          </a:xfrm>
          <a:prstGeom prst="rect">
            <a:avLst/>
          </a:prstGeom>
          <a:noFill/>
          <a:ln/>
        </p:spPr>
        <p:txBody>
          <a:bodyPr wrap="square" rtlCol="0" anchor="ctr"/>
          <a:lstStyle/>
          <a:p>
            <a:pPr algn="ctr" indent="0" marL="0">
              <a:buNone/>
            </a:pPr>
            <a:r>
              <a:rPr lang="en-US" sz="1100" b="1" dirty="0">
                <a:solidFill>
                  <a:srgbClr val="4F8EF7"/>
                </a:solidFill>
                <a:latin typeface="Calibri" pitchFamily="34" charset="0"/>
                <a:ea typeface="Calibri" pitchFamily="34" charset="-122"/>
                <a:cs typeface="Calibri" pitchFamily="34" charset="-120"/>
              </a:rPr>
              <a:t>Q</a:t>
            </a:r>
            <a:endParaRPr lang="en-US" sz="1100" dirty="0"/>
          </a:p>
        </p:txBody>
      </p:sp>
      <p:sp>
        <p:nvSpPr>
          <p:cNvPr id="25" name="Text 23"/>
          <p:cNvSpPr/>
          <p:nvPr/>
        </p:nvSpPr>
        <p:spPr>
          <a:xfrm>
            <a:off x="868680" y="3465576"/>
            <a:ext cx="1069848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Can I upload a new document while keeping my existing ones?</a:t>
            </a:r>
            <a:endParaRPr lang="en-US" sz="1150" dirty="0"/>
          </a:p>
        </p:txBody>
      </p:sp>
      <p:sp>
        <p:nvSpPr>
          <p:cNvPr id="26" name="Shape 24"/>
          <p:cNvSpPr/>
          <p:nvPr/>
        </p:nvSpPr>
        <p:spPr>
          <a:xfrm>
            <a:off x="868680" y="3794760"/>
            <a:ext cx="10698480" cy="18288"/>
          </a:xfrm>
          <a:prstGeom prst="rect">
            <a:avLst/>
          </a:prstGeom>
          <a:solidFill>
            <a:srgbClr val="253A52"/>
          </a:solidFill>
          <a:ln w="12700">
            <a:solidFill>
              <a:srgbClr val="333333"/>
            </a:solidFill>
            <a:prstDash val="solid"/>
          </a:ln>
        </p:spPr>
      </p:sp>
      <p:sp>
        <p:nvSpPr>
          <p:cNvPr id="27" name="Text 25"/>
          <p:cNvSpPr/>
          <p:nvPr/>
        </p:nvSpPr>
        <p:spPr>
          <a:xfrm>
            <a:off x="868680" y="3867912"/>
            <a:ext cx="10698480" cy="384048"/>
          </a:xfrm>
          <a:prstGeom prst="rect">
            <a:avLst/>
          </a:prstGeom>
          <a:noFill/>
          <a:ln/>
        </p:spPr>
        <p:txBody>
          <a:bodyPr wrap="square" rtlCol="0" anchor="t"/>
          <a:lstStyle/>
          <a:p>
            <a:pPr algn="l" indent="0" marL="0">
              <a:buNone/>
            </a:pPr>
            <a:r>
              <a:rPr lang="en-US" sz="1050" dirty="0">
                <a:solidFill>
                  <a:srgbClr val="CFD8DC"/>
                </a:solidFill>
                <a:latin typeface="Calibri" pitchFamily="34" charset="0"/>
                <a:ea typeface="Calibri" pitchFamily="34" charset="-122"/>
                <a:cs typeface="Calibri" pitchFamily="34" charset="-120"/>
              </a:rPr>
              <a:t>Yes. You can have up to 5 documents at a time. Add or remove individual documents as needed without affecting the others.</a:t>
            </a:r>
            <a:endParaRPr lang="en-US" sz="1050" dirty="0"/>
          </a:p>
        </p:txBody>
      </p:sp>
      <p:sp>
        <p:nvSpPr>
          <p:cNvPr id="28" name="Shape 26"/>
          <p:cNvSpPr/>
          <p:nvPr/>
        </p:nvSpPr>
        <p:spPr>
          <a:xfrm>
            <a:off x="365760" y="4407408"/>
            <a:ext cx="11430000" cy="896112"/>
          </a:xfrm>
          <a:prstGeom prst="roundRect">
            <a:avLst>
              <a:gd name="adj" fmla="val 12245"/>
            </a:avLst>
          </a:prstGeom>
          <a:solidFill>
            <a:srgbClr val="162233"/>
          </a:solidFill>
          <a:ln w="15240">
            <a:solidFill>
              <a:srgbClr val="253A52"/>
            </a:solidFill>
            <a:prstDash val="solid"/>
          </a:ln>
        </p:spPr>
      </p:sp>
      <p:sp>
        <p:nvSpPr>
          <p:cNvPr id="29" name="Shape 27"/>
          <p:cNvSpPr/>
          <p:nvPr/>
        </p:nvSpPr>
        <p:spPr>
          <a:xfrm>
            <a:off x="365760" y="4407408"/>
            <a:ext cx="82296" cy="896112"/>
          </a:xfrm>
          <a:prstGeom prst="rect">
            <a:avLst/>
          </a:prstGeom>
          <a:solidFill>
            <a:srgbClr val="4F8EF7"/>
          </a:solidFill>
          <a:ln w="12700">
            <a:solidFill>
              <a:srgbClr val="333333"/>
            </a:solidFill>
            <a:prstDash val="solid"/>
          </a:ln>
        </p:spPr>
      </p:sp>
      <p:sp>
        <p:nvSpPr>
          <p:cNvPr id="30" name="Text 28"/>
          <p:cNvSpPr/>
          <p:nvPr/>
        </p:nvSpPr>
        <p:spPr>
          <a:xfrm>
            <a:off x="502920" y="4443984"/>
            <a:ext cx="256032" cy="256032"/>
          </a:xfrm>
          <a:prstGeom prst="rect">
            <a:avLst/>
          </a:prstGeom>
          <a:noFill/>
          <a:ln/>
        </p:spPr>
        <p:txBody>
          <a:bodyPr wrap="square" rtlCol="0" anchor="ctr"/>
          <a:lstStyle/>
          <a:p>
            <a:pPr algn="ctr" indent="0" marL="0">
              <a:buNone/>
            </a:pPr>
            <a:r>
              <a:rPr lang="en-US" sz="1100" b="1" dirty="0">
                <a:solidFill>
                  <a:srgbClr val="4F8EF7"/>
                </a:solidFill>
                <a:latin typeface="Calibri" pitchFamily="34" charset="0"/>
                <a:ea typeface="Calibri" pitchFamily="34" charset="-122"/>
                <a:cs typeface="Calibri" pitchFamily="34" charset="-120"/>
              </a:rPr>
              <a:t>Q</a:t>
            </a:r>
            <a:endParaRPr lang="en-US" sz="1100" dirty="0"/>
          </a:p>
        </p:txBody>
      </p:sp>
      <p:sp>
        <p:nvSpPr>
          <p:cNvPr id="31" name="Text 29"/>
          <p:cNvSpPr/>
          <p:nvPr/>
        </p:nvSpPr>
        <p:spPr>
          <a:xfrm>
            <a:off x="868680" y="4462272"/>
            <a:ext cx="1069848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Is my data shared with any third parties?</a:t>
            </a:r>
            <a:endParaRPr lang="en-US" sz="1150" dirty="0"/>
          </a:p>
        </p:txBody>
      </p:sp>
      <p:sp>
        <p:nvSpPr>
          <p:cNvPr id="32" name="Shape 30"/>
          <p:cNvSpPr/>
          <p:nvPr/>
        </p:nvSpPr>
        <p:spPr>
          <a:xfrm>
            <a:off x="868680" y="4791456"/>
            <a:ext cx="10698480" cy="18288"/>
          </a:xfrm>
          <a:prstGeom prst="rect">
            <a:avLst/>
          </a:prstGeom>
          <a:solidFill>
            <a:srgbClr val="253A52"/>
          </a:solidFill>
          <a:ln w="12700">
            <a:solidFill>
              <a:srgbClr val="333333"/>
            </a:solidFill>
            <a:prstDash val="solid"/>
          </a:ln>
        </p:spPr>
      </p:sp>
      <p:sp>
        <p:nvSpPr>
          <p:cNvPr id="33" name="Text 31"/>
          <p:cNvSpPr/>
          <p:nvPr/>
        </p:nvSpPr>
        <p:spPr>
          <a:xfrm>
            <a:off x="868680" y="4864608"/>
            <a:ext cx="10698480" cy="384048"/>
          </a:xfrm>
          <a:prstGeom prst="rect">
            <a:avLst/>
          </a:prstGeom>
          <a:noFill/>
          <a:ln/>
        </p:spPr>
        <p:txBody>
          <a:bodyPr wrap="square" rtlCol="0" anchor="t"/>
          <a:lstStyle/>
          <a:p>
            <a:pPr algn="l" indent="0" marL="0">
              <a:buNone/>
            </a:pPr>
            <a:r>
              <a:rPr lang="en-US" sz="1050" dirty="0">
                <a:solidFill>
                  <a:srgbClr val="CFD8DC"/>
                </a:solidFill>
                <a:latin typeface="Calibri" pitchFamily="34" charset="0"/>
                <a:ea typeface="Calibri" pitchFamily="34" charset="-122"/>
                <a:cs typeface="Calibri" pitchFamily="34" charset="-120"/>
              </a:rPr>
              <a:t>Your data is not sold or shared for commercial purposes. The only third parties involved are: OpenRouter (AI processing), Cloudinary (file storage), and MongoDB (database). All are enterprise-grade, trusted services.</a:t>
            </a:r>
            <a:endParaRPr lang="en-US" sz="1050" dirty="0"/>
          </a:p>
        </p:txBody>
      </p:sp>
      <p:sp>
        <p:nvSpPr>
          <p:cNvPr id="34" name="Shape 32"/>
          <p:cNvSpPr/>
          <p:nvPr/>
        </p:nvSpPr>
        <p:spPr>
          <a:xfrm>
            <a:off x="365760" y="5404104"/>
            <a:ext cx="11430000" cy="896112"/>
          </a:xfrm>
          <a:prstGeom prst="roundRect">
            <a:avLst>
              <a:gd name="adj" fmla="val 12245"/>
            </a:avLst>
          </a:prstGeom>
          <a:solidFill>
            <a:srgbClr val="162233"/>
          </a:solidFill>
          <a:ln w="15240">
            <a:solidFill>
              <a:srgbClr val="253A52"/>
            </a:solidFill>
            <a:prstDash val="solid"/>
          </a:ln>
        </p:spPr>
      </p:sp>
      <p:sp>
        <p:nvSpPr>
          <p:cNvPr id="35" name="Shape 33"/>
          <p:cNvSpPr/>
          <p:nvPr/>
        </p:nvSpPr>
        <p:spPr>
          <a:xfrm>
            <a:off x="365760" y="5404104"/>
            <a:ext cx="82296" cy="896112"/>
          </a:xfrm>
          <a:prstGeom prst="rect">
            <a:avLst/>
          </a:prstGeom>
          <a:solidFill>
            <a:srgbClr val="4F8EF7"/>
          </a:solidFill>
          <a:ln w="12700">
            <a:solidFill>
              <a:srgbClr val="333333"/>
            </a:solidFill>
            <a:prstDash val="solid"/>
          </a:ln>
        </p:spPr>
      </p:sp>
      <p:sp>
        <p:nvSpPr>
          <p:cNvPr id="36" name="Text 34"/>
          <p:cNvSpPr/>
          <p:nvPr/>
        </p:nvSpPr>
        <p:spPr>
          <a:xfrm>
            <a:off x="502920" y="5440680"/>
            <a:ext cx="256032" cy="256032"/>
          </a:xfrm>
          <a:prstGeom prst="rect">
            <a:avLst/>
          </a:prstGeom>
          <a:noFill/>
          <a:ln/>
        </p:spPr>
        <p:txBody>
          <a:bodyPr wrap="square" rtlCol="0" anchor="ctr"/>
          <a:lstStyle/>
          <a:p>
            <a:pPr algn="ctr" indent="0" marL="0">
              <a:buNone/>
            </a:pPr>
            <a:r>
              <a:rPr lang="en-US" sz="1100" b="1" dirty="0">
                <a:solidFill>
                  <a:srgbClr val="4F8EF7"/>
                </a:solidFill>
                <a:latin typeface="Calibri" pitchFamily="34" charset="0"/>
                <a:ea typeface="Calibri" pitchFamily="34" charset="-122"/>
                <a:cs typeface="Calibri" pitchFamily="34" charset="-120"/>
              </a:rPr>
              <a:t>Q</a:t>
            </a:r>
            <a:endParaRPr lang="en-US" sz="1100" dirty="0"/>
          </a:p>
        </p:txBody>
      </p:sp>
      <p:sp>
        <p:nvSpPr>
          <p:cNvPr id="37" name="Text 35"/>
          <p:cNvSpPr/>
          <p:nvPr/>
        </p:nvSpPr>
        <p:spPr>
          <a:xfrm>
            <a:off x="868680" y="5458968"/>
            <a:ext cx="1069848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Can I ask questions in languages other than English?</a:t>
            </a:r>
            <a:endParaRPr lang="en-US" sz="1150" dirty="0"/>
          </a:p>
        </p:txBody>
      </p:sp>
      <p:sp>
        <p:nvSpPr>
          <p:cNvPr id="38" name="Shape 36"/>
          <p:cNvSpPr/>
          <p:nvPr/>
        </p:nvSpPr>
        <p:spPr>
          <a:xfrm>
            <a:off x="868680" y="5788152"/>
            <a:ext cx="10698480" cy="18288"/>
          </a:xfrm>
          <a:prstGeom prst="rect">
            <a:avLst/>
          </a:prstGeom>
          <a:solidFill>
            <a:srgbClr val="253A52"/>
          </a:solidFill>
          <a:ln w="12700">
            <a:solidFill>
              <a:srgbClr val="333333"/>
            </a:solidFill>
            <a:prstDash val="solid"/>
          </a:ln>
        </p:spPr>
      </p:sp>
      <p:sp>
        <p:nvSpPr>
          <p:cNvPr id="39" name="Text 37"/>
          <p:cNvSpPr/>
          <p:nvPr/>
        </p:nvSpPr>
        <p:spPr>
          <a:xfrm>
            <a:off x="868680" y="5861304"/>
            <a:ext cx="10698480" cy="384048"/>
          </a:xfrm>
          <a:prstGeom prst="rect">
            <a:avLst/>
          </a:prstGeom>
          <a:noFill/>
          <a:ln/>
        </p:spPr>
        <p:txBody>
          <a:bodyPr wrap="square" rtlCol="0" anchor="t"/>
          <a:lstStyle/>
          <a:p>
            <a:pPr algn="l" indent="0" marL="0">
              <a:buNone/>
            </a:pPr>
            <a:r>
              <a:rPr lang="en-US" sz="1050" dirty="0">
                <a:solidFill>
                  <a:srgbClr val="CFD8DC"/>
                </a:solidFill>
                <a:latin typeface="Calibri" pitchFamily="34" charset="0"/>
                <a:ea typeface="Calibri" pitchFamily="34" charset="-122"/>
                <a:cs typeface="Calibri" pitchFamily="34" charset="-120"/>
              </a:rPr>
              <a:t>Yes. All supported AI models (GPT-4o, Claude, Gemini) support multiple languages. Questions and answers can be in any language these models support.</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2192000" cy="73152"/>
          </a:xfrm>
          <a:prstGeom prst="rect">
            <a:avLst/>
          </a:prstGeom>
          <a:solidFill>
            <a:srgbClr val="4F8EF7"/>
          </a:solidFill>
          <a:ln w="12700">
            <a:solidFill>
              <a:srgbClr val="333333"/>
            </a:solidFill>
            <a:prstDash val="solid"/>
          </a:ln>
        </p:spPr>
      </p:sp>
      <p:sp>
        <p:nvSpPr>
          <p:cNvPr id="3" name="Shape 1"/>
          <p:cNvSpPr/>
          <p:nvPr/>
        </p:nvSpPr>
        <p:spPr>
          <a:xfrm>
            <a:off x="365760" y="164592"/>
            <a:ext cx="1645920" cy="292608"/>
          </a:xfrm>
          <a:prstGeom prst="roundRect">
            <a:avLst>
              <a:gd name="adj" fmla="val 25000"/>
            </a:avLst>
          </a:prstGeom>
          <a:solidFill>
            <a:srgbClr val="4F8EF7"/>
          </a:solidFill>
          <a:ln w="12700">
            <a:solidFill>
              <a:srgbClr val="333333"/>
            </a:solidFill>
            <a:prstDash val="solid"/>
          </a:ln>
        </p:spPr>
      </p:sp>
      <p:sp>
        <p:nvSpPr>
          <p:cNvPr id="4" name="Text 2"/>
          <p:cNvSpPr/>
          <p:nvPr/>
        </p:nvSpPr>
        <p:spPr>
          <a:xfrm>
            <a:off x="365760" y="164592"/>
            <a:ext cx="1645920" cy="292608"/>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FAQ</a:t>
            </a:r>
            <a:endParaRPr lang="en-US" sz="800" dirty="0"/>
          </a:p>
        </p:txBody>
      </p:sp>
      <p:sp>
        <p:nvSpPr>
          <p:cNvPr id="5" name="Text 3"/>
          <p:cNvSpPr/>
          <p:nvPr/>
        </p:nvSpPr>
        <p:spPr>
          <a:xfrm>
            <a:off x="365760" y="502920"/>
            <a:ext cx="11430000" cy="594360"/>
          </a:xfrm>
          <a:prstGeom prst="rect">
            <a:avLst/>
          </a:prstGeom>
          <a:noFill/>
          <a:ln/>
        </p:spPr>
        <p:txBody>
          <a:bodyPr wrap="square"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Frequently Asked Questions — Part 2</a:t>
            </a:r>
            <a:endParaRPr lang="en-US" sz="2800" dirty="0"/>
          </a:p>
        </p:txBody>
      </p:sp>
      <p:sp>
        <p:nvSpPr>
          <p:cNvPr id="6" name="Shape 4"/>
          <p:cNvSpPr/>
          <p:nvPr/>
        </p:nvSpPr>
        <p:spPr>
          <a:xfrm>
            <a:off x="365760" y="1161288"/>
            <a:ext cx="1097280" cy="41148"/>
          </a:xfrm>
          <a:prstGeom prst="rect">
            <a:avLst/>
          </a:prstGeom>
          <a:solidFill>
            <a:srgbClr val="4F8EF7"/>
          </a:solidFill>
          <a:ln w="12700">
            <a:solidFill>
              <a:srgbClr val="333333"/>
            </a:solidFill>
            <a:prstDash val="solid"/>
          </a:ln>
        </p:spPr>
      </p:sp>
      <p:sp>
        <p:nvSpPr>
          <p:cNvPr id="7" name="Shape 5"/>
          <p:cNvSpPr/>
          <p:nvPr/>
        </p:nvSpPr>
        <p:spPr>
          <a:xfrm>
            <a:off x="0" y="6656832"/>
            <a:ext cx="12192000" cy="201168"/>
          </a:xfrm>
          <a:prstGeom prst="rect">
            <a:avLst/>
          </a:prstGeom>
          <a:solidFill>
            <a:srgbClr val="1B2A3B"/>
          </a:solidFill>
          <a:ln w="12700">
            <a:solidFill>
              <a:srgbClr val="333333"/>
            </a:solidFill>
            <a:prstDash val="solid"/>
          </a:ln>
        </p:spPr>
      </p:sp>
      <p:sp>
        <p:nvSpPr>
          <p:cNvPr id="8" name="Text 6"/>
          <p:cNvSpPr/>
          <p:nvPr/>
        </p:nvSpPr>
        <p:spPr>
          <a:xfrm>
            <a:off x="365760" y="6656832"/>
            <a:ext cx="9144000" cy="201168"/>
          </a:xfrm>
          <a:prstGeom prst="rect">
            <a:avLst/>
          </a:prstGeom>
          <a:noFill/>
          <a:ln/>
        </p:spPr>
        <p:txBody>
          <a:bodyPr wrap="square" rtlCol="0" anchor="ctr"/>
          <a:lstStyle/>
          <a:p>
            <a:pPr algn="l" indent="0" marL="0">
              <a:buNone/>
            </a:pPr>
            <a:r>
              <a:rPr lang="en-US" sz="750" dirty="0">
                <a:solidFill>
                  <a:srgbClr val="546E7A"/>
                </a:solidFill>
                <a:latin typeface="Calibri" pitchFamily="34" charset="0"/>
                <a:ea typeface="Calibri" pitchFamily="34" charset="-122"/>
                <a:cs typeface="Calibri" pitchFamily="34" charset="-120"/>
              </a:rPr>
              <a:t>DocuChat AI  |  Confidential Client Presentation  |  April 2026</a:t>
            </a:r>
            <a:endParaRPr lang="en-US" sz="750" dirty="0"/>
          </a:p>
        </p:txBody>
      </p:sp>
      <p:sp>
        <p:nvSpPr>
          <p:cNvPr id="9" name="Text 7"/>
          <p:cNvSpPr/>
          <p:nvPr/>
        </p:nvSpPr>
        <p:spPr>
          <a:xfrm>
            <a:off x="10972800" y="6656832"/>
            <a:ext cx="1097280" cy="201168"/>
          </a:xfrm>
          <a:prstGeom prst="rect">
            <a:avLst/>
          </a:prstGeom>
          <a:noFill/>
          <a:ln/>
        </p:spPr>
        <p:txBody>
          <a:bodyPr wrap="square" rtlCol="0" anchor="ctr"/>
          <a:lstStyle/>
          <a:p>
            <a:pPr algn="r" indent="0" marL="0">
              <a:buNone/>
            </a:pPr>
            <a:r>
              <a:rPr lang="en-US" sz="750" dirty="0">
                <a:solidFill>
                  <a:srgbClr val="546E7A"/>
                </a:solidFill>
                <a:latin typeface="Calibri" pitchFamily="34" charset="0"/>
                <a:ea typeface="Calibri" pitchFamily="34" charset="-122"/>
                <a:cs typeface="Calibri" pitchFamily="34" charset="-120"/>
              </a:rPr>
              <a:t>19 / 20</a:t>
            </a:r>
            <a:endParaRPr lang="en-US" sz="750" dirty="0"/>
          </a:p>
        </p:txBody>
      </p:sp>
      <p:sp>
        <p:nvSpPr>
          <p:cNvPr id="10" name="Shape 8"/>
          <p:cNvSpPr/>
          <p:nvPr/>
        </p:nvSpPr>
        <p:spPr>
          <a:xfrm>
            <a:off x="365760" y="1417320"/>
            <a:ext cx="11430000" cy="896112"/>
          </a:xfrm>
          <a:prstGeom prst="roundRect">
            <a:avLst>
              <a:gd name="adj" fmla="val 12245"/>
            </a:avLst>
          </a:prstGeom>
          <a:solidFill>
            <a:srgbClr val="162233"/>
          </a:solidFill>
          <a:ln w="15240">
            <a:solidFill>
              <a:srgbClr val="253A52"/>
            </a:solidFill>
            <a:prstDash val="solid"/>
          </a:ln>
        </p:spPr>
      </p:sp>
      <p:sp>
        <p:nvSpPr>
          <p:cNvPr id="11" name="Shape 9"/>
          <p:cNvSpPr/>
          <p:nvPr/>
        </p:nvSpPr>
        <p:spPr>
          <a:xfrm>
            <a:off x="365760" y="1417320"/>
            <a:ext cx="82296" cy="896112"/>
          </a:xfrm>
          <a:prstGeom prst="rect">
            <a:avLst/>
          </a:prstGeom>
          <a:solidFill>
            <a:srgbClr val="00C9A7"/>
          </a:solidFill>
          <a:ln w="12700">
            <a:solidFill>
              <a:srgbClr val="333333"/>
            </a:solidFill>
            <a:prstDash val="solid"/>
          </a:ln>
        </p:spPr>
      </p:sp>
      <p:sp>
        <p:nvSpPr>
          <p:cNvPr id="12" name="Text 10"/>
          <p:cNvSpPr/>
          <p:nvPr/>
        </p:nvSpPr>
        <p:spPr>
          <a:xfrm>
            <a:off x="502920" y="1453896"/>
            <a:ext cx="256032" cy="256032"/>
          </a:xfrm>
          <a:prstGeom prst="rect">
            <a:avLst/>
          </a:prstGeom>
          <a:noFill/>
          <a:ln/>
        </p:spPr>
        <p:txBody>
          <a:bodyPr wrap="square" rtlCol="0" anchor="ctr"/>
          <a:lstStyle/>
          <a:p>
            <a:pPr algn="ctr" indent="0" marL="0">
              <a:buNone/>
            </a:pPr>
            <a:r>
              <a:rPr lang="en-US" sz="1100" b="1" dirty="0">
                <a:solidFill>
                  <a:srgbClr val="00C9A7"/>
                </a:solidFill>
                <a:latin typeface="Calibri" pitchFamily="34" charset="0"/>
                <a:ea typeface="Calibri" pitchFamily="34" charset="-122"/>
                <a:cs typeface="Calibri" pitchFamily="34" charset="-120"/>
              </a:rPr>
              <a:t>Q</a:t>
            </a:r>
            <a:endParaRPr lang="en-US" sz="1100" dirty="0"/>
          </a:p>
        </p:txBody>
      </p:sp>
      <p:sp>
        <p:nvSpPr>
          <p:cNvPr id="13" name="Text 11"/>
          <p:cNvSpPr/>
          <p:nvPr/>
        </p:nvSpPr>
        <p:spPr>
          <a:xfrm>
            <a:off x="868680" y="1472184"/>
            <a:ext cx="1069848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happens if I delete a document?</a:t>
            </a:r>
            <a:endParaRPr lang="en-US" sz="1150" dirty="0"/>
          </a:p>
        </p:txBody>
      </p:sp>
      <p:sp>
        <p:nvSpPr>
          <p:cNvPr id="14" name="Shape 12"/>
          <p:cNvSpPr/>
          <p:nvPr/>
        </p:nvSpPr>
        <p:spPr>
          <a:xfrm>
            <a:off x="868680" y="1801368"/>
            <a:ext cx="10698480" cy="18288"/>
          </a:xfrm>
          <a:prstGeom prst="rect">
            <a:avLst/>
          </a:prstGeom>
          <a:solidFill>
            <a:srgbClr val="253A52"/>
          </a:solidFill>
          <a:ln w="12700">
            <a:solidFill>
              <a:srgbClr val="333333"/>
            </a:solidFill>
            <a:prstDash val="solid"/>
          </a:ln>
        </p:spPr>
      </p:sp>
      <p:sp>
        <p:nvSpPr>
          <p:cNvPr id="15" name="Text 13"/>
          <p:cNvSpPr/>
          <p:nvPr/>
        </p:nvSpPr>
        <p:spPr>
          <a:xfrm>
            <a:off x="868680" y="1874520"/>
            <a:ext cx="10698480" cy="384048"/>
          </a:xfrm>
          <a:prstGeom prst="rect">
            <a:avLst/>
          </a:prstGeom>
          <a:noFill/>
          <a:ln/>
        </p:spPr>
        <p:txBody>
          <a:bodyPr wrap="square" rtlCol="0" anchor="t"/>
          <a:lstStyle/>
          <a:p>
            <a:pPr algn="l" indent="0" marL="0">
              <a:buNone/>
            </a:pPr>
            <a:r>
              <a:rPr lang="en-US" sz="1050" dirty="0">
                <a:solidFill>
                  <a:srgbClr val="CFD8DC"/>
                </a:solidFill>
                <a:latin typeface="Calibri" pitchFamily="34" charset="0"/>
                <a:ea typeface="Calibri" pitchFamily="34" charset="-122"/>
                <a:cs typeface="Calibri" pitchFamily="34" charset="-120"/>
              </a:rPr>
              <a:t>The file is permanently removed from Cloudinary storage and its data is erased from your AI index. Existing chat answers referencing it remain in history, but future questions will no longer draw from that document.</a:t>
            </a:r>
            <a:endParaRPr lang="en-US" sz="1050" dirty="0"/>
          </a:p>
        </p:txBody>
      </p:sp>
      <p:sp>
        <p:nvSpPr>
          <p:cNvPr id="16" name="Shape 14"/>
          <p:cNvSpPr/>
          <p:nvPr/>
        </p:nvSpPr>
        <p:spPr>
          <a:xfrm>
            <a:off x="365760" y="2414016"/>
            <a:ext cx="11430000" cy="896112"/>
          </a:xfrm>
          <a:prstGeom prst="roundRect">
            <a:avLst>
              <a:gd name="adj" fmla="val 12245"/>
            </a:avLst>
          </a:prstGeom>
          <a:solidFill>
            <a:srgbClr val="162233"/>
          </a:solidFill>
          <a:ln w="15240">
            <a:solidFill>
              <a:srgbClr val="253A52"/>
            </a:solidFill>
            <a:prstDash val="solid"/>
          </a:ln>
        </p:spPr>
      </p:sp>
      <p:sp>
        <p:nvSpPr>
          <p:cNvPr id="17" name="Shape 15"/>
          <p:cNvSpPr/>
          <p:nvPr/>
        </p:nvSpPr>
        <p:spPr>
          <a:xfrm>
            <a:off x="365760" y="2414016"/>
            <a:ext cx="82296" cy="896112"/>
          </a:xfrm>
          <a:prstGeom prst="rect">
            <a:avLst/>
          </a:prstGeom>
          <a:solidFill>
            <a:srgbClr val="00C9A7"/>
          </a:solidFill>
          <a:ln w="12700">
            <a:solidFill>
              <a:srgbClr val="333333"/>
            </a:solidFill>
            <a:prstDash val="solid"/>
          </a:ln>
        </p:spPr>
      </p:sp>
      <p:sp>
        <p:nvSpPr>
          <p:cNvPr id="18" name="Text 16"/>
          <p:cNvSpPr/>
          <p:nvPr/>
        </p:nvSpPr>
        <p:spPr>
          <a:xfrm>
            <a:off x="502920" y="2450592"/>
            <a:ext cx="256032" cy="256032"/>
          </a:xfrm>
          <a:prstGeom prst="rect">
            <a:avLst/>
          </a:prstGeom>
          <a:noFill/>
          <a:ln/>
        </p:spPr>
        <p:txBody>
          <a:bodyPr wrap="square" rtlCol="0" anchor="ctr"/>
          <a:lstStyle/>
          <a:p>
            <a:pPr algn="ctr" indent="0" marL="0">
              <a:buNone/>
            </a:pPr>
            <a:r>
              <a:rPr lang="en-US" sz="1100" b="1" dirty="0">
                <a:solidFill>
                  <a:srgbClr val="00C9A7"/>
                </a:solidFill>
                <a:latin typeface="Calibri" pitchFamily="34" charset="0"/>
                <a:ea typeface="Calibri" pitchFamily="34" charset="-122"/>
                <a:cs typeface="Calibri" pitchFamily="34" charset="-120"/>
              </a:rPr>
              <a:t>Q</a:t>
            </a:r>
            <a:endParaRPr lang="en-US" sz="1100" dirty="0"/>
          </a:p>
        </p:txBody>
      </p:sp>
      <p:sp>
        <p:nvSpPr>
          <p:cNvPr id="19" name="Text 17"/>
          <p:cNvSpPr/>
          <p:nvPr/>
        </p:nvSpPr>
        <p:spPr>
          <a:xfrm>
            <a:off x="868680" y="2468880"/>
            <a:ext cx="1069848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Can I export my conversation history?</a:t>
            </a:r>
            <a:endParaRPr lang="en-US" sz="1150" dirty="0"/>
          </a:p>
        </p:txBody>
      </p:sp>
      <p:sp>
        <p:nvSpPr>
          <p:cNvPr id="20" name="Shape 18"/>
          <p:cNvSpPr/>
          <p:nvPr/>
        </p:nvSpPr>
        <p:spPr>
          <a:xfrm>
            <a:off x="868680" y="2798064"/>
            <a:ext cx="10698480" cy="18288"/>
          </a:xfrm>
          <a:prstGeom prst="rect">
            <a:avLst/>
          </a:prstGeom>
          <a:solidFill>
            <a:srgbClr val="253A52"/>
          </a:solidFill>
          <a:ln w="12700">
            <a:solidFill>
              <a:srgbClr val="333333"/>
            </a:solidFill>
            <a:prstDash val="solid"/>
          </a:ln>
        </p:spPr>
      </p:sp>
      <p:sp>
        <p:nvSpPr>
          <p:cNvPr id="21" name="Text 19"/>
          <p:cNvSpPr/>
          <p:nvPr/>
        </p:nvSpPr>
        <p:spPr>
          <a:xfrm>
            <a:off x="868680" y="2871216"/>
            <a:ext cx="10698480" cy="384048"/>
          </a:xfrm>
          <a:prstGeom prst="rect">
            <a:avLst/>
          </a:prstGeom>
          <a:noFill/>
          <a:ln/>
        </p:spPr>
        <p:txBody>
          <a:bodyPr wrap="square" rtlCol="0" anchor="t"/>
          <a:lstStyle/>
          <a:p>
            <a:pPr algn="l" indent="0" marL="0">
              <a:buNone/>
            </a:pPr>
            <a:r>
              <a:rPr lang="en-US" sz="1050" dirty="0">
                <a:solidFill>
                  <a:srgbClr val="CFD8DC"/>
                </a:solidFill>
                <a:latin typeface="Calibri" pitchFamily="34" charset="0"/>
                <a:ea typeface="Calibri" pitchFamily="34" charset="-122"/>
                <a:cs typeface="Calibri" pitchFamily="34" charset="-120"/>
              </a:rPr>
              <a:t>Yes. Click 'Export Chat' in the sidebar to download your entire conversation as a plain text Markdown file, which can be opened in any text editor or word processor.</a:t>
            </a:r>
            <a:endParaRPr lang="en-US" sz="1050" dirty="0"/>
          </a:p>
        </p:txBody>
      </p:sp>
      <p:sp>
        <p:nvSpPr>
          <p:cNvPr id="22" name="Shape 20"/>
          <p:cNvSpPr/>
          <p:nvPr/>
        </p:nvSpPr>
        <p:spPr>
          <a:xfrm>
            <a:off x="365760" y="3410712"/>
            <a:ext cx="11430000" cy="896112"/>
          </a:xfrm>
          <a:prstGeom prst="roundRect">
            <a:avLst>
              <a:gd name="adj" fmla="val 12245"/>
            </a:avLst>
          </a:prstGeom>
          <a:solidFill>
            <a:srgbClr val="162233"/>
          </a:solidFill>
          <a:ln w="15240">
            <a:solidFill>
              <a:srgbClr val="253A52"/>
            </a:solidFill>
            <a:prstDash val="solid"/>
          </a:ln>
        </p:spPr>
      </p:sp>
      <p:sp>
        <p:nvSpPr>
          <p:cNvPr id="23" name="Shape 21"/>
          <p:cNvSpPr/>
          <p:nvPr/>
        </p:nvSpPr>
        <p:spPr>
          <a:xfrm>
            <a:off x="365760" y="3410712"/>
            <a:ext cx="82296" cy="896112"/>
          </a:xfrm>
          <a:prstGeom prst="rect">
            <a:avLst/>
          </a:prstGeom>
          <a:solidFill>
            <a:srgbClr val="00C9A7"/>
          </a:solidFill>
          <a:ln w="12700">
            <a:solidFill>
              <a:srgbClr val="333333"/>
            </a:solidFill>
            <a:prstDash val="solid"/>
          </a:ln>
        </p:spPr>
      </p:sp>
      <p:sp>
        <p:nvSpPr>
          <p:cNvPr id="24" name="Text 22"/>
          <p:cNvSpPr/>
          <p:nvPr/>
        </p:nvSpPr>
        <p:spPr>
          <a:xfrm>
            <a:off x="502920" y="3447288"/>
            <a:ext cx="256032" cy="256032"/>
          </a:xfrm>
          <a:prstGeom prst="rect">
            <a:avLst/>
          </a:prstGeom>
          <a:noFill/>
          <a:ln/>
        </p:spPr>
        <p:txBody>
          <a:bodyPr wrap="square" rtlCol="0" anchor="ctr"/>
          <a:lstStyle/>
          <a:p>
            <a:pPr algn="ctr" indent="0" marL="0">
              <a:buNone/>
            </a:pPr>
            <a:r>
              <a:rPr lang="en-US" sz="1100" b="1" dirty="0">
                <a:solidFill>
                  <a:srgbClr val="00C9A7"/>
                </a:solidFill>
                <a:latin typeface="Calibri" pitchFamily="34" charset="0"/>
                <a:ea typeface="Calibri" pitchFamily="34" charset="-122"/>
                <a:cs typeface="Calibri" pitchFamily="34" charset="-120"/>
              </a:rPr>
              <a:t>Q</a:t>
            </a:r>
            <a:endParaRPr lang="en-US" sz="1100" dirty="0"/>
          </a:p>
        </p:txBody>
      </p:sp>
      <p:sp>
        <p:nvSpPr>
          <p:cNvPr id="25" name="Text 23"/>
          <p:cNvSpPr/>
          <p:nvPr/>
        </p:nvSpPr>
        <p:spPr>
          <a:xfrm>
            <a:off x="868680" y="3465576"/>
            <a:ext cx="1069848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How accurate are the AI answers?</a:t>
            </a:r>
            <a:endParaRPr lang="en-US" sz="1150" dirty="0"/>
          </a:p>
        </p:txBody>
      </p:sp>
      <p:sp>
        <p:nvSpPr>
          <p:cNvPr id="26" name="Shape 24"/>
          <p:cNvSpPr/>
          <p:nvPr/>
        </p:nvSpPr>
        <p:spPr>
          <a:xfrm>
            <a:off x="868680" y="3794760"/>
            <a:ext cx="10698480" cy="18288"/>
          </a:xfrm>
          <a:prstGeom prst="rect">
            <a:avLst/>
          </a:prstGeom>
          <a:solidFill>
            <a:srgbClr val="253A52"/>
          </a:solidFill>
          <a:ln w="12700">
            <a:solidFill>
              <a:srgbClr val="333333"/>
            </a:solidFill>
            <a:prstDash val="solid"/>
          </a:ln>
        </p:spPr>
      </p:sp>
      <p:sp>
        <p:nvSpPr>
          <p:cNvPr id="27" name="Text 25"/>
          <p:cNvSpPr/>
          <p:nvPr/>
        </p:nvSpPr>
        <p:spPr>
          <a:xfrm>
            <a:off x="868680" y="3867912"/>
            <a:ext cx="10698480" cy="384048"/>
          </a:xfrm>
          <a:prstGeom prst="rect">
            <a:avLst/>
          </a:prstGeom>
          <a:noFill/>
          <a:ln/>
        </p:spPr>
        <p:txBody>
          <a:bodyPr wrap="square" rtlCol="0" anchor="t"/>
          <a:lstStyle/>
          <a:p>
            <a:pPr algn="l" indent="0" marL="0">
              <a:buNone/>
            </a:pPr>
            <a:r>
              <a:rPr lang="en-US" sz="1050" dirty="0">
                <a:solidFill>
                  <a:srgbClr val="CFD8DC"/>
                </a:solidFill>
                <a:latin typeface="Calibri" pitchFamily="34" charset="0"/>
                <a:ea typeface="Calibri" pitchFamily="34" charset="-122"/>
                <a:cs typeface="Calibri" pitchFamily="34" charset="-120"/>
              </a:rPr>
              <a:t>Accuracy depends on the clarity and quality of uploaded documents. Every answer includes a source reference (document name, page number, relevance score), allowing you to verify any answer directly in the original file.</a:t>
            </a:r>
            <a:endParaRPr lang="en-US" sz="1050" dirty="0"/>
          </a:p>
        </p:txBody>
      </p:sp>
      <p:sp>
        <p:nvSpPr>
          <p:cNvPr id="28" name="Shape 26"/>
          <p:cNvSpPr/>
          <p:nvPr/>
        </p:nvSpPr>
        <p:spPr>
          <a:xfrm>
            <a:off x="365760" y="4407408"/>
            <a:ext cx="11430000" cy="896112"/>
          </a:xfrm>
          <a:prstGeom prst="roundRect">
            <a:avLst>
              <a:gd name="adj" fmla="val 12245"/>
            </a:avLst>
          </a:prstGeom>
          <a:solidFill>
            <a:srgbClr val="162233"/>
          </a:solidFill>
          <a:ln w="15240">
            <a:solidFill>
              <a:srgbClr val="253A52"/>
            </a:solidFill>
            <a:prstDash val="solid"/>
          </a:ln>
        </p:spPr>
      </p:sp>
      <p:sp>
        <p:nvSpPr>
          <p:cNvPr id="29" name="Shape 27"/>
          <p:cNvSpPr/>
          <p:nvPr/>
        </p:nvSpPr>
        <p:spPr>
          <a:xfrm>
            <a:off x="365760" y="4407408"/>
            <a:ext cx="82296" cy="896112"/>
          </a:xfrm>
          <a:prstGeom prst="rect">
            <a:avLst/>
          </a:prstGeom>
          <a:solidFill>
            <a:srgbClr val="00C9A7"/>
          </a:solidFill>
          <a:ln w="12700">
            <a:solidFill>
              <a:srgbClr val="333333"/>
            </a:solidFill>
            <a:prstDash val="solid"/>
          </a:ln>
        </p:spPr>
      </p:sp>
      <p:sp>
        <p:nvSpPr>
          <p:cNvPr id="30" name="Text 28"/>
          <p:cNvSpPr/>
          <p:nvPr/>
        </p:nvSpPr>
        <p:spPr>
          <a:xfrm>
            <a:off x="502920" y="4443984"/>
            <a:ext cx="256032" cy="256032"/>
          </a:xfrm>
          <a:prstGeom prst="rect">
            <a:avLst/>
          </a:prstGeom>
          <a:noFill/>
          <a:ln/>
        </p:spPr>
        <p:txBody>
          <a:bodyPr wrap="square" rtlCol="0" anchor="ctr"/>
          <a:lstStyle/>
          <a:p>
            <a:pPr algn="ctr" indent="0" marL="0">
              <a:buNone/>
            </a:pPr>
            <a:r>
              <a:rPr lang="en-US" sz="1100" b="1" dirty="0">
                <a:solidFill>
                  <a:srgbClr val="00C9A7"/>
                </a:solidFill>
                <a:latin typeface="Calibri" pitchFamily="34" charset="0"/>
                <a:ea typeface="Calibri" pitchFamily="34" charset="-122"/>
                <a:cs typeface="Calibri" pitchFamily="34" charset="-120"/>
              </a:rPr>
              <a:t>Q</a:t>
            </a:r>
            <a:endParaRPr lang="en-US" sz="1100" dirty="0"/>
          </a:p>
        </p:txBody>
      </p:sp>
      <p:sp>
        <p:nvSpPr>
          <p:cNvPr id="31" name="Text 29"/>
          <p:cNvSpPr/>
          <p:nvPr/>
        </p:nvSpPr>
        <p:spPr>
          <a:xfrm>
            <a:off x="868680" y="4462272"/>
            <a:ext cx="1069848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Can I switch AI models mid-conversation?</a:t>
            </a:r>
            <a:endParaRPr lang="en-US" sz="1150" dirty="0"/>
          </a:p>
        </p:txBody>
      </p:sp>
      <p:sp>
        <p:nvSpPr>
          <p:cNvPr id="32" name="Shape 30"/>
          <p:cNvSpPr/>
          <p:nvPr/>
        </p:nvSpPr>
        <p:spPr>
          <a:xfrm>
            <a:off x="868680" y="4791456"/>
            <a:ext cx="10698480" cy="18288"/>
          </a:xfrm>
          <a:prstGeom prst="rect">
            <a:avLst/>
          </a:prstGeom>
          <a:solidFill>
            <a:srgbClr val="253A52"/>
          </a:solidFill>
          <a:ln w="12700">
            <a:solidFill>
              <a:srgbClr val="333333"/>
            </a:solidFill>
            <a:prstDash val="solid"/>
          </a:ln>
        </p:spPr>
      </p:sp>
      <p:sp>
        <p:nvSpPr>
          <p:cNvPr id="33" name="Text 31"/>
          <p:cNvSpPr/>
          <p:nvPr/>
        </p:nvSpPr>
        <p:spPr>
          <a:xfrm>
            <a:off x="868680" y="4864608"/>
            <a:ext cx="10698480" cy="384048"/>
          </a:xfrm>
          <a:prstGeom prst="rect">
            <a:avLst/>
          </a:prstGeom>
          <a:noFill/>
          <a:ln/>
        </p:spPr>
        <p:txBody>
          <a:bodyPr wrap="square" rtlCol="0" anchor="t"/>
          <a:lstStyle/>
          <a:p>
            <a:pPr algn="l" indent="0" marL="0">
              <a:buNone/>
            </a:pPr>
            <a:r>
              <a:rPr lang="en-US" sz="1050" dirty="0">
                <a:solidFill>
                  <a:srgbClr val="CFD8DC"/>
                </a:solidFill>
                <a:latin typeface="Calibri" pitchFamily="34" charset="0"/>
                <a:ea typeface="Calibri" pitchFamily="34" charset="-122"/>
                <a:cs typeface="Calibri" pitchFamily="34" charset="-120"/>
              </a:rPr>
              <a:t>Yes. Open the Settings panel in the sidebar and select a different model. The next question you ask will use the newly selected model. Previous answers are not affected.</a:t>
            </a:r>
            <a:endParaRPr lang="en-US" sz="1050" dirty="0"/>
          </a:p>
        </p:txBody>
      </p:sp>
      <p:sp>
        <p:nvSpPr>
          <p:cNvPr id="34" name="Shape 32"/>
          <p:cNvSpPr/>
          <p:nvPr/>
        </p:nvSpPr>
        <p:spPr>
          <a:xfrm>
            <a:off x="365760" y="5404104"/>
            <a:ext cx="11430000" cy="896112"/>
          </a:xfrm>
          <a:prstGeom prst="roundRect">
            <a:avLst>
              <a:gd name="adj" fmla="val 12245"/>
            </a:avLst>
          </a:prstGeom>
          <a:solidFill>
            <a:srgbClr val="162233"/>
          </a:solidFill>
          <a:ln w="15240">
            <a:solidFill>
              <a:srgbClr val="253A52"/>
            </a:solidFill>
            <a:prstDash val="solid"/>
          </a:ln>
        </p:spPr>
      </p:sp>
      <p:sp>
        <p:nvSpPr>
          <p:cNvPr id="35" name="Shape 33"/>
          <p:cNvSpPr/>
          <p:nvPr/>
        </p:nvSpPr>
        <p:spPr>
          <a:xfrm>
            <a:off x="365760" y="5404104"/>
            <a:ext cx="82296" cy="896112"/>
          </a:xfrm>
          <a:prstGeom prst="rect">
            <a:avLst/>
          </a:prstGeom>
          <a:solidFill>
            <a:srgbClr val="00C9A7"/>
          </a:solidFill>
          <a:ln w="12700">
            <a:solidFill>
              <a:srgbClr val="333333"/>
            </a:solidFill>
            <a:prstDash val="solid"/>
          </a:ln>
        </p:spPr>
      </p:sp>
      <p:sp>
        <p:nvSpPr>
          <p:cNvPr id="36" name="Text 34"/>
          <p:cNvSpPr/>
          <p:nvPr/>
        </p:nvSpPr>
        <p:spPr>
          <a:xfrm>
            <a:off x="502920" y="5440680"/>
            <a:ext cx="256032" cy="256032"/>
          </a:xfrm>
          <a:prstGeom prst="rect">
            <a:avLst/>
          </a:prstGeom>
          <a:noFill/>
          <a:ln/>
        </p:spPr>
        <p:txBody>
          <a:bodyPr wrap="square" rtlCol="0" anchor="ctr"/>
          <a:lstStyle/>
          <a:p>
            <a:pPr algn="ctr" indent="0" marL="0">
              <a:buNone/>
            </a:pPr>
            <a:r>
              <a:rPr lang="en-US" sz="1100" b="1" dirty="0">
                <a:solidFill>
                  <a:srgbClr val="00C9A7"/>
                </a:solidFill>
                <a:latin typeface="Calibri" pitchFamily="34" charset="0"/>
                <a:ea typeface="Calibri" pitchFamily="34" charset="-122"/>
                <a:cs typeface="Calibri" pitchFamily="34" charset="-120"/>
              </a:rPr>
              <a:t>Q</a:t>
            </a:r>
            <a:endParaRPr lang="en-US" sz="1100" dirty="0"/>
          </a:p>
        </p:txBody>
      </p:sp>
      <p:sp>
        <p:nvSpPr>
          <p:cNvPr id="37" name="Text 35"/>
          <p:cNvSpPr/>
          <p:nvPr/>
        </p:nvSpPr>
        <p:spPr>
          <a:xfrm>
            <a:off x="868680" y="5458968"/>
            <a:ext cx="10698480" cy="274320"/>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What is 'Chain Type' and which should I choose?</a:t>
            </a:r>
            <a:endParaRPr lang="en-US" sz="1150" dirty="0"/>
          </a:p>
        </p:txBody>
      </p:sp>
      <p:sp>
        <p:nvSpPr>
          <p:cNvPr id="38" name="Shape 36"/>
          <p:cNvSpPr/>
          <p:nvPr/>
        </p:nvSpPr>
        <p:spPr>
          <a:xfrm>
            <a:off x="868680" y="5788152"/>
            <a:ext cx="10698480" cy="18288"/>
          </a:xfrm>
          <a:prstGeom prst="rect">
            <a:avLst/>
          </a:prstGeom>
          <a:solidFill>
            <a:srgbClr val="253A52"/>
          </a:solidFill>
          <a:ln w="12700">
            <a:solidFill>
              <a:srgbClr val="333333"/>
            </a:solidFill>
            <a:prstDash val="solid"/>
          </a:ln>
        </p:spPr>
      </p:sp>
      <p:sp>
        <p:nvSpPr>
          <p:cNvPr id="39" name="Text 37"/>
          <p:cNvSpPr/>
          <p:nvPr/>
        </p:nvSpPr>
        <p:spPr>
          <a:xfrm>
            <a:off x="868680" y="5861304"/>
            <a:ext cx="10698480" cy="384048"/>
          </a:xfrm>
          <a:prstGeom prst="rect">
            <a:avLst/>
          </a:prstGeom>
          <a:noFill/>
          <a:ln/>
        </p:spPr>
        <p:txBody>
          <a:bodyPr wrap="square" rtlCol="0" anchor="t"/>
          <a:lstStyle/>
          <a:p>
            <a:pPr algn="l" indent="0" marL="0">
              <a:buNone/>
            </a:pPr>
            <a:r>
              <a:rPr lang="en-US" sz="1050" dirty="0">
                <a:solidFill>
                  <a:srgbClr val="CFD8DC"/>
                </a:solidFill>
                <a:latin typeface="Calibri" pitchFamily="34" charset="0"/>
                <a:ea typeface="Calibri" pitchFamily="34" charset="-122"/>
                <a:cs typeface="Calibri" pitchFamily="34" charset="-120"/>
              </a:rPr>
              <a:t>Chain Type controls how the AI processes multiple document sections. 'Stuff' (default) works for most cases. 'Map Reduce' is better for very long documents. 'Refine' gives detailed analysis. 'Map Rerank' is best for precise factual queries.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F8EF7"/>
          </a:solidFill>
          <a:ln w="12700">
            <a:solidFill>
              <a:srgbClr val="333333"/>
            </a:solidFill>
            <a:prstDash val="solid"/>
          </a:ln>
        </p:spPr>
      </p:sp>
      <p:sp>
        <p:nvSpPr>
          <p:cNvPr id="3" name="Shape 1"/>
          <p:cNvSpPr/>
          <p:nvPr/>
        </p:nvSpPr>
        <p:spPr>
          <a:xfrm>
            <a:off x="8961120" y="-1371600"/>
            <a:ext cx="4572000" cy="4572000"/>
          </a:xfrm>
          <a:prstGeom prst="ellipse">
            <a:avLst/>
          </a:prstGeom>
          <a:solidFill>
            <a:srgbClr val="6C63FF">
              <a:alpha val="12000"/>
            </a:srgbClr>
          </a:solidFill>
          <a:ln w="12700">
            <a:solidFill>
              <a:srgbClr val="333333"/>
            </a:solidFill>
            <a:prstDash val="solid"/>
          </a:ln>
        </p:spPr>
      </p:sp>
      <p:sp>
        <p:nvSpPr>
          <p:cNvPr id="4" name="Shape 2"/>
          <p:cNvSpPr/>
          <p:nvPr/>
        </p:nvSpPr>
        <p:spPr>
          <a:xfrm>
            <a:off x="9601200" y="4114800"/>
            <a:ext cx="3200400" cy="3200400"/>
          </a:xfrm>
          <a:prstGeom prst="ellipse">
            <a:avLst/>
          </a:prstGeom>
          <a:solidFill>
            <a:srgbClr val="00C9A7">
              <a:alpha val="18000"/>
            </a:srgbClr>
          </a:solidFill>
          <a:ln w="12700">
            <a:solidFill>
              <a:srgbClr val="333333"/>
            </a:solidFill>
            <a:prstDash val="solid"/>
          </a:ln>
        </p:spPr>
      </p:sp>
      <p:sp>
        <p:nvSpPr>
          <p:cNvPr id="5" name="Text 3"/>
          <p:cNvSpPr/>
          <p:nvPr/>
        </p:nvSpPr>
        <p:spPr>
          <a:xfrm>
            <a:off x="548640" y="1371600"/>
            <a:ext cx="8229600" cy="1005840"/>
          </a:xfrm>
          <a:prstGeom prst="rect">
            <a:avLst/>
          </a:prstGeom>
          <a:noFill/>
          <a:ln/>
        </p:spPr>
        <p:txBody>
          <a:bodyPr wrap="square"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Thank You</a:t>
            </a:r>
            <a:endParaRPr lang="en-US" sz="5200" dirty="0"/>
          </a:p>
        </p:txBody>
      </p:sp>
      <p:sp>
        <p:nvSpPr>
          <p:cNvPr id="6" name="Shape 4"/>
          <p:cNvSpPr/>
          <p:nvPr/>
        </p:nvSpPr>
        <p:spPr>
          <a:xfrm>
            <a:off x="548640" y="2487168"/>
            <a:ext cx="3200400" cy="41148"/>
          </a:xfrm>
          <a:prstGeom prst="rect">
            <a:avLst/>
          </a:prstGeom>
          <a:solidFill>
            <a:srgbClr val="4F8EF7"/>
          </a:solidFill>
          <a:ln w="12700">
            <a:solidFill>
              <a:srgbClr val="333333"/>
            </a:solidFill>
            <a:prstDash val="solid"/>
          </a:ln>
        </p:spPr>
      </p:sp>
      <p:sp>
        <p:nvSpPr>
          <p:cNvPr id="7" name="Shape 5"/>
          <p:cNvSpPr/>
          <p:nvPr/>
        </p:nvSpPr>
        <p:spPr>
          <a:xfrm>
            <a:off x="548640" y="2615184"/>
            <a:ext cx="1828800" cy="41148"/>
          </a:xfrm>
          <a:prstGeom prst="rect">
            <a:avLst/>
          </a:prstGeom>
          <a:solidFill>
            <a:srgbClr val="00C9A7"/>
          </a:solidFill>
          <a:ln w="12700">
            <a:solidFill>
              <a:srgbClr val="333333"/>
            </a:solidFill>
            <a:prstDash val="solid"/>
          </a:ln>
        </p:spPr>
      </p:sp>
      <p:sp>
        <p:nvSpPr>
          <p:cNvPr id="8" name="Text 6"/>
          <p:cNvSpPr/>
          <p:nvPr/>
        </p:nvSpPr>
        <p:spPr>
          <a:xfrm>
            <a:off x="548640" y="2788920"/>
            <a:ext cx="9144000" cy="457200"/>
          </a:xfrm>
          <a:prstGeom prst="rect">
            <a:avLst/>
          </a:prstGeom>
          <a:noFill/>
          <a:ln/>
        </p:spPr>
        <p:txBody>
          <a:bodyPr wrap="square" rtlCol="0" anchor="ctr"/>
          <a:lstStyle/>
          <a:p>
            <a:pPr indent="0" marL="0">
              <a:buNone/>
            </a:pPr>
            <a:r>
              <a:rPr lang="en-US" sz="2000" dirty="0">
                <a:solidFill>
                  <a:srgbClr val="EFF4FF"/>
                </a:solidFill>
                <a:latin typeface="Calibri" pitchFamily="34" charset="0"/>
                <a:ea typeface="Calibri" pitchFamily="34" charset="-122"/>
                <a:cs typeface="Calibri" pitchFamily="34" charset="-120"/>
              </a:rPr>
              <a:t>DocuChat AI — Intelligent Document Q&amp;A</a:t>
            </a:r>
            <a:endParaRPr lang="en-US" sz="2000" dirty="0"/>
          </a:p>
        </p:txBody>
      </p:sp>
      <p:sp>
        <p:nvSpPr>
          <p:cNvPr id="9" name="Text 7"/>
          <p:cNvSpPr/>
          <p:nvPr/>
        </p:nvSpPr>
        <p:spPr>
          <a:xfrm>
            <a:off x="548640" y="3401568"/>
            <a:ext cx="7772400" cy="320040"/>
          </a:xfrm>
          <a:prstGeom prst="rect">
            <a:avLst/>
          </a:prstGeom>
          <a:noFill/>
          <a:ln/>
        </p:spPr>
        <p:txBody>
          <a:bodyPr wrap="square" rtlCol="0" anchor="ctr"/>
          <a:lstStyle/>
          <a:p>
            <a:pPr indent="0" marL="0">
              <a:buNone/>
            </a:pPr>
            <a:r>
              <a:rPr lang="en-US" sz="1300" b="1" dirty="0">
                <a:solidFill>
                  <a:srgbClr val="4F8EF7"/>
                </a:solidFill>
                <a:latin typeface="Calibri" pitchFamily="34" charset="0"/>
                <a:ea typeface="Calibri" pitchFamily="34" charset="-122"/>
                <a:cs typeface="Calibri" pitchFamily="34" charset="-120"/>
              </a:rPr>
              <a:t>Summary of What DocuChat AI Delivers:</a:t>
            </a:r>
            <a:endParaRPr lang="en-US" sz="1300" dirty="0"/>
          </a:p>
        </p:txBody>
      </p:sp>
      <p:sp>
        <p:nvSpPr>
          <p:cNvPr id="10" name="Shape 8"/>
          <p:cNvSpPr/>
          <p:nvPr/>
        </p:nvSpPr>
        <p:spPr>
          <a:xfrm>
            <a:off x="548640" y="3867912"/>
            <a:ext cx="182880" cy="182880"/>
          </a:xfrm>
          <a:prstGeom prst="ellipse">
            <a:avLst/>
          </a:prstGeom>
          <a:solidFill>
            <a:srgbClr val="00C9A7"/>
          </a:solidFill>
          <a:ln w="12700">
            <a:solidFill>
              <a:srgbClr val="333333"/>
            </a:solidFill>
            <a:prstDash val="solid"/>
          </a:ln>
        </p:spPr>
      </p:sp>
      <p:sp>
        <p:nvSpPr>
          <p:cNvPr id="11" name="Text 9"/>
          <p:cNvSpPr/>
          <p:nvPr/>
        </p:nvSpPr>
        <p:spPr>
          <a:xfrm>
            <a:off x="822960" y="3794760"/>
            <a:ext cx="5303520" cy="384048"/>
          </a:xfrm>
          <a:prstGeom prst="rect">
            <a:avLst/>
          </a:prstGeom>
          <a:noFill/>
          <a:ln/>
        </p:spPr>
        <p:txBody>
          <a:bodyPr wrap="square" rtlCol="0" anchor="ctr"/>
          <a:lstStyle/>
          <a:p>
            <a:pPr indent="0" marL="0">
              <a:buNone/>
            </a:pPr>
            <a:r>
              <a:rPr lang="en-US" sz="1150" dirty="0">
                <a:solidFill>
                  <a:srgbClr val="CFD8DC"/>
                </a:solidFill>
                <a:latin typeface="Calibri" pitchFamily="34" charset="0"/>
                <a:ea typeface="Calibri" pitchFamily="34" charset="-122"/>
                <a:cs typeface="Calibri" pitchFamily="34" charset="-120"/>
              </a:rPr>
              <a:t>Upload any document — PDF, Excel, Text, or Image</a:t>
            </a:r>
            <a:endParaRPr lang="en-US" sz="1150" dirty="0"/>
          </a:p>
        </p:txBody>
      </p:sp>
      <p:sp>
        <p:nvSpPr>
          <p:cNvPr id="12" name="Shape 10"/>
          <p:cNvSpPr/>
          <p:nvPr/>
        </p:nvSpPr>
        <p:spPr>
          <a:xfrm>
            <a:off x="548640" y="4343400"/>
            <a:ext cx="182880" cy="182880"/>
          </a:xfrm>
          <a:prstGeom prst="ellipse">
            <a:avLst/>
          </a:prstGeom>
          <a:solidFill>
            <a:srgbClr val="00C9A7"/>
          </a:solidFill>
          <a:ln w="12700">
            <a:solidFill>
              <a:srgbClr val="333333"/>
            </a:solidFill>
            <a:prstDash val="solid"/>
          </a:ln>
        </p:spPr>
      </p:sp>
      <p:sp>
        <p:nvSpPr>
          <p:cNvPr id="13" name="Text 11"/>
          <p:cNvSpPr/>
          <p:nvPr/>
        </p:nvSpPr>
        <p:spPr>
          <a:xfrm>
            <a:off x="822960" y="4270248"/>
            <a:ext cx="5303520" cy="384048"/>
          </a:xfrm>
          <a:prstGeom prst="rect">
            <a:avLst/>
          </a:prstGeom>
          <a:noFill/>
          <a:ln/>
        </p:spPr>
        <p:txBody>
          <a:bodyPr wrap="square" rtlCol="0" anchor="ctr"/>
          <a:lstStyle/>
          <a:p>
            <a:pPr indent="0" marL="0">
              <a:buNone/>
            </a:pPr>
            <a:r>
              <a:rPr lang="en-US" sz="1150" dirty="0">
                <a:solidFill>
                  <a:srgbClr val="CFD8DC"/>
                </a:solidFill>
                <a:latin typeface="Calibri" pitchFamily="34" charset="0"/>
                <a:ea typeface="Calibri" pitchFamily="34" charset="-122"/>
                <a:cs typeface="Calibri" pitchFamily="34" charset="-120"/>
              </a:rPr>
              <a:t>Ask questions in plain language and get instant AI-powered answers</a:t>
            </a:r>
            <a:endParaRPr lang="en-US" sz="1150" dirty="0"/>
          </a:p>
        </p:txBody>
      </p:sp>
      <p:sp>
        <p:nvSpPr>
          <p:cNvPr id="14" name="Shape 12"/>
          <p:cNvSpPr/>
          <p:nvPr/>
        </p:nvSpPr>
        <p:spPr>
          <a:xfrm>
            <a:off x="548640" y="4818888"/>
            <a:ext cx="182880" cy="182880"/>
          </a:xfrm>
          <a:prstGeom prst="ellipse">
            <a:avLst/>
          </a:prstGeom>
          <a:solidFill>
            <a:srgbClr val="00C9A7"/>
          </a:solidFill>
          <a:ln w="12700">
            <a:solidFill>
              <a:srgbClr val="333333"/>
            </a:solidFill>
            <a:prstDash val="solid"/>
          </a:ln>
        </p:spPr>
      </p:sp>
      <p:sp>
        <p:nvSpPr>
          <p:cNvPr id="15" name="Text 13"/>
          <p:cNvSpPr/>
          <p:nvPr/>
        </p:nvSpPr>
        <p:spPr>
          <a:xfrm>
            <a:off x="822960" y="4745736"/>
            <a:ext cx="5303520" cy="384048"/>
          </a:xfrm>
          <a:prstGeom prst="rect">
            <a:avLst/>
          </a:prstGeom>
          <a:noFill/>
          <a:ln/>
        </p:spPr>
        <p:txBody>
          <a:bodyPr wrap="square" rtlCol="0" anchor="ctr"/>
          <a:lstStyle/>
          <a:p>
            <a:pPr indent="0" marL="0">
              <a:buNone/>
            </a:pPr>
            <a:r>
              <a:rPr lang="en-US" sz="1150" dirty="0">
                <a:solidFill>
                  <a:srgbClr val="CFD8DC"/>
                </a:solidFill>
                <a:latin typeface="Calibri" pitchFamily="34" charset="0"/>
                <a:ea typeface="Calibri" pitchFamily="34" charset="-122"/>
                <a:cs typeface="Calibri" pitchFamily="34" charset="-120"/>
              </a:rPr>
              <a:t>Every answer is backed by exact source references from your documents</a:t>
            </a:r>
            <a:endParaRPr lang="en-US" sz="1150" dirty="0"/>
          </a:p>
        </p:txBody>
      </p:sp>
      <p:sp>
        <p:nvSpPr>
          <p:cNvPr id="16" name="Shape 14"/>
          <p:cNvSpPr/>
          <p:nvPr/>
        </p:nvSpPr>
        <p:spPr>
          <a:xfrm>
            <a:off x="6309360" y="3867912"/>
            <a:ext cx="182880" cy="182880"/>
          </a:xfrm>
          <a:prstGeom prst="ellipse">
            <a:avLst/>
          </a:prstGeom>
          <a:solidFill>
            <a:srgbClr val="00C9A7"/>
          </a:solidFill>
          <a:ln w="12700">
            <a:solidFill>
              <a:srgbClr val="333333"/>
            </a:solidFill>
            <a:prstDash val="solid"/>
          </a:ln>
        </p:spPr>
      </p:sp>
      <p:sp>
        <p:nvSpPr>
          <p:cNvPr id="17" name="Text 15"/>
          <p:cNvSpPr/>
          <p:nvPr/>
        </p:nvSpPr>
        <p:spPr>
          <a:xfrm>
            <a:off x="6583680" y="3794760"/>
            <a:ext cx="5303520" cy="384048"/>
          </a:xfrm>
          <a:prstGeom prst="rect">
            <a:avLst/>
          </a:prstGeom>
          <a:noFill/>
          <a:ln/>
        </p:spPr>
        <p:txBody>
          <a:bodyPr wrap="square" rtlCol="0" anchor="ctr"/>
          <a:lstStyle/>
          <a:p>
            <a:pPr indent="0" marL="0">
              <a:buNone/>
            </a:pPr>
            <a:r>
              <a:rPr lang="en-US" sz="1150" dirty="0">
                <a:solidFill>
                  <a:srgbClr val="CFD8DC"/>
                </a:solidFill>
                <a:latin typeface="Calibri" pitchFamily="34" charset="0"/>
                <a:ea typeface="Calibri" pitchFamily="34" charset="-122"/>
                <a:cs typeface="Calibri" pitchFamily="34" charset="-120"/>
              </a:rPr>
              <a:t>Multi-model support: GPT-4o, Claude 3.5, Gemini 2.5</a:t>
            </a:r>
            <a:endParaRPr lang="en-US" sz="1150" dirty="0"/>
          </a:p>
        </p:txBody>
      </p:sp>
      <p:sp>
        <p:nvSpPr>
          <p:cNvPr id="18" name="Shape 16"/>
          <p:cNvSpPr/>
          <p:nvPr/>
        </p:nvSpPr>
        <p:spPr>
          <a:xfrm>
            <a:off x="6309360" y="4343400"/>
            <a:ext cx="182880" cy="182880"/>
          </a:xfrm>
          <a:prstGeom prst="ellipse">
            <a:avLst/>
          </a:prstGeom>
          <a:solidFill>
            <a:srgbClr val="00C9A7"/>
          </a:solidFill>
          <a:ln w="12700">
            <a:solidFill>
              <a:srgbClr val="333333"/>
            </a:solidFill>
            <a:prstDash val="solid"/>
          </a:ln>
        </p:spPr>
      </p:sp>
      <p:sp>
        <p:nvSpPr>
          <p:cNvPr id="19" name="Text 17"/>
          <p:cNvSpPr/>
          <p:nvPr/>
        </p:nvSpPr>
        <p:spPr>
          <a:xfrm>
            <a:off x="6583680" y="4270248"/>
            <a:ext cx="5303520" cy="384048"/>
          </a:xfrm>
          <a:prstGeom prst="rect">
            <a:avLst/>
          </a:prstGeom>
          <a:noFill/>
          <a:ln/>
        </p:spPr>
        <p:txBody>
          <a:bodyPr wrap="square" rtlCol="0" anchor="ctr"/>
          <a:lstStyle/>
          <a:p>
            <a:pPr indent="0" marL="0">
              <a:buNone/>
            </a:pPr>
            <a:r>
              <a:rPr lang="en-US" sz="1150" dirty="0">
                <a:solidFill>
                  <a:srgbClr val="CFD8DC"/>
                </a:solidFill>
                <a:latin typeface="Calibri" pitchFamily="34" charset="0"/>
                <a:ea typeface="Calibri" pitchFamily="34" charset="-122"/>
                <a:cs typeface="Calibri" pitchFamily="34" charset="-120"/>
              </a:rPr>
              <a:t>Secure, private accounts — your data belongs only to you</a:t>
            </a:r>
            <a:endParaRPr lang="en-US" sz="1150" dirty="0"/>
          </a:p>
        </p:txBody>
      </p:sp>
      <p:sp>
        <p:nvSpPr>
          <p:cNvPr id="20" name="Shape 18"/>
          <p:cNvSpPr/>
          <p:nvPr/>
        </p:nvSpPr>
        <p:spPr>
          <a:xfrm>
            <a:off x="6309360" y="4818888"/>
            <a:ext cx="182880" cy="182880"/>
          </a:xfrm>
          <a:prstGeom prst="ellipse">
            <a:avLst/>
          </a:prstGeom>
          <a:solidFill>
            <a:srgbClr val="00C9A7"/>
          </a:solidFill>
          <a:ln w="12700">
            <a:solidFill>
              <a:srgbClr val="333333"/>
            </a:solidFill>
            <a:prstDash val="solid"/>
          </a:ln>
        </p:spPr>
      </p:sp>
      <p:sp>
        <p:nvSpPr>
          <p:cNvPr id="21" name="Text 19"/>
          <p:cNvSpPr/>
          <p:nvPr/>
        </p:nvSpPr>
        <p:spPr>
          <a:xfrm>
            <a:off x="6583680" y="4745736"/>
            <a:ext cx="5303520" cy="384048"/>
          </a:xfrm>
          <a:prstGeom prst="rect">
            <a:avLst/>
          </a:prstGeom>
          <a:noFill/>
          <a:ln/>
        </p:spPr>
        <p:txBody>
          <a:bodyPr wrap="square" rtlCol="0" anchor="ctr"/>
          <a:lstStyle/>
          <a:p>
            <a:pPr indent="0" marL="0">
              <a:buNone/>
            </a:pPr>
            <a:r>
              <a:rPr lang="en-US" sz="1150" dirty="0">
                <a:solidFill>
                  <a:srgbClr val="CFD8DC"/>
                </a:solidFill>
                <a:latin typeface="Calibri" pitchFamily="34" charset="0"/>
                <a:ea typeface="Calibri" pitchFamily="34" charset="-122"/>
                <a:cs typeface="Calibri" pitchFamily="34" charset="-120"/>
              </a:rPr>
              <a:t>Real-time streaming responses with follow-up suggestions</a:t>
            </a:r>
            <a:endParaRPr lang="en-US" sz="1150" dirty="0"/>
          </a:p>
        </p:txBody>
      </p:sp>
      <p:sp>
        <p:nvSpPr>
          <p:cNvPr id="22" name="Shape 20"/>
          <p:cNvSpPr/>
          <p:nvPr/>
        </p:nvSpPr>
        <p:spPr>
          <a:xfrm>
            <a:off x="0" y="6309360"/>
            <a:ext cx="12192000" cy="548640"/>
          </a:xfrm>
          <a:prstGeom prst="rect">
            <a:avLst/>
          </a:prstGeom>
          <a:solidFill>
            <a:srgbClr val="1B2A3B"/>
          </a:solidFill>
          <a:ln w="12700">
            <a:solidFill>
              <a:srgbClr val="333333"/>
            </a:solidFill>
            <a:prstDash val="solid"/>
          </a:ln>
        </p:spPr>
      </p:sp>
      <p:sp>
        <p:nvSpPr>
          <p:cNvPr id="23" name="Text 21"/>
          <p:cNvSpPr/>
          <p:nvPr/>
        </p:nvSpPr>
        <p:spPr>
          <a:xfrm>
            <a:off x="365760" y="6309360"/>
            <a:ext cx="11430000" cy="548640"/>
          </a:xfrm>
          <a:prstGeom prst="rect">
            <a:avLst/>
          </a:prstGeom>
          <a:noFill/>
          <a:ln/>
        </p:spPr>
        <p:txBody>
          <a:bodyPr wrap="square" rtlCol="0" anchor="ctr"/>
          <a:lstStyle/>
          <a:p>
            <a:pPr algn="ctr" indent="0" marL="0">
              <a:buNone/>
            </a:pPr>
            <a:r>
              <a:rPr lang="en-US" sz="950" dirty="0">
                <a:solidFill>
                  <a:srgbClr val="546E7A"/>
                </a:solidFill>
                <a:latin typeface="Calibri" pitchFamily="34" charset="0"/>
                <a:ea typeface="Calibri" pitchFamily="34" charset="-122"/>
                <a:cs typeface="Calibri" pitchFamily="34" charset="-120"/>
              </a:rPr>
              <a:t>DocuChat AI  ·  Client Presentation  ·  Version 1.0  ·  April 2026  ·  Confidential</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DocuChat AI — Client Presentation</dc:title>
  <dc:subject>Client Presentation</dc:subject>
  <dc:creator>DocuChat AI</dc:creator>
  <cp:lastModifiedBy>DocuChat AI</cp:lastModifiedBy>
  <cp:revision>1</cp:revision>
  <dcterms:created xsi:type="dcterms:W3CDTF">2026-04-04T17:43:28Z</dcterms:created>
  <dcterms:modified xsi:type="dcterms:W3CDTF">2026-04-04T17:43:28Z</dcterms:modified>
</cp:coreProperties>
</file>